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99" r:id="rId3"/>
    <p:sldId id="289"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8" r:id="rId35"/>
    <p:sldId id="288"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7347FC-F379-A14B-33A7-24DCE61255E9}">
          <p14:sldIdLst>
            <p14:sldId id="256"/>
            <p14:sldId id="299"/>
            <p14:sldId id="289"/>
            <p14:sldId id="258"/>
            <p14:sldId id="259"/>
            <p14:sldId id="260"/>
            <p14:sldId id="261"/>
            <p14:sldId id="262"/>
            <p14:sldId id="263"/>
          </p14:sldIdLst>
        </p14:section>
        <p14:section name="Pods" id="{958BFD1C-6AF3-7B81-8389-04F9A2BF67B5}">
          <p14:sldIdLst>
            <p14:sldId id="264"/>
            <p14:sldId id="265"/>
            <p14:sldId id="266"/>
            <p14:sldId id="267"/>
          </p14:sldIdLst>
        </p14:section>
        <p14:section name="Deployments" id="{18FA9122-8601-8390-6446-15DFBCB9DF27}">
          <p14:sldIdLst>
            <p14:sldId id="268"/>
            <p14:sldId id="269"/>
            <p14:sldId id="270"/>
            <p14:sldId id="271"/>
            <p14:sldId id="272"/>
            <p14:sldId id="273"/>
          </p14:sldIdLst>
        </p14:section>
        <p14:section name="Services" id="{8FEE62D1-7A06-BFE6-25BC-A6F011F6EA70}">
          <p14:sldIdLst>
            <p14:sldId id="274"/>
            <p14:sldId id="275"/>
            <p14:sldId id="276"/>
            <p14:sldId id="277"/>
          </p14:sldIdLst>
        </p14:section>
        <p14:section name="Config" id="{714BD304-C7F3-492D-F22B-E120B5337CC6}">
          <p14:sldIdLst>
            <p14:sldId id="278"/>
            <p14:sldId id="279"/>
            <p14:sldId id="280"/>
          </p14:sldIdLst>
        </p14:section>
        <p14:section name="StatefulSets" id="{37509075-6EF4-3353-5A92-69EF803B6122}">
          <p14:sldIdLst>
            <p14:sldId id="281"/>
            <p14:sldId id="282"/>
            <p14:sldId id="283"/>
          </p14:sldIdLst>
        </p14:section>
        <p14:section name="Autoscaling" id="{7094EACF-C403-AB5A-DAED-64EDBE097080}">
          <p14:sldIdLst>
            <p14:sldId id="284"/>
            <p14:sldId id="285"/>
            <p14:sldId id="286"/>
          </p14:sldIdLst>
        </p14:section>
        <p14:section name="Wrap-up" id="{57DD0A23-3429-03A4-01F6-9E922BBB1055}">
          <p14:sldIdLst>
            <p14:sldId id="287"/>
            <p14:sldId id="298"/>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23"/>
    <p:restoredTop sz="94610"/>
  </p:normalViewPr>
  <p:slideViewPr>
    <p:cSldViewPr snapToGrid="0" snapToObjects="1">
      <p:cViewPr varScale="1">
        <p:scale>
          <a:sx n="163" d="100"/>
          <a:sy n="163" d="100"/>
        </p:scale>
        <p:origin x="18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8938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the core Kubernetes building blocks, each shown live on a real cluster running on this laptop. No cloud account needed. Everything you see is in the repo: setup.sh, RUNBOOK.md and the YAML files.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stops. Each concept gets one or two slides and then a live demo. By the end we'll have a picture of how the pieces fit.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DB7BD-3DC2-36D0-53A0-0514B8C41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1D372-0416-44B3-4301-BB1C49DA1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0D890-628B-210F-4ECD-85514D7ED4AF}"/>
              </a:ext>
            </a:extLst>
          </p:cNvPr>
          <p:cNvSpPr>
            <a:spLocks noGrp="1"/>
          </p:cNvSpPr>
          <p:nvPr>
            <p:ph type="body" idx="1"/>
          </p:nvPr>
        </p:nvSpPr>
        <p:spPr/>
        <p:txBody>
          <a:bodyPr/>
          <a:lstStyle/>
          <a:p>
            <a:r>
              <a:rPr lang="en-US" dirty="0"/>
              <a:t>Seven stops. Each concept gets one or two slides and then a live demo. By the end we'll have a picture of how the pieces fit.</a:t>
            </a:r>
          </a:p>
        </p:txBody>
      </p:sp>
      <p:sp>
        <p:nvSpPr>
          <p:cNvPr id="4" name="Slide Number Placeholder 3">
            <a:extLst>
              <a:ext uri="{FF2B5EF4-FFF2-40B4-BE49-F238E27FC236}">
                <a16:creationId xmlns:a16="http://schemas.microsoft.com/office/drawing/2014/main" id="{826C5237-3E7E-2638-C73F-EA0338800C3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88762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one container on one machine is easy: docker run. The pain starts with many containers on many machines. These four questions are exactly what Kubernetes answers. Keep them in mind; each one maps to a demo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You don't give Kubernetes commands like 'start this container'. You describe the state you want, in YAML, and controllers run in a loop comparing desired vs actual and fixing any difference. Everything today, self-healing, scaling, rollouts, is this loop.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plane is the brain: kube-apiserver is the front door, every kubectl command goes through it. etcd stores all cluster state. The scheduler decides which node runs a new pod. The controller-manager runs the reconcile loops. Worker nodes are the muscle: kubelet starts containers on its node, kube-proxy wires up Service networking, and the container runtime (containerd) actually runs the containers.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kind = Kubernetes IN Docker. Each node is just a Docker container on this laptop, but inside it is real Kubernetes: same API, same kubectl. setup.sh creates the 3-node cluster, preloads images and installs metrics-server, so nothing depends on venue wifi.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List the nodes of our 3-node cluster; Show that each node is just a Docker container; Peek at the control plane running as pods.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kind-config.yaml first. get nodes: 3 nodes, one control-plane. docker ps: those nodes are containers. kube-system: point at etcd, kube-apiserver, kube-scheduler, kube-controller-manager. The brain itself runs as pods.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Pod wraps one or more containers that share a network IP and can share volumes. Usually one main container, sometimes a helper sidecar. The scheduler places it on one node and it stays there. Key point for the demo: a bare pod is mortal; delete it and nothing recreates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Kubernetes object has the same four top-level fields. apiVersion + kind say what it is. metadata gives it a name and labels. spec is the desired state. Two ways to create: kubectl run is imperative, quick for experiments. kubectl apply -f is declarative, the file lives in git and can be applied again and again.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Create a pod with a command, then from YAML; Inspect it: IP, node, events, logs; Step inside the running container; Delete it and see that nothing brings it 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01-pod.yaml. get pods -o wide: pod IP and node. describe: scroll to Events. exec: try nginx -v then exit. Delete both pods and run get pods: nothing comes back. That's the motivation for Deployments.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mix-up: a Deployment never creates a Service. Solid arrows = creates and owns: delete the Deployment and its ReplicaSet and Pods go with it. Dashed arrows = finds by label: the Service is a separate object you create yourself. It often lives in the same YAML file or Helm chart, which is why they feel like one thing. Delete the Deployment and the Service stays, with empty Endpoints. A Deployment always uses a ReplicaSet; there's no switch. A StatefulSet is a different controller you choose instead of a Deployment when pods need stable names and their own disks; it manages pods directly, no ReplicaSet. Other siblings exist too: DaemonSet (one pod per node), Job and CronJob (run to completion).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says 'I want N copies of this pod'. It doesn't manage pods directly: it creates a ReplicaSet, whose only job is to keep exactly N matching pods alive. Pod names are the ReplicaSet name plus a random suffix. Why the extra layer? Rolling updates: each version gets its own ReplicaSet.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are key=value tags on any object. A selector is a query over labels. This is the only way a ReplicaSet or Service knows which pods are 'theirs'. In the demo we'll remove the app label from a running pod: the ReplicaSet stops counting it, creates a replacement, and the old pod keeps running as an orphan.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image and the Deployment creates a second ReplicaSet for the new version. It scales the new one up and the old one down a few pods at a time, only removing old pods once new ones are ready, so there's no downtime. The old ReplicaSet stays around at 0 replicas, which is why rollout undo is instant.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Deploy 3 replicas; trace Deployment → ReplicaSet → Pods; Kill a pod and watch it come back; Scale from 3 to 5 replicas; Remove a label and orphan a pod; Roll out a new version, then roll 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watch pane visible. describe a pod: 'Controlled By: ReplicaSet'. Delete one: replacement appears. Scale to 5: spread over both workers. Remove a label: RS creates a 5th, orphan keeps running (leave it for the Service demo). set image: new RS up, old RS to 0. rollout history, then undo: old RS reused.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IPs change every time a pod is recreated, so nothing should talk to a pod IP directly. A Service gets a stable virtual IP and a DNS name, and load-balances to whichever pods currently match its label selector. The list of pod IPs behind it, the Endpoints, updates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ClusterIP is the default and only works inside the cluster: service-to-service traffic. NodePort opens the same port on every node, which is how we reach the demo from the laptop on 30090. LoadBalancer asks the cloud provider for a real load balancer with a public IP. Ingress and Gateway API sit in front of Services for HTTP routing; out of scope today.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Put a Service in front of the web pods; Call it by name from inside the cluster; Reach it from the laptop through a NodePort; Scale to zero and watch the Service go empty.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svc: Endpoints are the IPs of pods with app=web; compare with get pods -o wide, the orphan is missing. Inside busybox, wget the DNS name a few times: Hostname changes each time. curl NodePort from the laptop. Scale to 0: Endpoints empty, curl fails. Scale back to 3. Mention LoadBalancer and Ingress only.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bake configuration into images. ConfigMaps hold plain settings; Secrets hold sensitive values. Pods consume both either as environment variables or as files in a mounted volume, one file per key. Big caveat: Secrets are only base64-encoded. Anyone who can read the Secret can decode it in one command. Real clusters add RBAC, encryption at rest or an external secret manager.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Create a ConfigMap, a Secret and a pod using both; Read the values as env vars and as files; Decode the Secret to prove it isn't encrypted.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04-config.yaml: stringData is plain text in the file, Kubernetes stores it base64. env shows both ConfigMap and Secret values as env vars. ls /etc/config: one file per key. Decode the secret live. Mention only: after editing a ConfigMap, mounted files update in 1-2 minutes, env vars never change until the pod restarts (rollout restart).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pods are cattle: random names, interchangeable, no disk of their own. Databases need pets: a stable name, ordered startup, a stable DNS name via a headless Service, and their own disk that survives restarts. volumeClaimTemplates gives each pod its own PersistentVolumeClaim.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Create a 3-pod StatefulSet; watch the start order; See one disk (PVC) per pod; Write data, delete the pod, find the data still there; Reach one pod by its own DNS name.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pane: db-0 Running before db-1 starts. get pvc: data-db-0, data-db-1, data-db-2, from kind's local-path StorageClass. Write a file into db-0, delete the pod, it comes back as db-0 with the file. Compare with the Deployment demo where a deleted pod came back with a random name. db-0.db is a stable per-pod DNS name from the headless Service.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Pod Autoscaler reads CPU usage from metrics-server and changes the Deployment's replica count. Usage is measured as a percentage of the pod's CPU request, so without resources.requests it shows &lt;unknown&gt; and does nothing. Scale-up is quick; scale-down waits 5 minutes so it doesn't flap.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Tell the audience the plan before typing: Check live CPU metrics; Add an autoscaler to the web Deployment; Flood it with requests; Watch replicas grow from 1 to 5.</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pods proves metrics-server works. Scale web to 1 first so the jump is visible. Wait until TARGETS shows a number, not &lt;unknown&gt;, before starting load. In rehearsal: about 40s to 4 replicas, 60s to 5. Delete the load pod and explain the 5-minute scale-down window instead of waiting.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map. HPA changes a Deployment's replicas; the Deployment owns ReplicaSets, which own Pods. StatefulSets own Pods directly plus a disk each. Services find pods by label. ConfigMaps and Secrets are injected into pods. And everything ends up as Pods on Nodes, with the control plane keeping desired equal to actual.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seven stops. Suggested next topics: namespaces, probes, Ingress/Gateway API, RBAC, Helm. Everyone can rerun the whole demo with ./setup.sh and RUNBOOK.md.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846320" cy="14173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834640"/>
            <a:ext cx="4572000" cy="1097280"/>
          </a:xfrm>
          <a:prstGeom prst="rect">
            <a:avLst/>
          </a:prstGeom>
          <a:noFill/>
          <a:ln/>
        </p:spPr>
        <p:txBody>
          <a:bodyPr wrap="square" rtlCol="0"/>
          <a:lstStyle>
            <a:lvl1pPr marL="0" indent="0" algn="l">
              <a:buNone/>
              <a:defRPr lang="en-US" sz="1600" dirty="0">
                <a:solidFill>
                  <a:schemeClr val="bg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457200" y="320040"/>
            <a:ext cx="1188720" cy="292608"/>
          </a:xfrm>
          <a:prstGeom prst="roundRect">
            <a:avLst>
              <a:gd name="adj" fmla="val 25000"/>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a:t>
            </a:r>
            <a:endParaRPr lang="en-US" sz="1100" dirty="0"/>
          </a:p>
        </p:txBody>
      </p:sp>
      <p:sp>
        <p:nvSpPr>
          <p:cNvPr id="3" name="Text 1"/>
          <p:cNvSpPr>
            <a:spLocks noGrp="1"/>
          </p:cNvSpPr>
          <p:nvPr>
            <p:ph type="title" idx="101" hasCustomPrompt="1"/>
          </p:nvPr>
        </p:nvSpPr>
        <p:spPr>
          <a:xfrm>
            <a:off x="457200" y="685800"/>
            <a:ext cx="8229600" cy="5486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MO_INTR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3840480" cy="2011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SHARING SESSION</a:t>
            </a:r>
            <a:endParaRPr lang="en-US" sz="1200" dirty="0"/>
          </a:p>
        </p:txBody>
      </p:sp>
      <p:sp>
        <p:nvSpPr>
          <p:cNvPr id="3" name="Text 0"/>
          <p:cNvSpPr>
            <a:spLocks noGrp="1"/>
          </p:cNvSpPr>
          <p:nvPr>
            <p:ph type="title" idx="100" hasCustomPrompt="1"/>
          </p:nvPr>
        </p:nvSpPr>
        <p:spPr>
          <a:xfrm>
            <a:off x="548640" y="1234440"/>
            <a:ext cx="4846320" cy="1417320"/>
          </a:xfrm>
          <a:prstGeom prst="rect">
            <a:avLst/>
          </a:prstGeom>
          <a:noFill/>
          <a:ln/>
        </p:spPr>
        <p:txBody>
          <a:bodyPr wrap="square" lIns="0" tIns="0" rIns="0" bIns="0" rtlCol="0" anchor="b"/>
          <a:lstStyle/>
          <a:p>
            <a:pPr marL="0" indent="0" algn="l">
              <a:buNone/>
            </a:pPr>
            <a:r>
              <a:rPr lang="en-US" sz="4000" b="1" dirty="0">
                <a:solidFill>
                  <a:schemeClr val="bg1"/>
                </a:solidFill>
              </a:rPr>
              <a:t>Kubernetes from Zero</a:t>
            </a:r>
            <a:endParaRPr lang="en-US" sz="4000" dirty="0"/>
          </a:p>
        </p:txBody>
      </p:sp>
      <p:sp>
        <p:nvSpPr>
          <p:cNvPr id="4" name="Text 0"/>
          <p:cNvSpPr>
            <a:spLocks noGrp="1"/>
          </p:cNvSpPr>
          <p:nvPr>
            <p:ph type="body" idx="101" hasCustomPrompt="1"/>
          </p:nvPr>
        </p:nvSpPr>
        <p:spPr>
          <a:xfrm>
            <a:off x="548640" y="2834640"/>
            <a:ext cx="4572000" cy="1097280"/>
          </a:xfrm>
          <a:prstGeom prst="rect">
            <a:avLst/>
          </a:prstGeom>
          <a:noFill/>
          <a:ln/>
        </p:spPr>
        <p:txBody>
          <a:bodyPr wrap="square" lIns="0" tIns="0" rIns="0" bIns="0" rtlCol="0" anchor="t"/>
          <a:lstStyle/>
          <a:p>
            <a:pPr marL="0" indent="0" algn="l">
              <a:buNone/>
            </a:pPr>
            <a:r>
              <a:rPr lang="en-US" sz="1600" dirty="0">
                <a:solidFill>
                  <a:schemeClr val="bg2"/>
                </a:solidFill>
              </a:rPr>
              <a:t>Nodes, Pods, Deployments, Services, Config, StatefulSets and HPA, live on a laptop with kind</a:t>
            </a:r>
            <a:endParaRPr lang="en-US" sz="1600" dirty="0"/>
          </a:p>
        </p:txBody>
      </p:sp>
      <p:sp>
        <p:nvSpPr>
          <p:cNvPr id="5" name="cluster outline"/>
          <p:cNvSpPr txBox="1"/>
          <p:nvPr/>
        </p:nvSpPr>
        <p:spPr>
          <a:xfrm>
            <a:off x="5669280" y="777240"/>
            <a:ext cx="3017520" cy="3611880"/>
          </a:xfrm>
          <a:prstGeom prst="roundRect">
            <a:avLst>
              <a:gd name="adj" fmla="val 4545"/>
            </a:avLst>
          </a:prstGeom>
          <a:ln w="15875">
            <a:solidFill>
              <a:schemeClr val="accent1"/>
            </a:solidFill>
            <a:prstDash val="dash"/>
          </a:ln>
        </p:spPr>
        <p:txBody>
          <a:bodyPr wrap="square" lIns="76200" tIns="76200" rIns="76200" bIns="76200" rtlCol="0" anchor="ctr"/>
          <a:lstStyle/>
          <a:p>
            <a:pPr marL="0" indent="0" algn="ctr">
              <a:buNone/>
            </a:pPr>
            <a:endParaRPr lang="en-US" sz="1300" dirty="0"/>
          </a:p>
        </p:txBody>
      </p:sp>
      <p:sp>
        <p:nvSpPr>
          <p:cNvPr id="6" name="Text 4"/>
          <p:cNvSpPr txBox="1"/>
          <p:nvPr/>
        </p:nvSpPr>
        <p:spPr>
          <a:xfrm>
            <a:off x="5852160" y="868680"/>
            <a:ext cx="1371600" cy="228600"/>
          </a:xfrm>
          <a:prstGeom prst="rect">
            <a:avLst/>
          </a:prstGeom>
          <a:noFill/>
          <a:ln/>
        </p:spPr>
        <p:txBody>
          <a:bodyPr wrap="square" lIns="0" tIns="0" rIns="0" bIns="0" rtlCol="0" anchor="t"/>
          <a:lstStyle/>
          <a:p>
            <a:pPr marL="0" indent="0">
              <a:buNone/>
            </a:pPr>
            <a:r>
              <a:rPr lang="en-US" sz="1100" b="1" dirty="0">
                <a:solidFill>
                  <a:schemeClr val="accent1"/>
                </a:solidFill>
              </a:rPr>
              <a:t>cluster</a:t>
            </a:r>
            <a:endParaRPr lang="en-US" sz="1100" dirty="0"/>
          </a:p>
        </p:txBody>
      </p:sp>
      <p:sp>
        <p:nvSpPr>
          <p:cNvPr id="7" name="Text 5"/>
          <p:cNvSpPr txBox="1"/>
          <p:nvPr/>
        </p:nvSpPr>
        <p:spPr>
          <a:xfrm>
            <a:off x="5897880" y="1188720"/>
            <a:ext cx="2560320" cy="502920"/>
          </a:xfrm>
          <a:prstGeom prst="roundRect">
            <a:avLst>
              <a:gd name="adj" fmla="val 18182"/>
            </a:avLst>
          </a:prstGeom>
          <a:solidFill>
            <a:schemeClr val="tx2"/>
          </a:solidFill>
          <a:ln/>
        </p:spPr>
        <p:txBody>
          <a:bodyPr wrap="square" lIns="76200" tIns="76200" rIns="76200" bIns="76200" rtlCol="0" anchor="ctr"/>
          <a:lstStyle/>
          <a:p>
            <a:pPr marL="0" indent="0" algn="ctr">
              <a:buNone/>
            </a:pPr>
            <a:r>
              <a:rPr lang="en-US" sz="1200" b="1" dirty="0">
                <a:solidFill>
                  <a:schemeClr val="bg2"/>
                </a:solidFill>
              </a:rPr>
              <a:t>control plane</a:t>
            </a:r>
            <a:endParaRPr lang="en-US" sz="1200" dirty="0"/>
          </a:p>
        </p:txBody>
      </p:sp>
      <p:sp>
        <p:nvSpPr>
          <p:cNvPr id="8" name="worker 1"/>
          <p:cNvSpPr txBox="1"/>
          <p:nvPr/>
        </p:nvSpPr>
        <p:spPr>
          <a:xfrm>
            <a:off x="5897880" y="1828800"/>
            <a:ext cx="2560320" cy="1143000"/>
          </a:xfrm>
          <a:prstGeom prst="roundRect">
            <a:avLst>
              <a:gd name="adj" fmla="val 8000"/>
            </a:avLst>
          </a:prstGeom>
          <a:solidFill>
            <a:schemeClr val="tx2"/>
          </a:solidFill>
          <a:ln/>
        </p:spPr>
        <p:txBody>
          <a:bodyPr wrap="square" lIns="76200" tIns="76200" rIns="76200" bIns="76200" rtlCol="0" anchor="ctr"/>
          <a:lstStyle/>
          <a:p>
            <a:pPr marL="0" indent="0" algn="ctr">
              <a:buNone/>
            </a:pPr>
            <a:endParaRPr lang="en-US" sz="1300" dirty="0"/>
          </a:p>
        </p:txBody>
      </p:sp>
      <p:sp>
        <p:nvSpPr>
          <p:cNvPr id="9" name="Text 7"/>
          <p:cNvSpPr txBox="1"/>
          <p:nvPr/>
        </p:nvSpPr>
        <p:spPr>
          <a:xfrm>
            <a:off x="6035040" y="1920240"/>
            <a:ext cx="1371600" cy="228600"/>
          </a:xfrm>
          <a:prstGeom prst="rect">
            <a:avLst/>
          </a:prstGeom>
          <a:noFill/>
          <a:ln/>
        </p:spPr>
        <p:txBody>
          <a:bodyPr wrap="square" lIns="0" tIns="0" rIns="0" bIns="0" rtlCol="0" anchor="t"/>
          <a:lstStyle/>
          <a:p>
            <a:pPr marL="0" indent="0">
              <a:buNone/>
            </a:pPr>
            <a:r>
              <a:rPr lang="en-US" sz="1100" dirty="0">
                <a:solidFill>
                  <a:schemeClr val="bg2"/>
                </a:solidFill>
              </a:rPr>
              <a:t>worker 1</a:t>
            </a:r>
            <a:endParaRPr lang="en-US" sz="1100" dirty="0"/>
          </a:p>
        </p:txBody>
      </p:sp>
      <p:sp>
        <p:nvSpPr>
          <p:cNvPr id="10" name="Text 8"/>
          <p:cNvSpPr txBox="1"/>
          <p:nvPr/>
        </p:nvSpPr>
        <p:spPr>
          <a:xfrm>
            <a:off x="6035040" y="2267712"/>
            <a:ext cx="68580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1" name="Text 9"/>
          <p:cNvSpPr txBox="1"/>
          <p:nvPr/>
        </p:nvSpPr>
        <p:spPr>
          <a:xfrm>
            <a:off x="6812280" y="2267712"/>
            <a:ext cx="68580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2" name="Text 10"/>
          <p:cNvSpPr txBox="1"/>
          <p:nvPr/>
        </p:nvSpPr>
        <p:spPr>
          <a:xfrm>
            <a:off x="7589520" y="2267712"/>
            <a:ext cx="685800" cy="548640"/>
          </a:xfrm>
          <a:prstGeom prst="roundRect">
            <a:avLst>
              <a:gd name="adj" fmla="val 16667"/>
            </a:avLst>
          </a:prstGeom>
          <a:solidFill>
            <a:schemeClr val="accent3"/>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3" name="worker 2"/>
          <p:cNvSpPr txBox="1"/>
          <p:nvPr/>
        </p:nvSpPr>
        <p:spPr>
          <a:xfrm>
            <a:off x="5897880" y="3063240"/>
            <a:ext cx="2560320" cy="1143000"/>
          </a:xfrm>
          <a:prstGeom prst="roundRect">
            <a:avLst>
              <a:gd name="adj" fmla="val 8000"/>
            </a:avLst>
          </a:prstGeom>
          <a:solidFill>
            <a:schemeClr val="tx2"/>
          </a:solidFill>
          <a:ln/>
        </p:spPr>
        <p:txBody>
          <a:bodyPr wrap="square" lIns="76200" tIns="76200" rIns="76200" bIns="76200" rtlCol="0" anchor="ctr"/>
          <a:lstStyle/>
          <a:p>
            <a:pPr marL="0" indent="0" algn="ctr">
              <a:buNone/>
            </a:pPr>
            <a:endParaRPr lang="en-US" sz="1300" dirty="0"/>
          </a:p>
        </p:txBody>
      </p:sp>
      <p:sp>
        <p:nvSpPr>
          <p:cNvPr id="14" name="Text 12"/>
          <p:cNvSpPr txBox="1"/>
          <p:nvPr/>
        </p:nvSpPr>
        <p:spPr>
          <a:xfrm>
            <a:off x="6035040" y="3154680"/>
            <a:ext cx="1371600" cy="228600"/>
          </a:xfrm>
          <a:prstGeom prst="rect">
            <a:avLst/>
          </a:prstGeom>
          <a:noFill/>
          <a:ln/>
        </p:spPr>
        <p:txBody>
          <a:bodyPr wrap="square" lIns="0" tIns="0" rIns="0" bIns="0" rtlCol="0" anchor="t"/>
          <a:lstStyle/>
          <a:p>
            <a:pPr marL="0" indent="0">
              <a:buNone/>
            </a:pPr>
            <a:r>
              <a:rPr lang="en-US" sz="1100" dirty="0">
                <a:solidFill>
                  <a:schemeClr val="bg2"/>
                </a:solidFill>
              </a:rPr>
              <a:t>worker 2</a:t>
            </a:r>
            <a:endParaRPr lang="en-US" sz="1100" dirty="0"/>
          </a:p>
        </p:txBody>
      </p:sp>
      <p:sp>
        <p:nvSpPr>
          <p:cNvPr id="15" name="Text 13"/>
          <p:cNvSpPr txBox="1"/>
          <p:nvPr/>
        </p:nvSpPr>
        <p:spPr>
          <a:xfrm>
            <a:off x="6035040" y="3502152"/>
            <a:ext cx="68580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6" name="Text 14"/>
          <p:cNvSpPr txBox="1"/>
          <p:nvPr/>
        </p:nvSpPr>
        <p:spPr>
          <a:xfrm>
            <a:off x="6812280" y="3502152"/>
            <a:ext cx="685800" cy="548640"/>
          </a:xfrm>
          <a:prstGeom prst="roundRect">
            <a:avLst>
              <a:gd name="adj" fmla="val 16667"/>
            </a:avLst>
          </a:prstGeom>
          <a:solidFill>
            <a:schemeClr val="accent2"/>
          </a:solidFill>
          <a:ln/>
        </p:spPr>
        <p:txBody>
          <a:bodyPr wrap="square" lIns="76200" tIns="76200" rIns="76200" bIns="76200" rtlCol="0" anchor="ctr"/>
          <a:lstStyle/>
          <a:p>
            <a:pPr marL="0" indent="0" algn="ctr">
              <a:buNone/>
            </a:pPr>
            <a:r>
              <a:rPr lang="en-US" sz="1100" b="1" dirty="0">
                <a:solidFill>
                  <a:schemeClr val="tx1"/>
                </a:solidFill>
              </a:rPr>
              <a:t>pod</a:t>
            </a:r>
            <a:endParaRPr lang="en-US" sz="1100" dirty="0"/>
          </a:p>
        </p:txBody>
      </p:sp>
      <p:sp>
        <p:nvSpPr>
          <p:cNvPr id="17" name="Text 15"/>
          <p:cNvSpPr txBox="1"/>
          <p:nvPr/>
        </p:nvSpPr>
        <p:spPr>
          <a:xfrm>
            <a:off x="7589520" y="3502152"/>
            <a:ext cx="685800" cy="548640"/>
          </a:xfrm>
          <a:prstGeom prst="roundRect">
            <a:avLst>
              <a:gd name="adj" fmla="val 16667"/>
            </a:avLst>
          </a:prstGeom>
          <a:solidFill>
            <a:schemeClr val="accent6"/>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8" name="Text 0">
            <a:extLst>
              <a:ext uri="{FF2B5EF4-FFF2-40B4-BE49-F238E27FC236}">
                <a16:creationId xmlns:a16="http://schemas.microsoft.com/office/drawing/2014/main" id="{7C9CA440-97D9-82F6-3214-67A36A9E0EAA}"/>
              </a:ext>
            </a:extLst>
          </p:cNvPr>
          <p:cNvSpPr txBox="1">
            <a:spLocks/>
          </p:cNvSpPr>
          <p:nvPr/>
        </p:nvSpPr>
        <p:spPr>
          <a:xfrm>
            <a:off x="472812" y="4624969"/>
            <a:ext cx="4023360" cy="259266"/>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1600" kern="1200" dirty="0">
                <a:solidFill>
                  <a:schemeClr val="bg2"/>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dirty="0"/>
              <a:t>Thanks to Opus 5.5 for creating this “professional-looking” slides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What is this for</a:t>
            </a:r>
            <a:endParaRPr lang="en-US" sz="36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10" name="Audience card 10"/>
          <p:cNvSpPr/>
          <p:nvPr/>
        </p:nvSpPr>
        <p:spPr>
          <a:xfrm>
            <a:off x="457200" y="1270000"/>
            <a:ext cx="2540000" cy="2489200"/>
          </a:xfrm>
          <a:prstGeom prst="roundRect">
            <a:avLst>
              <a:gd name="adj" fmla="val 6000"/>
            </a:avLst>
          </a:prstGeom>
          <a:solidFill>
            <a:schemeClr val="bg2"/>
          </a:solidFill>
          <a:ln>
            <a:noFill/>
          </a:ln>
        </p:spPr>
        <p:txBody>
          <a:bodyPr wrap="square" lIns="177800" tIns="787400" rIns="177800" bIns="152400" rtlCol="0" anchor="t"/>
          <a:lstStyle/>
          <a:p>
            <a:pPr marL="0" indent="0">
              <a:spcAft>
                <a:spcPts val="600"/>
              </a:spcAft>
              <a:buNone/>
            </a:pPr>
            <a:r>
              <a:rPr lang="en-US" sz="1800" b="1" dirty="0">
                <a:solidFill>
                  <a:schemeClr val="tx1"/>
                </a:solidFill>
              </a:rPr>
              <a:t>Beginners</a:t>
            </a:r>
          </a:p>
          <a:p>
            <a:pPr marL="0" indent="0">
              <a:buNone/>
            </a:pPr>
            <a:r>
              <a:rPr lang="en-US" sz="1400" dirty="0">
                <a:solidFill>
                  <a:schemeClr val="tx2"/>
                </a:solidFill>
              </a:rPr>
              <a:t>New to Kubernetes and want a clear picture of what it does and why it matters.</a:t>
            </a:r>
          </a:p>
        </p:txBody>
      </p:sp>
      <p:sp>
        <p:nvSpPr>
          <p:cNvPr id="11" name="Audience card 11"/>
          <p:cNvSpPr/>
          <p:nvPr/>
        </p:nvSpPr>
        <p:spPr>
          <a:xfrm>
            <a:off x="3302000" y="1270000"/>
            <a:ext cx="2540000" cy="2489200"/>
          </a:xfrm>
          <a:prstGeom prst="roundRect">
            <a:avLst>
              <a:gd name="adj" fmla="val 6000"/>
            </a:avLst>
          </a:prstGeom>
          <a:solidFill>
            <a:schemeClr val="bg2"/>
          </a:solidFill>
          <a:ln>
            <a:noFill/>
          </a:ln>
        </p:spPr>
        <p:txBody>
          <a:bodyPr wrap="square" lIns="177800" tIns="787400" rIns="177800" bIns="152400" rtlCol="0" anchor="t"/>
          <a:lstStyle/>
          <a:p>
            <a:pPr marL="0" indent="0">
              <a:spcAft>
                <a:spcPts val="600"/>
              </a:spcAft>
              <a:buNone/>
            </a:pPr>
            <a:r>
              <a:rPr lang="en-US" sz="1800" b="1" dirty="0">
                <a:solidFill>
                  <a:schemeClr val="tx1"/>
                </a:solidFill>
              </a:rPr>
              <a:t>Practitioners</a:t>
            </a:r>
          </a:p>
          <a:p>
            <a:pPr marL="0" indent="0">
              <a:buNone/>
            </a:pPr>
            <a:r>
              <a:rPr lang="en-US" sz="1400" dirty="0">
                <a:solidFill>
                  <a:schemeClr val="tx2"/>
                </a:solidFill>
              </a:rPr>
              <a:t>Already work near containers or the cloud and want the core building blocks explained properly.</a:t>
            </a:r>
          </a:p>
        </p:txBody>
      </p:sp>
      <p:sp>
        <p:nvSpPr>
          <p:cNvPr id="12" name="Audience card 12"/>
          <p:cNvSpPr/>
          <p:nvPr/>
        </p:nvSpPr>
        <p:spPr>
          <a:xfrm>
            <a:off x="6146800" y="1270000"/>
            <a:ext cx="2540000" cy="2489200"/>
          </a:xfrm>
          <a:prstGeom prst="roundRect">
            <a:avLst>
              <a:gd name="adj" fmla="val 6000"/>
            </a:avLst>
          </a:prstGeom>
          <a:solidFill>
            <a:schemeClr val="bg2"/>
          </a:solidFill>
          <a:ln>
            <a:noFill/>
          </a:ln>
        </p:spPr>
        <p:txBody>
          <a:bodyPr wrap="square" lIns="177800" tIns="787400" rIns="177800" bIns="152400" rtlCol="0" anchor="t"/>
          <a:lstStyle/>
          <a:p>
            <a:pPr marL="0" indent="0">
              <a:spcAft>
                <a:spcPts val="600"/>
              </a:spcAft>
              <a:buNone/>
            </a:pPr>
            <a:r>
              <a:rPr lang="en-US" sz="1800" b="1" dirty="0">
                <a:solidFill>
                  <a:schemeClr val="tx1"/>
                </a:solidFill>
              </a:rPr>
              <a:t>Career movers</a:t>
            </a:r>
          </a:p>
          <a:p>
            <a:pPr marL="0" indent="0">
              <a:buNone/>
            </a:pPr>
            <a:r>
              <a:rPr lang="en-US" sz="1400" dirty="0">
                <a:solidFill>
                  <a:schemeClr val="tx2"/>
                </a:solidFill>
              </a:rPr>
              <a:t>Heading toward DevOps, platform or security work and need the basics first.</a:t>
            </a:r>
          </a:p>
        </p:txBody>
      </p:sp>
      <p:sp>
        <p:nvSpPr>
          <p:cNvPr id="13" name="Audience note"/>
          <p:cNvSpPr txBox="1"/>
          <p:nvPr/>
        </p:nvSpPr>
        <p:spPr>
          <a:xfrm>
            <a:off x="457200" y="4013200"/>
            <a:ext cx="8229600" cy="508000"/>
          </a:xfrm>
          <a:prstGeom prst="rect">
            <a:avLst/>
          </a:prstGeom>
          <a:noFill/>
        </p:spPr>
        <p:txBody>
          <a:bodyPr wrap="square" lIns="0" tIns="0" rIns="0" bIns="0" rtlCol="0" anchor="t"/>
          <a:lstStyle/>
          <a:p>
            <a:pPr marL="0" indent="0">
              <a:buNone/>
            </a:pPr>
            <a:r>
              <a:rPr lang="en-US" sz="1500" dirty="0">
                <a:solidFill>
                  <a:schemeClr val="accent5"/>
                </a:solidFill>
              </a:rPr>
              <a:t>No Kubernetes experience needed. If you have run a container before, you are ready.</a:t>
            </a:r>
          </a:p>
        </p:txBody>
      </p:sp>
      <p:pic>
        <p:nvPicPr>
          <p:cNvPr id="14" name="Graphic 14" descr="Beginn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5000" y="1447800"/>
            <a:ext cx="457200" cy="457200"/>
          </a:xfrm>
          <a:prstGeom prst="rect">
            <a:avLst/>
          </a:prstGeom>
        </p:spPr>
      </p:pic>
      <p:pic>
        <p:nvPicPr>
          <p:cNvPr id="15" name="Graphic 15" descr="Practition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9800" y="1447800"/>
            <a:ext cx="457200" cy="457200"/>
          </a:xfrm>
          <a:prstGeom prst="rect">
            <a:avLst/>
          </a:prstGeom>
        </p:spPr>
      </p:pic>
      <p:pic>
        <p:nvPicPr>
          <p:cNvPr id="16" name="Graphic 16" descr="Career growth"/>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24600" y="1447800"/>
            <a:ext cx="457200" cy="457200"/>
          </a:xfrm>
          <a:prstGeom prst="rect">
            <a:avLst/>
          </a:prstGeom>
        </p:spPr>
      </p:pic>
    </p:spTree>
    <p:extLst>
      <p:ext uri="{BB962C8B-B14F-4D97-AF65-F5344CB8AC3E}">
        <p14:creationId xmlns:p14="http://schemas.microsoft.com/office/powerpoint/2010/main" val="371478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F146C-1FDD-191C-9C79-F9251DD398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3613EF-82EF-B114-C184-39B48DBB60FD}"/>
              </a:ext>
            </a:extLst>
          </p:cNvPr>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Topics</a:t>
            </a:r>
            <a:endParaRPr lang="en-US" sz="3600" dirty="0"/>
          </a:p>
        </p:txBody>
      </p:sp>
      <p:sp>
        <p:nvSpPr>
          <p:cNvPr id="4" name="Shape 1">
            <a:extLst>
              <a:ext uri="{FF2B5EF4-FFF2-40B4-BE49-F238E27FC236}">
                <a16:creationId xmlns:a16="http://schemas.microsoft.com/office/drawing/2014/main" id="{BFD1E276-A35E-A339-C950-EA31B4F7FAAD}"/>
              </a:ext>
            </a:extLst>
          </p:cNvPr>
          <p:cNvSpPr/>
          <p:nvPr/>
        </p:nvSpPr>
        <p:spPr>
          <a:xfrm>
            <a:off x="901338" y="2297430"/>
            <a:ext cx="7053943" cy="0"/>
          </a:xfrm>
          <a:prstGeom prst="line">
            <a:avLst/>
          </a:prstGeom>
          <a:noFill/>
          <a:ln w="19050">
            <a:solidFill>
              <a:schemeClr val="accent5"/>
            </a:solidFill>
            <a:prstDash val="solid"/>
          </a:ln>
        </p:spPr>
        <p:txBody>
          <a:bodyPr/>
          <a:lstStyle/>
          <a:p>
            <a:endParaRPr lang="en-US"/>
          </a:p>
        </p:txBody>
      </p:sp>
      <p:sp>
        <p:nvSpPr>
          <p:cNvPr id="5" name="dot 1">
            <a:extLst>
              <a:ext uri="{FF2B5EF4-FFF2-40B4-BE49-F238E27FC236}">
                <a16:creationId xmlns:a16="http://schemas.microsoft.com/office/drawing/2014/main" id="{14A65868-7571-B26F-94AA-169A42614E15}"/>
              </a:ext>
            </a:extLst>
          </p:cNvPr>
          <p:cNvSpPr txBox="1"/>
          <p:nvPr/>
        </p:nvSpPr>
        <p:spPr>
          <a:xfrm>
            <a:off x="627018"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stop Nodes">
            <a:extLst>
              <a:ext uri="{FF2B5EF4-FFF2-40B4-BE49-F238E27FC236}">
                <a16:creationId xmlns:a16="http://schemas.microsoft.com/office/drawing/2014/main" id="{74E576F6-2FF2-5C0B-D42D-8D645DF41D16}"/>
              </a:ext>
            </a:extLst>
          </p:cNvPr>
          <p:cNvSpPr txBox="1"/>
          <p:nvPr/>
        </p:nvSpPr>
        <p:spPr>
          <a:xfrm>
            <a:off x="313509"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Nodes</a:t>
            </a:r>
            <a:endParaRPr lang="en-US" sz="1400" dirty="0"/>
          </a:p>
        </p:txBody>
      </p:sp>
      <p:sp>
        <p:nvSpPr>
          <p:cNvPr id="7" name="Text 4">
            <a:extLst>
              <a:ext uri="{FF2B5EF4-FFF2-40B4-BE49-F238E27FC236}">
                <a16:creationId xmlns:a16="http://schemas.microsoft.com/office/drawing/2014/main" id="{B66498CA-1AA4-3B5E-9572-D7774FA7BEAD}"/>
              </a:ext>
            </a:extLst>
          </p:cNvPr>
          <p:cNvSpPr txBox="1"/>
          <p:nvPr/>
        </p:nvSpPr>
        <p:spPr>
          <a:xfrm>
            <a:off x="359229"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Machines that run the work</a:t>
            </a:r>
            <a:endParaRPr lang="en-US" sz="1200" dirty="0"/>
          </a:p>
        </p:txBody>
      </p:sp>
      <p:sp>
        <p:nvSpPr>
          <p:cNvPr id="8" name="dot 2">
            <a:extLst>
              <a:ext uri="{FF2B5EF4-FFF2-40B4-BE49-F238E27FC236}">
                <a16:creationId xmlns:a16="http://schemas.microsoft.com/office/drawing/2014/main" id="{E2F8DB37-27A8-B06E-D125-D5258198EF84}"/>
              </a:ext>
            </a:extLst>
          </p:cNvPr>
          <p:cNvSpPr txBox="1"/>
          <p:nvPr/>
        </p:nvSpPr>
        <p:spPr>
          <a:xfrm>
            <a:off x="1802675"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op Pods">
            <a:extLst>
              <a:ext uri="{FF2B5EF4-FFF2-40B4-BE49-F238E27FC236}">
                <a16:creationId xmlns:a16="http://schemas.microsoft.com/office/drawing/2014/main" id="{B945CB92-A4AE-50B9-4895-1EA979D2EA31}"/>
              </a:ext>
            </a:extLst>
          </p:cNvPr>
          <p:cNvSpPr txBox="1"/>
          <p:nvPr/>
        </p:nvSpPr>
        <p:spPr>
          <a:xfrm>
            <a:off x="1489166"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Pods</a:t>
            </a:r>
            <a:endParaRPr lang="en-US" sz="1400" dirty="0"/>
          </a:p>
        </p:txBody>
      </p:sp>
      <p:sp>
        <p:nvSpPr>
          <p:cNvPr id="10" name="Text 7">
            <a:extLst>
              <a:ext uri="{FF2B5EF4-FFF2-40B4-BE49-F238E27FC236}">
                <a16:creationId xmlns:a16="http://schemas.microsoft.com/office/drawing/2014/main" id="{C048F4E6-EB7D-2C58-2485-F2D6BACEBDEA}"/>
              </a:ext>
            </a:extLst>
          </p:cNvPr>
          <p:cNvSpPr txBox="1"/>
          <p:nvPr/>
        </p:nvSpPr>
        <p:spPr>
          <a:xfrm>
            <a:off x="1534886"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The smallest unit</a:t>
            </a:r>
            <a:endParaRPr lang="en-US" sz="1200" dirty="0"/>
          </a:p>
        </p:txBody>
      </p:sp>
      <p:sp>
        <p:nvSpPr>
          <p:cNvPr id="11" name="dot 3">
            <a:extLst>
              <a:ext uri="{FF2B5EF4-FFF2-40B4-BE49-F238E27FC236}">
                <a16:creationId xmlns:a16="http://schemas.microsoft.com/office/drawing/2014/main" id="{A27FE3D1-75E1-E0DD-B085-2CF266167CA5}"/>
              </a:ext>
            </a:extLst>
          </p:cNvPr>
          <p:cNvSpPr txBox="1"/>
          <p:nvPr/>
        </p:nvSpPr>
        <p:spPr>
          <a:xfrm>
            <a:off x="2978332"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2" name="stop Deployments">
            <a:extLst>
              <a:ext uri="{FF2B5EF4-FFF2-40B4-BE49-F238E27FC236}">
                <a16:creationId xmlns:a16="http://schemas.microsoft.com/office/drawing/2014/main" id="{CD417E51-BAA2-77A3-F470-15043DFE37FC}"/>
              </a:ext>
            </a:extLst>
          </p:cNvPr>
          <p:cNvSpPr txBox="1"/>
          <p:nvPr/>
        </p:nvSpPr>
        <p:spPr>
          <a:xfrm>
            <a:off x="2664823"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Deployments</a:t>
            </a:r>
            <a:endParaRPr lang="en-US" sz="1400" dirty="0"/>
          </a:p>
        </p:txBody>
      </p:sp>
      <p:sp>
        <p:nvSpPr>
          <p:cNvPr id="13" name="Text 10">
            <a:extLst>
              <a:ext uri="{FF2B5EF4-FFF2-40B4-BE49-F238E27FC236}">
                <a16:creationId xmlns:a16="http://schemas.microsoft.com/office/drawing/2014/main" id="{916990CA-75D6-2620-F617-5D03779EF60E}"/>
              </a:ext>
            </a:extLst>
          </p:cNvPr>
          <p:cNvSpPr txBox="1"/>
          <p:nvPr/>
        </p:nvSpPr>
        <p:spPr>
          <a:xfrm>
            <a:off x="2710543"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Keep N copies alive</a:t>
            </a:r>
            <a:endParaRPr lang="en-US" sz="1200" dirty="0"/>
          </a:p>
        </p:txBody>
      </p:sp>
      <p:sp>
        <p:nvSpPr>
          <p:cNvPr id="14" name="dot 4">
            <a:extLst>
              <a:ext uri="{FF2B5EF4-FFF2-40B4-BE49-F238E27FC236}">
                <a16:creationId xmlns:a16="http://schemas.microsoft.com/office/drawing/2014/main" id="{4FA48AD8-73A7-72B1-079F-6634970C44DD}"/>
              </a:ext>
            </a:extLst>
          </p:cNvPr>
          <p:cNvSpPr txBox="1"/>
          <p:nvPr/>
        </p:nvSpPr>
        <p:spPr>
          <a:xfrm>
            <a:off x="4153989"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5" name="stop Services">
            <a:extLst>
              <a:ext uri="{FF2B5EF4-FFF2-40B4-BE49-F238E27FC236}">
                <a16:creationId xmlns:a16="http://schemas.microsoft.com/office/drawing/2014/main" id="{A405E9AC-37DC-6F8B-429E-87C5EED6A753}"/>
              </a:ext>
            </a:extLst>
          </p:cNvPr>
          <p:cNvSpPr txBox="1"/>
          <p:nvPr/>
        </p:nvSpPr>
        <p:spPr>
          <a:xfrm>
            <a:off x="3840480"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Services</a:t>
            </a:r>
            <a:endParaRPr lang="en-US" sz="1400" dirty="0"/>
          </a:p>
        </p:txBody>
      </p:sp>
      <p:sp>
        <p:nvSpPr>
          <p:cNvPr id="16" name="Text 13">
            <a:extLst>
              <a:ext uri="{FF2B5EF4-FFF2-40B4-BE49-F238E27FC236}">
                <a16:creationId xmlns:a16="http://schemas.microsoft.com/office/drawing/2014/main" id="{89F89989-43FB-427A-61F4-4B8EFA2CFEEC}"/>
              </a:ext>
            </a:extLst>
          </p:cNvPr>
          <p:cNvSpPr txBox="1"/>
          <p:nvPr/>
        </p:nvSpPr>
        <p:spPr>
          <a:xfrm>
            <a:off x="3886200"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A stable address</a:t>
            </a:r>
            <a:endParaRPr lang="en-US" sz="1200" dirty="0"/>
          </a:p>
        </p:txBody>
      </p:sp>
      <p:sp>
        <p:nvSpPr>
          <p:cNvPr id="17" name="dot 5">
            <a:extLst>
              <a:ext uri="{FF2B5EF4-FFF2-40B4-BE49-F238E27FC236}">
                <a16:creationId xmlns:a16="http://schemas.microsoft.com/office/drawing/2014/main" id="{58D62D86-6B97-7B76-CFE6-0F24B73BA504}"/>
              </a:ext>
            </a:extLst>
          </p:cNvPr>
          <p:cNvSpPr txBox="1"/>
          <p:nvPr/>
        </p:nvSpPr>
        <p:spPr>
          <a:xfrm>
            <a:off x="5329646"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8" name="stop Config">
            <a:extLst>
              <a:ext uri="{FF2B5EF4-FFF2-40B4-BE49-F238E27FC236}">
                <a16:creationId xmlns:a16="http://schemas.microsoft.com/office/drawing/2014/main" id="{B830D540-6A57-9C5C-C59D-7BAA0E95B405}"/>
              </a:ext>
            </a:extLst>
          </p:cNvPr>
          <p:cNvSpPr txBox="1"/>
          <p:nvPr/>
        </p:nvSpPr>
        <p:spPr>
          <a:xfrm>
            <a:off x="5016138"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Config</a:t>
            </a:r>
            <a:endParaRPr lang="en-US" sz="1400" dirty="0"/>
          </a:p>
        </p:txBody>
      </p:sp>
      <p:sp>
        <p:nvSpPr>
          <p:cNvPr id="19" name="Text 16">
            <a:extLst>
              <a:ext uri="{FF2B5EF4-FFF2-40B4-BE49-F238E27FC236}">
                <a16:creationId xmlns:a16="http://schemas.microsoft.com/office/drawing/2014/main" id="{B4CB5DFE-4496-4205-DA12-7F0397FE4C96}"/>
              </a:ext>
            </a:extLst>
          </p:cNvPr>
          <p:cNvSpPr txBox="1"/>
          <p:nvPr/>
        </p:nvSpPr>
        <p:spPr>
          <a:xfrm>
            <a:off x="5061858"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ConfigMaps &amp; Secrets</a:t>
            </a:r>
            <a:endParaRPr lang="en-US" sz="1200" dirty="0"/>
          </a:p>
        </p:txBody>
      </p:sp>
      <p:sp>
        <p:nvSpPr>
          <p:cNvPr id="20" name="dot 6">
            <a:extLst>
              <a:ext uri="{FF2B5EF4-FFF2-40B4-BE49-F238E27FC236}">
                <a16:creationId xmlns:a16="http://schemas.microsoft.com/office/drawing/2014/main" id="{74D717E7-6C69-110E-D9D3-DB70CC803376}"/>
              </a:ext>
            </a:extLst>
          </p:cNvPr>
          <p:cNvSpPr txBox="1"/>
          <p:nvPr/>
        </p:nvSpPr>
        <p:spPr>
          <a:xfrm>
            <a:off x="6505303"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1" name="stop StatefulSets">
            <a:extLst>
              <a:ext uri="{FF2B5EF4-FFF2-40B4-BE49-F238E27FC236}">
                <a16:creationId xmlns:a16="http://schemas.microsoft.com/office/drawing/2014/main" id="{E63C9A90-36F4-9CB8-800E-76D7EAC87631}"/>
              </a:ext>
            </a:extLst>
          </p:cNvPr>
          <p:cNvSpPr txBox="1"/>
          <p:nvPr/>
        </p:nvSpPr>
        <p:spPr>
          <a:xfrm>
            <a:off x="6191795"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StatefulSets</a:t>
            </a:r>
            <a:endParaRPr lang="en-US" sz="1400" dirty="0"/>
          </a:p>
        </p:txBody>
      </p:sp>
      <p:sp>
        <p:nvSpPr>
          <p:cNvPr id="22" name="Text 19">
            <a:extLst>
              <a:ext uri="{FF2B5EF4-FFF2-40B4-BE49-F238E27FC236}">
                <a16:creationId xmlns:a16="http://schemas.microsoft.com/office/drawing/2014/main" id="{45CF0F02-E2F8-408A-2D04-B7F274550A69}"/>
              </a:ext>
            </a:extLst>
          </p:cNvPr>
          <p:cNvSpPr txBox="1"/>
          <p:nvPr/>
        </p:nvSpPr>
        <p:spPr>
          <a:xfrm>
            <a:off x="6237515"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Pods with identity</a:t>
            </a:r>
            <a:endParaRPr lang="en-US" sz="1200" dirty="0"/>
          </a:p>
        </p:txBody>
      </p:sp>
      <p:sp>
        <p:nvSpPr>
          <p:cNvPr id="23" name="dot 7">
            <a:extLst>
              <a:ext uri="{FF2B5EF4-FFF2-40B4-BE49-F238E27FC236}">
                <a16:creationId xmlns:a16="http://schemas.microsoft.com/office/drawing/2014/main" id="{6D1E9EEC-2BB2-5D60-0B44-C72B1976F29A}"/>
              </a:ext>
            </a:extLst>
          </p:cNvPr>
          <p:cNvSpPr txBox="1"/>
          <p:nvPr/>
        </p:nvSpPr>
        <p:spPr>
          <a:xfrm>
            <a:off x="7680960" y="2023110"/>
            <a:ext cx="548640" cy="54864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24" name="stop HPA">
            <a:extLst>
              <a:ext uri="{FF2B5EF4-FFF2-40B4-BE49-F238E27FC236}">
                <a16:creationId xmlns:a16="http://schemas.microsoft.com/office/drawing/2014/main" id="{3DDE4CA4-195F-55CD-1CE3-3DAB893056B7}"/>
              </a:ext>
            </a:extLst>
          </p:cNvPr>
          <p:cNvSpPr txBox="1"/>
          <p:nvPr/>
        </p:nvSpPr>
        <p:spPr>
          <a:xfrm>
            <a:off x="7367452" y="2708910"/>
            <a:ext cx="1175657" cy="320040"/>
          </a:xfrm>
          <a:prstGeom prst="rect">
            <a:avLst/>
          </a:prstGeom>
          <a:noFill/>
          <a:ln/>
        </p:spPr>
        <p:txBody>
          <a:bodyPr wrap="square" lIns="0" tIns="0" rIns="0" bIns="0" rtlCol="0" anchor="t"/>
          <a:lstStyle/>
          <a:p>
            <a:pPr marL="0" indent="0" algn="ctr">
              <a:buNone/>
            </a:pPr>
            <a:r>
              <a:rPr lang="en-US" sz="1400" b="1" dirty="0">
                <a:solidFill>
                  <a:schemeClr val="tx1"/>
                </a:solidFill>
              </a:rPr>
              <a:t>HPA</a:t>
            </a:r>
            <a:endParaRPr lang="en-US" sz="1400" dirty="0"/>
          </a:p>
        </p:txBody>
      </p:sp>
      <p:sp>
        <p:nvSpPr>
          <p:cNvPr id="25" name="Text 22">
            <a:extLst>
              <a:ext uri="{FF2B5EF4-FFF2-40B4-BE49-F238E27FC236}">
                <a16:creationId xmlns:a16="http://schemas.microsoft.com/office/drawing/2014/main" id="{336C04B3-45E7-AF8F-F624-F0BA0B11CC4E}"/>
              </a:ext>
            </a:extLst>
          </p:cNvPr>
          <p:cNvSpPr txBox="1"/>
          <p:nvPr/>
        </p:nvSpPr>
        <p:spPr>
          <a:xfrm>
            <a:off x="7413172" y="3047238"/>
            <a:ext cx="1084217" cy="640080"/>
          </a:xfrm>
          <a:prstGeom prst="rect">
            <a:avLst/>
          </a:prstGeom>
          <a:noFill/>
          <a:ln/>
        </p:spPr>
        <p:txBody>
          <a:bodyPr wrap="square" lIns="0" tIns="0" rIns="0" bIns="0" rtlCol="0" anchor="t"/>
          <a:lstStyle/>
          <a:p>
            <a:pPr marL="0" indent="0" algn="ctr">
              <a:buNone/>
            </a:pPr>
            <a:r>
              <a:rPr lang="en-US" sz="1200" dirty="0">
                <a:solidFill>
                  <a:schemeClr val="accent5"/>
                </a:solidFill>
              </a:rPr>
              <a:t>Scale on load</a:t>
            </a:r>
            <a:endParaRPr lang="en-US" sz="1200" dirty="0"/>
          </a:p>
        </p:txBody>
      </p:sp>
      <p:sp>
        <p:nvSpPr>
          <p:cNvPr id="3" name="Slide Number Placeholder 0">
            <a:extLst>
              <a:ext uri="{FF2B5EF4-FFF2-40B4-BE49-F238E27FC236}">
                <a16:creationId xmlns:a16="http://schemas.microsoft.com/office/drawing/2014/main" id="{92C80A98-E18F-10F7-1269-8D20C615B038}"/>
              </a:ext>
            </a:extLst>
          </p:cNvPr>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83236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Why Kubernetes?</a:t>
            </a:r>
            <a:endParaRPr lang="en-US" sz="3600" dirty="0"/>
          </a:p>
        </p:txBody>
      </p:sp>
      <p:sp>
        <p:nvSpPr>
          <p:cNvPr id="4" name="Text 1"/>
          <p:cNvSpPr txBox="1"/>
          <p:nvPr/>
        </p:nvSpPr>
        <p:spPr>
          <a:xfrm>
            <a:off x="457200" y="1051560"/>
            <a:ext cx="8229600" cy="365760"/>
          </a:xfrm>
          <a:prstGeom prst="rect">
            <a:avLst/>
          </a:prstGeom>
          <a:noFill/>
          <a:ln/>
        </p:spPr>
        <p:txBody>
          <a:bodyPr wrap="square" lIns="0" tIns="0" rIns="0" bIns="0" rtlCol="0" anchor="t"/>
          <a:lstStyle/>
          <a:p>
            <a:pPr marL="0" indent="0">
              <a:buNone/>
            </a:pPr>
            <a:r>
              <a:rPr lang="en-US" sz="1600" dirty="0">
                <a:solidFill>
                  <a:schemeClr val="accent5"/>
                </a:solidFill>
              </a:rPr>
              <a:t>Containers are easy on one machine. Across many machines, someone has to answer:</a:t>
            </a:r>
            <a:endParaRPr lang="en-US" sz="1600" dirty="0"/>
          </a:p>
        </p:txBody>
      </p:sp>
      <p:sp>
        <p:nvSpPr>
          <p:cNvPr id="5" name="card 1"/>
          <p:cNvSpPr txBox="1"/>
          <p:nvPr/>
        </p:nvSpPr>
        <p:spPr>
          <a:xfrm>
            <a:off x="457200" y="1600200"/>
            <a:ext cx="4023360" cy="1325880"/>
          </a:xfrm>
          <a:prstGeom prst="roundRect">
            <a:avLst>
              <a:gd name="adj" fmla="val 6897"/>
            </a:avLst>
          </a:prstGeom>
          <a:solidFill>
            <a:schemeClr val="bg2"/>
          </a:solidFill>
          <a:ln/>
        </p:spPr>
        <p:txBody>
          <a:bodyPr wrap="square" lIns="76200" tIns="76200" rIns="76200" bIns="76200" rtlCol="0" anchor="ctr"/>
          <a:lstStyle/>
          <a:p>
            <a:pPr marL="0" indent="0" algn="ctr">
              <a:buNone/>
            </a:pPr>
            <a:endParaRPr lang="en-US" sz="1300" dirty="0"/>
          </a:p>
        </p:txBody>
      </p:sp>
      <p:sp>
        <p:nvSpPr>
          <p:cNvPr id="6" name="dot 1"/>
          <p:cNvSpPr txBox="1"/>
          <p:nvPr/>
        </p:nvSpPr>
        <p:spPr>
          <a:xfrm>
            <a:off x="685800" y="1856232"/>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Which machine should run it?"/>
          <p:cNvSpPr txBox="1"/>
          <p:nvPr/>
        </p:nvSpPr>
        <p:spPr>
          <a:xfrm>
            <a:off x="1280160" y="1801368"/>
            <a:ext cx="3017520" cy="1005840"/>
          </a:xfrm>
          <a:prstGeom prst="rect">
            <a:avLst/>
          </a:prstGeom>
          <a:noFill/>
          <a:ln/>
        </p:spPr>
        <p:txBody>
          <a:bodyPr wrap="square" lIns="0" tIns="0" rIns="0" bIns="0" rtlCol="0" anchor="t"/>
          <a:lstStyle/>
          <a:p>
            <a:pPr marL="0" indent="0">
              <a:spcAft>
                <a:spcPts val="600"/>
              </a:spcAft>
              <a:buNone/>
            </a:pPr>
            <a:r>
              <a:rPr lang="en-US" sz="1700" b="1" dirty="0">
                <a:solidFill>
                  <a:schemeClr val="tx1"/>
                </a:solidFill>
              </a:rPr>
              <a:t>Which machine should run it?</a:t>
            </a:r>
            <a:endParaRPr lang="en-US" sz="1400" dirty="0"/>
          </a:p>
          <a:p>
            <a:pPr marL="0" indent="0">
              <a:spcAft>
                <a:spcPts val="600"/>
              </a:spcAft>
              <a:buNone/>
            </a:pPr>
            <a:r>
              <a:rPr lang="en-US" sz="1400" b="1" dirty="0">
                <a:solidFill>
                  <a:schemeClr val="accent1"/>
                </a:solidFill>
              </a:rPr>
              <a:t>Kubernetes: </a:t>
            </a:r>
            <a:r>
              <a:rPr lang="en-US" sz="1400" dirty="0">
                <a:solidFill>
                  <a:schemeClr val="tx1"/>
                </a:solidFill>
              </a:rPr>
              <a:t>the scheduler picks a node with room</a:t>
            </a:r>
            <a:endParaRPr lang="en-US" sz="1400" dirty="0"/>
          </a:p>
        </p:txBody>
      </p:sp>
      <p:sp>
        <p:nvSpPr>
          <p:cNvPr id="8" name="card 2"/>
          <p:cNvSpPr txBox="1"/>
          <p:nvPr/>
        </p:nvSpPr>
        <p:spPr>
          <a:xfrm>
            <a:off x="4663440" y="1600200"/>
            <a:ext cx="4023360" cy="1325880"/>
          </a:xfrm>
          <a:prstGeom prst="roundRect">
            <a:avLst>
              <a:gd name="adj" fmla="val 6897"/>
            </a:avLst>
          </a:prstGeom>
          <a:solidFill>
            <a:schemeClr val="bg2"/>
          </a:solidFill>
          <a:ln/>
        </p:spPr>
        <p:txBody>
          <a:bodyPr wrap="square" lIns="76200" tIns="76200" rIns="76200" bIns="76200" rtlCol="0" anchor="ctr"/>
          <a:lstStyle/>
          <a:p>
            <a:pPr marL="0" indent="0" algn="ctr">
              <a:buNone/>
            </a:pPr>
            <a:endParaRPr lang="en-US" sz="1300" dirty="0"/>
          </a:p>
        </p:txBody>
      </p:sp>
      <p:sp>
        <p:nvSpPr>
          <p:cNvPr id="9" name="dot 2"/>
          <p:cNvSpPr txBox="1"/>
          <p:nvPr/>
        </p:nvSpPr>
        <p:spPr>
          <a:xfrm>
            <a:off x="4892040" y="1856232"/>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It crashed at 3 a.m. Who restarts it?"/>
          <p:cNvSpPr txBox="1"/>
          <p:nvPr/>
        </p:nvSpPr>
        <p:spPr>
          <a:xfrm>
            <a:off x="5486400" y="1801368"/>
            <a:ext cx="3017520" cy="1005840"/>
          </a:xfrm>
          <a:prstGeom prst="rect">
            <a:avLst/>
          </a:prstGeom>
          <a:noFill/>
          <a:ln/>
        </p:spPr>
        <p:txBody>
          <a:bodyPr wrap="square" lIns="0" tIns="0" rIns="0" bIns="0" rtlCol="0" anchor="t"/>
          <a:lstStyle/>
          <a:p>
            <a:pPr marL="0" indent="0">
              <a:spcAft>
                <a:spcPts val="600"/>
              </a:spcAft>
              <a:buNone/>
            </a:pPr>
            <a:r>
              <a:rPr lang="en-US" sz="1700" b="1" dirty="0">
                <a:solidFill>
                  <a:schemeClr val="tx1"/>
                </a:solidFill>
              </a:rPr>
              <a:t>It crashed at 3 a.m. Who restarts it?</a:t>
            </a:r>
            <a:endParaRPr lang="en-US" sz="1400" dirty="0"/>
          </a:p>
          <a:p>
            <a:pPr marL="0" indent="0">
              <a:spcAft>
                <a:spcPts val="600"/>
              </a:spcAft>
              <a:buNone/>
            </a:pPr>
            <a:r>
              <a:rPr lang="en-US" sz="1400" b="1" dirty="0">
                <a:solidFill>
                  <a:schemeClr val="accent1"/>
                </a:solidFill>
              </a:rPr>
              <a:t>Kubernetes: </a:t>
            </a:r>
            <a:r>
              <a:rPr lang="en-US" sz="1400" dirty="0">
                <a:solidFill>
                  <a:schemeClr val="tx1"/>
                </a:solidFill>
              </a:rPr>
              <a:t>controllers recreate it automatically</a:t>
            </a:r>
            <a:endParaRPr lang="en-US" sz="1400" dirty="0"/>
          </a:p>
        </p:txBody>
      </p:sp>
      <p:sp>
        <p:nvSpPr>
          <p:cNvPr id="11" name="card 3"/>
          <p:cNvSpPr txBox="1"/>
          <p:nvPr/>
        </p:nvSpPr>
        <p:spPr>
          <a:xfrm>
            <a:off x="457200" y="3108960"/>
            <a:ext cx="4023360" cy="1325880"/>
          </a:xfrm>
          <a:prstGeom prst="roundRect">
            <a:avLst>
              <a:gd name="adj" fmla="val 6897"/>
            </a:avLst>
          </a:prstGeom>
          <a:solidFill>
            <a:schemeClr val="bg2"/>
          </a:solidFill>
          <a:ln/>
        </p:spPr>
        <p:txBody>
          <a:bodyPr wrap="square" lIns="76200" tIns="76200" rIns="76200" bIns="76200" rtlCol="0" anchor="ctr"/>
          <a:lstStyle/>
          <a:p>
            <a:pPr marL="0" indent="0" algn="ctr">
              <a:buNone/>
            </a:pPr>
            <a:endParaRPr lang="en-US" sz="1300" dirty="0"/>
          </a:p>
        </p:txBody>
      </p:sp>
      <p:sp>
        <p:nvSpPr>
          <p:cNvPr id="12" name="dot 3"/>
          <p:cNvSpPr txBox="1"/>
          <p:nvPr/>
        </p:nvSpPr>
        <p:spPr>
          <a:xfrm>
            <a:off x="685800" y="3364992"/>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raffic spiked. Who adds copies?"/>
          <p:cNvSpPr txBox="1"/>
          <p:nvPr/>
        </p:nvSpPr>
        <p:spPr>
          <a:xfrm>
            <a:off x="1280160" y="3310128"/>
            <a:ext cx="3017520" cy="1005840"/>
          </a:xfrm>
          <a:prstGeom prst="rect">
            <a:avLst/>
          </a:prstGeom>
          <a:noFill/>
          <a:ln/>
        </p:spPr>
        <p:txBody>
          <a:bodyPr wrap="square" lIns="0" tIns="0" rIns="0" bIns="0" rtlCol="0" anchor="t"/>
          <a:lstStyle/>
          <a:p>
            <a:pPr marL="0" indent="0">
              <a:spcAft>
                <a:spcPts val="600"/>
              </a:spcAft>
              <a:buNone/>
            </a:pPr>
            <a:r>
              <a:rPr lang="en-US" sz="1700" b="1" dirty="0">
                <a:solidFill>
                  <a:schemeClr val="tx1"/>
                </a:solidFill>
              </a:rPr>
              <a:t>Traffic spiked. Who adds copies?</a:t>
            </a:r>
            <a:endParaRPr lang="en-US" sz="1400" dirty="0"/>
          </a:p>
          <a:p>
            <a:pPr marL="0" indent="0">
              <a:spcAft>
                <a:spcPts val="600"/>
              </a:spcAft>
              <a:buNone/>
            </a:pPr>
            <a:r>
              <a:rPr lang="en-US" sz="1400" b="1" dirty="0">
                <a:solidFill>
                  <a:schemeClr val="accent1"/>
                </a:solidFill>
              </a:rPr>
              <a:t>Kubernetes: </a:t>
            </a:r>
            <a:r>
              <a:rPr lang="en-US" sz="1400" dirty="0">
                <a:solidFill>
                  <a:schemeClr val="tx1"/>
                </a:solidFill>
              </a:rPr>
              <a:t>the autoscaler adds pods</a:t>
            </a:r>
            <a:endParaRPr lang="en-US" sz="1400" dirty="0"/>
          </a:p>
        </p:txBody>
      </p:sp>
      <p:sp>
        <p:nvSpPr>
          <p:cNvPr id="14" name="card 4"/>
          <p:cNvSpPr txBox="1"/>
          <p:nvPr/>
        </p:nvSpPr>
        <p:spPr>
          <a:xfrm>
            <a:off x="4663440" y="3108960"/>
            <a:ext cx="4023360" cy="1325880"/>
          </a:xfrm>
          <a:prstGeom prst="roundRect">
            <a:avLst>
              <a:gd name="adj" fmla="val 6897"/>
            </a:avLst>
          </a:prstGeom>
          <a:solidFill>
            <a:schemeClr val="bg2"/>
          </a:solidFill>
          <a:ln/>
        </p:spPr>
        <p:txBody>
          <a:bodyPr wrap="square" lIns="76200" tIns="76200" rIns="76200" bIns="76200" rtlCol="0" anchor="ctr"/>
          <a:lstStyle/>
          <a:p>
            <a:pPr marL="0" indent="0" algn="ctr">
              <a:buNone/>
            </a:pPr>
            <a:endParaRPr lang="en-US" sz="1300" dirty="0"/>
          </a:p>
        </p:txBody>
      </p:sp>
      <p:sp>
        <p:nvSpPr>
          <p:cNvPr id="15" name="dot 4"/>
          <p:cNvSpPr txBox="1"/>
          <p:nvPr/>
        </p:nvSpPr>
        <p:spPr>
          <a:xfrm>
            <a:off x="4892040" y="3364992"/>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It moved. How do clients find it?"/>
          <p:cNvSpPr txBox="1"/>
          <p:nvPr/>
        </p:nvSpPr>
        <p:spPr>
          <a:xfrm>
            <a:off x="5486400" y="3310128"/>
            <a:ext cx="3017520" cy="1005840"/>
          </a:xfrm>
          <a:prstGeom prst="rect">
            <a:avLst/>
          </a:prstGeom>
          <a:noFill/>
          <a:ln/>
        </p:spPr>
        <p:txBody>
          <a:bodyPr wrap="square" lIns="0" tIns="0" rIns="0" bIns="0" rtlCol="0" anchor="t"/>
          <a:lstStyle/>
          <a:p>
            <a:pPr marL="0" indent="0">
              <a:spcAft>
                <a:spcPts val="600"/>
              </a:spcAft>
              <a:buNone/>
            </a:pPr>
            <a:r>
              <a:rPr lang="en-US" sz="1700" b="1" dirty="0">
                <a:solidFill>
                  <a:schemeClr val="tx1"/>
                </a:solidFill>
              </a:rPr>
              <a:t>It moved. How do clients find it?</a:t>
            </a:r>
            <a:endParaRPr lang="en-US" sz="1400" dirty="0"/>
          </a:p>
          <a:p>
            <a:pPr marL="0" indent="0">
              <a:spcAft>
                <a:spcPts val="600"/>
              </a:spcAft>
              <a:buNone/>
            </a:pPr>
            <a:r>
              <a:rPr lang="en-US" sz="1400" b="1" dirty="0">
                <a:solidFill>
                  <a:schemeClr val="accent1"/>
                </a:solidFill>
              </a:rPr>
              <a:t>Kubernetes: </a:t>
            </a:r>
            <a:r>
              <a:rPr lang="en-US" sz="1400" dirty="0">
                <a:solidFill>
                  <a:schemeClr val="tx1"/>
                </a:solidFill>
              </a:rPr>
              <a:t>Services give it a stable name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718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You declare, it reconciles</a:t>
            </a:r>
            <a:endParaRPr lang="en-US" sz="3600" dirty="0"/>
          </a:p>
        </p:txBody>
      </p:sp>
      <p:sp>
        <p:nvSpPr>
          <p:cNvPr id="4" name="desired card"/>
          <p:cNvSpPr txBox="1"/>
          <p:nvPr/>
        </p:nvSpPr>
        <p:spPr>
          <a:xfrm>
            <a:off x="457200" y="1234440"/>
            <a:ext cx="2377440" cy="2011680"/>
          </a:xfrm>
          <a:prstGeom prst="roundRect">
            <a:avLst>
              <a:gd name="adj" fmla="val 4545"/>
            </a:avLst>
          </a:prstGeom>
          <a:solidFill>
            <a:schemeClr val="bg2"/>
          </a:solidFill>
          <a:ln/>
        </p:spPr>
        <p:txBody>
          <a:bodyPr wrap="square" lIns="76200" tIns="76200" rIns="76200" bIns="76200" rtlCol="0" anchor="ctr"/>
          <a:lstStyle/>
          <a:p>
            <a:pPr marL="0" indent="0" algn="ctr">
              <a:buNone/>
            </a:pPr>
            <a:endParaRPr lang="en-US" sz="1300" dirty="0"/>
          </a:p>
        </p:txBody>
      </p:sp>
      <p:sp>
        <p:nvSpPr>
          <p:cNvPr id="5" name="Text 2"/>
          <p:cNvSpPr txBox="1"/>
          <p:nvPr/>
        </p:nvSpPr>
        <p:spPr>
          <a:xfrm>
            <a:off x="685800" y="1371600"/>
            <a:ext cx="2011680" cy="594360"/>
          </a:xfrm>
          <a:prstGeom prst="rect">
            <a:avLst/>
          </a:prstGeom>
          <a:noFill/>
          <a:ln/>
        </p:spPr>
        <p:txBody>
          <a:bodyPr wrap="square" lIns="0" tIns="0" rIns="0" bIns="0" rtlCol="0" anchor="t"/>
          <a:lstStyle/>
          <a:p>
            <a:pPr marL="0" indent="0">
              <a:buNone/>
            </a:pPr>
            <a:r>
              <a:rPr lang="en-US" sz="1600" b="1" dirty="0">
                <a:solidFill>
                  <a:schemeClr val="tx1"/>
                </a:solidFill>
              </a:rPr>
              <a:t>Desired state</a:t>
            </a:r>
            <a:endParaRPr lang="en-US" sz="1400" dirty="0"/>
          </a:p>
          <a:p>
            <a:pPr marL="0" indent="0">
              <a:buNone/>
            </a:pPr>
            <a:r>
              <a:rPr lang="en-US" sz="1300" dirty="0">
                <a:solidFill>
                  <a:schemeClr val="accent5"/>
                </a:solidFill>
              </a:rPr>
              <a:t>what you declare</a:t>
            </a:r>
            <a:endParaRPr lang="en-US" sz="1400" dirty="0"/>
          </a:p>
        </p:txBody>
      </p:sp>
      <p:sp>
        <p:nvSpPr>
          <p:cNvPr id="6" name="Text 3"/>
          <p:cNvSpPr txBox="1"/>
          <p:nvPr/>
        </p:nvSpPr>
        <p:spPr>
          <a:xfrm>
            <a:off x="685800" y="2194560"/>
            <a:ext cx="1920240" cy="731520"/>
          </a:xfrm>
          <a:prstGeom prst="roundRect">
            <a:avLst>
              <a:gd name="adj" fmla="val 10000"/>
            </a:avLst>
          </a:prstGeom>
          <a:solidFill>
            <a:schemeClr val="tx1"/>
          </a:solidFill>
          <a:ln/>
        </p:spPr>
        <p:txBody>
          <a:bodyPr wrap="square" lIns="76200" tIns="76200" rIns="76200" bIns="76200" rtlCol="0" anchor="ctr"/>
          <a:lstStyle/>
          <a:p>
            <a:pPr marL="0" indent="0" algn="ctr">
              <a:buNone/>
            </a:pPr>
            <a:r>
              <a:rPr lang="en-US" sz="1500" dirty="0">
                <a:solidFill>
                  <a:schemeClr val="accent2"/>
                </a:solidFill>
                <a:latin typeface="Courier New" pitchFamily="34" charset="0"/>
                <a:ea typeface="Courier New" pitchFamily="34" charset="-122"/>
                <a:cs typeface="Courier New" pitchFamily="34" charset="-120"/>
              </a:rPr>
              <a:t>replicas: 3</a:t>
            </a:r>
            <a:endParaRPr lang="en-US" sz="1500" dirty="0"/>
          </a:p>
        </p:txBody>
      </p:sp>
      <p:sp>
        <p:nvSpPr>
          <p:cNvPr id="7" name="Shape 4"/>
          <p:cNvSpPr/>
          <p:nvPr/>
        </p:nvSpPr>
        <p:spPr>
          <a:xfrm>
            <a:off x="2834640" y="2240280"/>
            <a:ext cx="411480" cy="0"/>
          </a:xfrm>
          <a:prstGeom prst="line">
            <a:avLst/>
          </a:prstGeom>
          <a:noFill/>
          <a:ln w="22225">
            <a:solidFill>
              <a:schemeClr val="accent5"/>
            </a:solidFill>
            <a:prstDash val="solid"/>
            <a:tailEnd type="triangle"/>
          </a:ln>
        </p:spPr>
        <p:txBody>
          <a:bodyPr/>
          <a:lstStyle/>
          <a:p>
            <a:endParaRPr lang="en-US"/>
          </a:p>
        </p:txBody>
      </p:sp>
      <p:sp>
        <p:nvSpPr>
          <p:cNvPr id="8" name="controller"/>
          <p:cNvSpPr txBox="1"/>
          <p:nvPr/>
        </p:nvSpPr>
        <p:spPr>
          <a:xfrm>
            <a:off x="3246120" y="1600200"/>
            <a:ext cx="2651760" cy="1280160"/>
          </a:xfrm>
          <a:prstGeom prst="roundRect">
            <a:avLst>
              <a:gd name="adj" fmla="val 7143"/>
            </a:avLst>
          </a:prstGeom>
          <a:solidFill>
            <a:schemeClr val="accent1"/>
          </a:solidFill>
          <a:ln/>
        </p:spPr>
        <p:txBody>
          <a:bodyPr wrap="square" lIns="76200" tIns="76200" rIns="76200" bIns="76200" rtlCol="0" anchor="ctr"/>
          <a:lstStyle/>
          <a:p>
            <a:pPr marL="0" indent="0" algn="ctr">
              <a:buNone/>
            </a:pPr>
            <a:r>
              <a:rPr lang="en-US" sz="1800" b="1" dirty="0">
                <a:solidFill>
                  <a:schemeClr val="bg1"/>
                </a:solidFill>
              </a:rPr>
              <a:t>Controller</a:t>
            </a:r>
            <a:endParaRPr lang="en-US" sz="1300" dirty="0"/>
          </a:p>
          <a:p>
            <a:pPr marL="0" indent="0" algn="ctr">
              <a:buNone/>
            </a:pPr>
            <a:r>
              <a:rPr lang="en-US" sz="1300" dirty="0">
                <a:solidFill>
                  <a:schemeClr val="bg1"/>
                </a:solidFill>
              </a:rPr>
              <a:t>sees 2, wants 3</a:t>
            </a:r>
            <a:endParaRPr lang="en-US" sz="1300" dirty="0"/>
          </a:p>
          <a:p>
            <a:pPr marL="0" indent="0" algn="ctr">
              <a:buNone/>
            </a:pPr>
            <a:r>
              <a:rPr lang="en-US" sz="1300" dirty="0">
                <a:solidFill>
                  <a:schemeClr val="bg1"/>
                </a:solidFill>
              </a:rPr>
              <a:t>→ creates 1 pod</a:t>
            </a:r>
            <a:endParaRPr lang="en-US" sz="1300" dirty="0"/>
          </a:p>
        </p:txBody>
      </p:sp>
      <p:sp>
        <p:nvSpPr>
          <p:cNvPr id="9" name="Shape 6"/>
          <p:cNvSpPr/>
          <p:nvPr/>
        </p:nvSpPr>
        <p:spPr>
          <a:xfrm>
            <a:off x="5897880" y="2240280"/>
            <a:ext cx="411480" cy="0"/>
          </a:xfrm>
          <a:prstGeom prst="line">
            <a:avLst/>
          </a:prstGeom>
          <a:noFill/>
          <a:ln w="22225">
            <a:solidFill>
              <a:schemeClr val="accent5"/>
            </a:solidFill>
            <a:prstDash val="solid"/>
            <a:tailEnd type="triangle"/>
          </a:ln>
        </p:spPr>
        <p:txBody>
          <a:bodyPr/>
          <a:lstStyle/>
          <a:p>
            <a:endParaRPr lang="en-US"/>
          </a:p>
        </p:txBody>
      </p:sp>
      <p:sp>
        <p:nvSpPr>
          <p:cNvPr id="10" name="actual card"/>
          <p:cNvSpPr txBox="1"/>
          <p:nvPr/>
        </p:nvSpPr>
        <p:spPr>
          <a:xfrm>
            <a:off x="6309360" y="1280160"/>
            <a:ext cx="2377440" cy="2011680"/>
          </a:xfrm>
          <a:prstGeom prst="roundRect">
            <a:avLst>
              <a:gd name="adj" fmla="val 4545"/>
            </a:avLst>
          </a:prstGeom>
          <a:solidFill>
            <a:schemeClr val="bg2"/>
          </a:solidFill>
          <a:ln/>
        </p:spPr>
        <p:txBody>
          <a:bodyPr wrap="square" lIns="76200" tIns="76200" rIns="76200" bIns="76200" rtlCol="0" anchor="ctr"/>
          <a:lstStyle/>
          <a:p>
            <a:pPr marL="0" indent="0" algn="ctr">
              <a:buNone/>
            </a:pPr>
            <a:endParaRPr lang="en-US" sz="1300" dirty="0"/>
          </a:p>
        </p:txBody>
      </p:sp>
      <p:sp>
        <p:nvSpPr>
          <p:cNvPr id="11" name="Text 8"/>
          <p:cNvSpPr txBox="1"/>
          <p:nvPr/>
        </p:nvSpPr>
        <p:spPr>
          <a:xfrm>
            <a:off x="6537960" y="1371600"/>
            <a:ext cx="2011680" cy="594360"/>
          </a:xfrm>
          <a:prstGeom prst="rect">
            <a:avLst/>
          </a:prstGeom>
          <a:noFill/>
          <a:ln/>
        </p:spPr>
        <p:txBody>
          <a:bodyPr wrap="square" lIns="0" tIns="0" rIns="0" bIns="0" rtlCol="0" anchor="t"/>
          <a:lstStyle/>
          <a:p>
            <a:pPr marL="0" indent="0">
              <a:buNone/>
            </a:pPr>
            <a:r>
              <a:rPr lang="en-US" sz="1600" b="1" dirty="0">
                <a:solidFill>
                  <a:schemeClr val="tx1"/>
                </a:solidFill>
              </a:rPr>
              <a:t>Actual state</a:t>
            </a:r>
            <a:endParaRPr lang="en-US" sz="1400" dirty="0"/>
          </a:p>
          <a:p>
            <a:pPr marL="0" indent="0">
              <a:buNone/>
            </a:pPr>
            <a:r>
              <a:rPr lang="en-US" sz="1300" dirty="0">
                <a:solidFill>
                  <a:schemeClr val="accent5"/>
                </a:solidFill>
              </a:rPr>
              <a:t>what is running</a:t>
            </a:r>
            <a:endParaRPr lang="en-US" sz="1400" dirty="0"/>
          </a:p>
        </p:txBody>
      </p:sp>
      <p:sp>
        <p:nvSpPr>
          <p:cNvPr id="12" name="Text 9"/>
          <p:cNvSpPr txBox="1"/>
          <p:nvPr/>
        </p:nvSpPr>
        <p:spPr>
          <a:xfrm>
            <a:off x="6537960" y="2240280"/>
            <a:ext cx="594360" cy="594360"/>
          </a:xfrm>
          <a:prstGeom prst="roundRect">
            <a:avLst>
              <a:gd name="adj" fmla="val 15385"/>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3" name="Text 10"/>
          <p:cNvSpPr txBox="1"/>
          <p:nvPr/>
        </p:nvSpPr>
        <p:spPr>
          <a:xfrm>
            <a:off x="7223760" y="2240280"/>
            <a:ext cx="594360" cy="594360"/>
          </a:xfrm>
          <a:prstGeom prst="roundRect">
            <a:avLst>
              <a:gd name="adj" fmla="val 15385"/>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4" name="Text 11"/>
          <p:cNvSpPr txBox="1"/>
          <p:nvPr/>
        </p:nvSpPr>
        <p:spPr>
          <a:xfrm>
            <a:off x="7909560" y="2240280"/>
            <a:ext cx="594360" cy="594360"/>
          </a:xfrm>
          <a:prstGeom prst="roundRect">
            <a:avLst>
              <a:gd name="adj" fmla="val 15385"/>
            </a:avLst>
          </a:prstGeom>
          <a:ln w="15875">
            <a:solidFill>
              <a:schemeClr val="accent1"/>
            </a:solidFill>
            <a:prstDash val="dash"/>
          </a:ln>
        </p:spPr>
        <p:txBody>
          <a:bodyPr wrap="square" lIns="76200" tIns="76200" rIns="76200" bIns="76200" rtlCol="0" anchor="ctr"/>
          <a:lstStyle/>
          <a:p>
            <a:pPr marL="0" indent="0" algn="ctr">
              <a:buNone/>
            </a:pPr>
            <a:r>
              <a:rPr lang="en-US" sz="1100" b="1" dirty="0">
                <a:solidFill>
                  <a:schemeClr val="accent1"/>
                </a:solidFill>
              </a:rPr>
              <a:t>new</a:t>
            </a:r>
            <a:endParaRPr lang="en-US" sz="1100" dirty="0"/>
          </a:p>
        </p:txBody>
      </p:sp>
      <p:sp>
        <p:nvSpPr>
          <p:cNvPr id="15" name="takeaway"/>
          <p:cNvSpPr txBox="1"/>
          <p:nvPr/>
        </p:nvSpPr>
        <p:spPr>
          <a:xfrm>
            <a:off x="457200" y="3611880"/>
            <a:ext cx="8229600" cy="914400"/>
          </a:xfrm>
          <a:prstGeom prst="rect">
            <a:avLst/>
          </a:prstGeom>
          <a:noFill/>
          <a:ln/>
        </p:spPr>
        <p:txBody>
          <a:bodyPr wrap="square" lIns="0" tIns="0" rIns="0" bIns="0" rtlCol="0" anchor="ctr"/>
          <a:lstStyle/>
          <a:p>
            <a:pPr marL="0" indent="0">
              <a:buNone/>
            </a:pPr>
            <a:r>
              <a:rPr lang="en-US" sz="2000" dirty="0">
                <a:solidFill>
                  <a:schemeClr val="tx1"/>
                </a:solidFill>
              </a:rPr>
              <a:t>You never say </a:t>
            </a:r>
            <a:r>
              <a:rPr lang="en-US" sz="2000" b="1" dirty="0">
                <a:solidFill>
                  <a:schemeClr val="tx1"/>
                </a:solidFill>
              </a:rPr>
              <a:t>“start a container”.</a:t>
            </a:r>
            <a:endParaRPr lang="en-US" sz="2000" dirty="0"/>
          </a:p>
          <a:p>
            <a:pPr marL="0" indent="0">
              <a:buNone/>
            </a:pPr>
            <a:r>
              <a:rPr lang="en-US" sz="2000" dirty="0">
                <a:solidFill>
                  <a:schemeClr val="tx1"/>
                </a:solidFill>
              </a:rPr>
              <a:t>You say </a:t>
            </a:r>
            <a:r>
              <a:rPr lang="en-US" sz="2000" b="1" dirty="0">
                <a:solidFill>
                  <a:schemeClr val="accent1"/>
                </a:solidFill>
              </a:rPr>
              <a:t>“I want 3”</a:t>
            </a:r>
            <a:r>
              <a:rPr lang="en-US" sz="2000" dirty="0">
                <a:solidFill>
                  <a:schemeClr val="tx1"/>
                </a:solidFill>
              </a:rPr>
              <a:t>, and Kubernetes keeps it true.</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28575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Inside a cluster</a:t>
            </a:r>
            <a:endParaRPr lang="en-US" sz="3600" dirty="0"/>
          </a:p>
        </p:txBody>
      </p:sp>
      <p:sp>
        <p:nvSpPr>
          <p:cNvPr id="4" name="Text 1"/>
          <p:cNvSpPr txBox="1"/>
          <p:nvPr/>
        </p:nvSpPr>
        <p:spPr>
          <a:xfrm>
            <a:off x="457200" y="2606040"/>
            <a:ext cx="1005840" cy="502920"/>
          </a:xfrm>
          <a:prstGeom prst="roundRect">
            <a:avLst>
              <a:gd name="adj" fmla="val 18182"/>
            </a:avLst>
          </a:prstGeom>
          <a:solidFill>
            <a:schemeClr val="tx1"/>
          </a:solidFill>
          <a:ln/>
        </p:spPr>
        <p:txBody>
          <a:bodyPr wrap="square" lIns="76200" tIns="76200" rIns="76200" bIns="76200" rtlCol="0" anchor="ctr"/>
          <a:lstStyle/>
          <a:p>
            <a:pPr marL="0" indent="0" algn="ctr">
              <a:buNone/>
            </a:pPr>
            <a:r>
              <a:rPr lang="en-US" sz="1300" dirty="0">
                <a:solidFill>
                  <a:schemeClr val="bg1"/>
                </a:solidFill>
                <a:latin typeface="Courier New" pitchFamily="34" charset="0"/>
                <a:ea typeface="Courier New" pitchFamily="34" charset="-122"/>
                <a:cs typeface="Courier New" pitchFamily="34" charset="-120"/>
              </a:rPr>
              <a:t>kubectl</a:t>
            </a:r>
            <a:endParaRPr lang="en-US" sz="1300" dirty="0"/>
          </a:p>
        </p:txBody>
      </p:sp>
      <p:sp>
        <p:nvSpPr>
          <p:cNvPr id="5" name="Shape 2"/>
          <p:cNvSpPr/>
          <p:nvPr/>
        </p:nvSpPr>
        <p:spPr>
          <a:xfrm>
            <a:off x="1463040" y="2857500"/>
            <a:ext cx="320040" cy="0"/>
          </a:xfrm>
          <a:prstGeom prst="line">
            <a:avLst/>
          </a:prstGeom>
          <a:noFill/>
          <a:ln w="22225">
            <a:solidFill>
              <a:schemeClr val="accent5"/>
            </a:solidFill>
            <a:prstDash val="solid"/>
            <a:tailEnd type="triangle"/>
          </a:ln>
        </p:spPr>
        <p:txBody>
          <a:bodyPr/>
          <a:lstStyle/>
          <a:p>
            <a:endParaRPr lang="en-US"/>
          </a:p>
        </p:txBody>
      </p:sp>
      <p:sp>
        <p:nvSpPr>
          <p:cNvPr id="6" name="control plane"/>
          <p:cNvSpPr txBox="1"/>
          <p:nvPr/>
        </p:nvSpPr>
        <p:spPr>
          <a:xfrm>
            <a:off x="1783080" y="1188720"/>
            <a:ext cx="3246120" cy="3429000"/>
          </a:xfrm>
          <a:prstGeom prst="roundRect">
            <a:avLst>
              <a:gd name="adj" fmla="val 2817"/>
            </a:avLst>
          </a:prstGeom>
          <a:solidFill>
            <a:schemeClr val="bg2"/>
          </a:solidFill>
          <a:ln/>
        </p:spPr>
        <p:txBody>
          <a:bodyPr wrap="square" lIns="76200" tIns="76200" rIns="76200" bIns="76200" rtlCol="0" anchor="ctr"/>
          <a:lstStyle/>
          <a:p>
            <a:pPr marL="0" indent="0" algn="ctr">
              <a:buNone/>
            </a:pPr>
            <a:endParaRPr lang="en-US" sz="1300" dirty="0"/>
          </a:p>
        </p:txBody>
      </p:sp>
      <p:sp>
        <p:nvSpPr>
          <p:cNvPr id="7" name="Text 4"/>
          <p:cNvSpPr txBox="1"/>
          <p:nvPr/>
        </p:nvSpPr>
        <p:spPr>
          <a:xfrm>
            <a:off x="1943100" y="1335024"/>
            <a:ext cx="2926080" cy="320040"/>
          </a:xfrm>
          <a:prstGeom prst="rect">
            <a:avLst/>
          </a:prstGeom>
          <a:noFill/>
          <a:ln/>
        </p:spPr>
        <p:txBody>
          <a:bodyPr wrap="square" lIns="0" tIns="0" rIns="0" bIns="0" rtlCol="0" anchor="t"/>
          <a:lstStyle/>
          <a:p>
            <a:pPr marL="0" indent="0">
              <a:buNone/>
            </a:pPr>
            <a:r>
              <a:rPr lang="en-US" sz="1400" b="1" dirty="0">
                <a:solidFill>
                  <a:schemeClr val="tx1"/>
                </a:solidFill>
              </a:rPr>
              <a:t>Control plane · the brain</a:t>
            </a:r>
            <a:endParaRPr lang="en-US" sz="1400" dirty="0"/>
          </a:p>
        </p:txBody>
      </p:sp>
      <p:sp>
        <p:nvSpPr>
          <p:cNvPr id="8" name="kube-apiserver"/>
          <p:cNvSpPr txBox="1"/>
          <p:nvPr/>
        </p:nvSpPr>
        <p:spPr>
          <a:xfrm>
            <a:off x="1965960" y="1691640"/>
            <a:ext cx="2880360" cy="658368"/>
          </a:xfrm>
          <a:prstGeom prst="roundRect">
            <a:avLst>
              <a:gd name="adj" fmla="val 13889"/>
            </a:avLst>
          </a:prstGeom>
          <a:solidFill>
            <a:schemeClr val="bg1"/>
          </a:solidFill>
          <a:ln w="15875">
            <a:solidFill>
              <a:schemeClr val="accent1"/>
            </a:solidFill>
            <a:prstDash val="solid"/>
          </a:ln>
        </p:spPr>
        <p:txBody>
          <a:bodyPr wrap="square" lIns="101600" tIns="101600" rIns="101600" bIns="101600" rtlCol="0" anchor="ctr"/>
          <a:lstStyle/>
          <a:p>
            <a:pPr marL="0" indent="0" algn="l">
              <a:buNone/>
            </a:pPr>
            <a:r>
              <a:rPr lang="en-US" sz="1300" b="1" dirty="0">
                <a:solidFill>
                  <a:schemeClr val="tx1"/>
                </a:solidFill>
              </a:rPr>
              <a:t>kube-apiserver</a:t>
            </a:r>
            <a:endParaRPr lang="en-US" sz="1300" dirty="0"/>
          </a:p>
          <a:p>
            <a:pPr marL="0" indent="0" algn="l">
              <a:buNone/>
            </a:pPr>
            <a:r>
              <a:rPr lang="en-US" sz="1100" dirty="0">
                <a:solidFill>
                  <a:schemeClr val="accent5"/>
                </a:solidFill>
              </a:rPr>
              <a:t>front door: every request goes here</a:t>
            </a:r>
            <a:endParaRPr lang="en-US" sz="1300" dirty="0"/>
          </a:p>
        </p:txBody>
      </p:sp>
      <p:sp>
        <p:nvSpPr>
          <p:cNvPr id="9" name="etcd"/>
          <p:cNvSpPr txBox="1"/>
          <p:nvPr/>
        </p:nvSpPr>
        <p:spPr>
          <a:xfrm>
            <a:off x="1965960" y="2423160"/>
            <a:ext cx="2880360" cy="658368"/>
          </a:xfrm>
          <a:prstGeom prst="roundRect">
            <a:avLst>
              <a:gd name="adj" fmla="val 13889"/>
            </a:avLst>
          </a:prstGeom>
          <a:solidFill>
            <a:schemeClr val="bg1"/>
          </a:solidFill>
          <a:ln w="15875">
            <a:solidFill>
              <a:schemeClr val="accent1"/>
            </a:solidFill>
            <a:prstDash val="solid"/>
          </a:ln>
        </p:spPr>
        <p:txBody>
          <a:bodyPr wrap="square" lIns="101600" tIns="101600" rIns="101600" bIns="101600" rtlCol="0" anchor="ctr"/>
          <a:lstStyle/>
          <a:p>
            <a:pPr marL="0" indent="0" algn="l">
              <a:buNone/>
            </a:pPr>
            <a:r>
              <a:rPr lang="en-US" sz="1300" b="1" dirty="0">
                <a:solidFill>
                  <a:schemeClr val="tx1"/>
                </a:solidFill>
              </a:rPr>
              <a:t>etcd</a:t>
            </a:r>
            <a:endParaRPr lang="en-US" sz="1300" dirty="0"/>
          </a:p>
          <a:p>
            <a:pPr marL="0" indent="0" algn="l">
              <a:buNone/>
            </a:pPr>
            <a:r>
              <a:rPr lang="en-US" sz="1100" dirty="0">
                <a:solidFill>
                  <a:schemeClr val="accent5"/>
                </a:solidFill>
              </a:rPr>
              <a:t>database of all cluster state</a:t>
            </a:r>
            <a:endParaRPr lang="en-US" sz="1300" dirty="0"/>
          </a:p>
        </p:txBody>
      </p:sp>
      <p:sp>
        <p:nvSpPr>
          <p:cNvPr id="10" name="scheduler"/>
          <p:cNvSpPr txBox="1"/>
          <p:nvPr/>
        </p:nvSpPr>
        <p:spPr>
          <a:xfrm>
            <a:off x="1965960" y="3154680"/>
            <a:ext cx="2880360" cy="658368"/>
          </a:xfrm>
          <a:prstGeom prst="roundRect">
            <a:avLst>
              <a:gd name="adj" fmla="val 13889"/>
            </a:avLst>
          </a:prstGeom>
          <a:solidFill>
            <a:schemeClr val="bg1"/>
          </a:solidFill>
          <a:ln w="15875">
            <a:solidFill>
              <a:schemeClr val="accent1"/>
            </a:solidFill>
            <a:prstDash val="solid"/>
          </a:ln>
        </p:spPr>
        <p:txBody>
          <a:bodyPr wrap="square" lIns="101600" tIns="101600" rIns="101600" bIns="101600" rtlCol="0" anchor="ctr"/>
          <a:lstStyle/>
          <a:p>
            <a:pPr marL="0" indent="0" algn="l">
              <a:buNone/>
            </a:pPr>
            <a:r>
              <a:rPr lang="en-US" sz="1300" b="1" dirty="0">
                <a:solidFill>
                  <a:schemeClr val="tx1"/>
                </a:solidFill>
              </a:rPr>
              <a:t>scheduler</a:t>
            </a:r>
            <a:endParaRPr lang="en-US" sz="1300" dirty="0"/>
          </a:p>
          <a:p>
            <a:pPr marL="0" indent="0" algn="l">
              <a:buNone/>
            </a:pPr>
            <a:r>
              <a:rPr lang="en-US" sz="1100" dirty="0">
                <a:solidFill>
                  <a:schemeClr val="accent5"/>
                </a:solidFill>
              </a:rPr>
              <a:t>picks a node for each new pod</a:t>
            </a:r>
            <a:endParaRPr lang="en-US" sz="1300" dirty="0"/>
          </a:p>
        </p:txBody>
      </p:sp>
      <p:sp>
        <p:nvSpPr>
          <p:cNvPr id="11" name="controller-manager"/>
          <p:cNvSpPr txBox="1"/>
          <p:nvPr/>
        </p:nvSpPr>
        <p:spPr>
          <a:xfrm>
            <a:off x="1965960" y="3886200"/>
            <a:ext cx="2880360" cy="658368"/>
          </a:xfrm>
          <a:prstGeom prst="roundRect">
            <a:avLst>
              <a:gd name="adj" fmla="val 13889"/>
            </a:avLst>
          </a:prstGeom>
          <a:solidFill>
            <a:schemeClr val="bg1"/>
          </a:solidFill>
          <a:ln w="15875">
            <a:solidFill>
              <a:schemeClr val="accent1"/>
            </a:solidFill>
            <a:prstDash val="solid"/>
          </a:ln>
        </p:spPr>
        <p:txBody>
          <a:bodyPr wrap="square" lIns="101600" tIns="101600" rIns="101600" bIns="101600" rtlCol="0" anchor="ctr"/>
          <a:lstStyle/>
          <a:p>
            <a:pPr marL="0" indent="0" algn="l">
              <a:buNone/>
            </a:pPr>
            <a:r>
              <a:rPr lang="en-US" sz="1300" b="1" dirty="0">
                <a:solidFill>
                  <a:schemeClr val="tx1"/>
                </a:solidFill>
              </a:rPr>
              <a:t>controller-manager</a:t>
            </a:r>
            <a:endParaRPr lang="en-US" sz="1300" dirty="0"/>
          </a:p>
          <a:p>
            <a:pPr marL="0" indent="0" algn="l">
              <a:buNone/>
            </a:pPr>
            <a:r>
              <a:rPr lang="en-US" sz="1100" dirty="0">
                <a:solidFill>
                  <a:schemeClr val="accent5"/>
                </a:solidFill>
              </a:rPr>
              <a:t>loops that fix any drift</a:t>
            </a:r>
            <a:endParaRPr lang="en-US" sz="1300" dirty="0"/>
          </a:p>
        </p:txBody>
      </p:sp>
      <p:sp>
        <p:nvSpPr>
          <p:cNvPr id="12" name="Shape 9"/>
          <p:cNvSpPr/>
          <p:nvPr/>
        </p:nvSpPr>
        <p:spPr>
          <a:xfrm>
            <a:off x="5029200" y="2011680"/>
            <a:ext cx="365760" cy="0"/>
          </a:xfrm>
          <a:prstGeom prst="line">
            <a:avLst/>
          </a:prstGeom>
          <a:noFill/>
          <a:ln w="22225">
            <a:solidFill>
              <a:schemeClr val="accent5"/>
            </a:solidFill>
            <a:prstDash val="solid"/>
            <a:tailEnd type="triangle"/>
          </a:ln>
        </p:spPr>
        <p:txBody>
          <a:bodyPr/>
          <a:lstStyle/>
          <a:p>
            <a:endParaRPr lang="en-US"/>
          </a:p>
        </p:txBody>
      </p:sp>
      <p:sp>
        <p:nvSpPr>
          <p:cNvPr id="13" name="worker node 1"/>
          <p:cNvSpPr txBox="1"/>
          <p:nvPr/>
        </p:nvSpPr>
        <p:spPr>
          <a:xfrm>
            <a:off x="5394960" y="1188720"/>
            <a:ext cx="3291840" cy="1600200"/>
          </a:xfrm>
          <a:prstGeom prst="roundRect">
            <a:avLst>
              <a:gd name="adj" fmla="val 5714"/>
            </a:avLst>
          </a:prstGeom>
          <a:solidFill>
            <a:schemeClr val="bg2"/>
          </a:solidFill>
          <a:ln/>
        </p:spPr>
        <p:txBody>
          <a:bodyPr wrap="square" lIns="76200" tIns="76200" rIns="76200" bIns="76200" rtlCol="0" anchor="ctr"/>
          <a:lstStyle/>
          <a:p>
            <a:pPr marL="0" indent="0" algn="ctr">
              <a:buNone/>
            </a:pPr>
            <a:endParaRPr lang="en-US" sz="1300" dirty="0"/>
          </a:p>
        </p:txBody>
      </p:sp>
      <p:sp>
        <p:nvSpPr>
          <p:cNvPr id="14" name="Text 11"/>
          <p:cNvSpPr txBox="1"/>
          <p:nvPr/>
        </p:nvSpPr>
        <p:spPr>
          <a:xfrm>
            <a:off x="5577840" y="1298448"/>
            <a:ext cx="3017520" cy="274320"/>
          </a:xfrm>
          <a:prstGeom prst="rect">
            <a:avLst/>
          </a:prstGeom>
          <a:noFill/>
          <a:ln/>
        </p:spPr>
        <p:txBody>
          <a:bodyPr wrap="square" lIns="0" tIns="0" rIns="0" bIns="0" rtlCol="0" anchor="t"/>
          <a:lstStyle/>
          <a:p>
            <a:pPr marL="0" indent="0">
              <a:buNone/>
            </a:pPr>
            <a:r>
              <a:rPr lang="en-US" sz="1300" b="1" dirty="0">
                <a:solidFill>
                  <a:schemeClr val="tx1"/>
                </a:solidFill>
              </a:rPr>
              <a:t>Worker node 1 · the muscle</a:t>
            </a:r>
            <a:endParaRPr lang="en-US" sz="1300" dirty="0"/>
          </a:p>
        </p:txBody>
      </p:sp>
      <p:sp>
        <p:nvSpPr>
          <p:cNvPr id="15" name="Text 12"/>
          <p:cNvSpPr txBox="1"/>
          <p:nvPr/>
        </p:nvSpPr>
        <p:spPr>
          <a:xfrm>
            <a:off x="5577840" y="16642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kubelet</a:t>
            </a:r>
            <a:endParaRPr lang="en-US" sz="1100" dirty="0"/>
          </a:p>
        </p:txBody>
      </p:sp>
      <p:sp>
        <p:nvSpPr>
          <p:cNvPr id="16" name="Text 13"/>
          <p:cNvSpPr txBox="1"/>
          <p:nvPr/>
        </p:nvSpPr>
        <p:spPr>
          <a:xfrm>
            <a:off x="6583680" y="16642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kube-proxy</a:t>
            </a:r>
            <a:endParaRPr lang="en-US" sz="1100" dirty="0"/>
          </a:p>
        </p:txBody>
      </p:sp>
      <p:sp>
        <p:nvSpPr>
          <p:cNvPr id="17" name="Text 14"/>
          <p:cNvSpPr txBox="1"/>
          <p:nvPr/>
        </p:nvSpPr>
        <p:spPr>
          <a:xfrm>
            <a:off x="7589520" y="16642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18" name="Text 15"/>
          <p:cNvSpPr txBox="1"/>
          <p:nvPr/>
        </p:nvSpPr>
        <p:spPr>
          <a:xfrm>
            <a:off x="5577840" y="21488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19" name="Text 16"/>
          <p:cNvSpPr txBox="1"/>
          <p:nvPr/>
        </p:nvSpPr>
        <p:spPr>
          <a:xfrm>
            <a:off x="6583680" y="21488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20" name="Text 17"/>
          <p:cNvSpPr txBox="1"/>
          <p:nvPr/>
        </p:nvSpPr>
        <p:spPr>
          <a:xfrm>
            <a:off x="7589520" y="21488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21" name="Shape 18"/>
          <p:cNvSpPr/>
          <p:nvPr/>
        </p:nvSpPr>
        <p:spPr>
          <a:xfrm>
            <a:off x="5029200" y="3840480"/>
            <a:ext cx="365760" cy="0"/>
          </a:xfrm>
          <a:prstGeom prst="line">
            <a:avLst/>
          </a:prstGeom>
          <a:noFill/>
          <a:ln w="22225">
            <a:solidFill>
              <a:schemeClr val="accent5"/>
            </a:solidFill>
            <a:prstDash val="solid"/>
            <a:tailEnd type="triangle"/>
          </a:ln>
        </p:spPr>
        <p:txBody>
          <a:bodyPr/>
          <a:lstStyle/>
          <a:p>
            <a:endParaRPr lang="en-US"/>
          </a:p>
        </p:txBody>
      </p:sp>
      <p:sp>
        <p:nvSpPr>
          <p:cNvPr id="22" name="worker node 2"/>
          <p:cNvSpPr txBox="1"/>
          <p:nvPr/>
        </p:nvSpPr>
        <p:spPr>
          <a:xfrm>
            <a:off x="5394960" y="3017520"/>
            <a:ext cx="3291840" cy="1600200"/>
          </a:xfrm>
          <a:prstGeom prst="roundRect">
            <a:avLst>
              <a:gd name="adj" fmla="val 5714"/>
            </a:avLst>
          </a:prstGeom>
          <a:solidFill>
            <a:schemeClr val="bg2"/>
          </a:solidFill>
          <a:ln/>
        </p:spPr>
        <p:txBody>
          <a:bodyPr wrap="square" lIns="76200" tIns="76200" rIns="76200" bIns="76200" rtlCol="0" anchor="ctr"/>
          <a:lstStyle/>
          <a:p>
            <a:pPr marL="0" indent="0" algn="ctr">
              <a:buNone/>
            </a:pPr>
            <a:endParaRPr lang="en-US" sz="1300" dirty="0"/>
          </a:p>
        </p:txBody>
      </p:sp>
      <p:sp>
        <p:nvSpPr>
          <p:cNvPr id="23" name="Text 20"/>
          <p:cNvSpPr txBox="1"/>
          <p:nvPr/>
        </p:nvSpPr>
        <p:spPr>
          <a:xfrm>
            <a:off x="5577840" y="3127248"/>
            <a:ext cx="3017520" cy="274320"/>
          </a:xfrm>
          <a:prstGeom prst="rect">
            <a:avLst/>
          </a:prstGeom>
          <a:noFill/>
          <a:ln/>
        </p:spPr>
        <p:txBody>
          <a:bodyPr wrap="square" lIns="0" tIns="0" rIns="0" bIns="0" rtlCol="0" anchor="t"/>
          <a:lstStyle/>
          <a:p>
            <a:pPr marL="0" indent="0">
              <a:buNone/>
            </a:pPr>
            <a:r>
              <a:rPr lang="en-US" sz="1300" b="1" dirty="0">
                <a:solidFill>
                  <a:schemeClr val="tx1"/>
                </a:solidFill>
              </a:rPr>
              <a:t>Worker node 2 · the muscle</a:t>
            </a:r>
            <a:endParaRPr lang="en-US" sz="1300" dirty="0"/>
          </a:p>
        </p:txBody>
      </p:sp>
      <p:sp>
        <p:nvSpPr>
          <p:cNvPr id="24" name="Text 21"/>
          <p:cNvSpPr txBox="1"/>
          <p:nvPr/>
        </p:nvSpPr>
        <p:spPr>
          <a:xfrm>
            <a:off x="5577840" y="34930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kubelet</a:t>
            </a:r>
            <a:endParaRPr lang="en-US" sz="1100" dirty="0"/>
          </a:p>
        </p:txBody>
      </p:sp>
      <p:sp>
        <p:nvSpPr>
          <p:cNvPr id="25" name="Text 22"/>
          <p:cNvSpPr txBox="1"/>
          <p:nvPr/>
        </p:nvSpPr>
        <p:spPr>
          <a:xfrm>
            <a:off x="6583680" y="34930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kube-proxy</a:t>
            </a:r>
            <a:endParaRPr lang="en-US" sz="1100" dirty="0"/>
          </a:p>
        </p:txBody>
      </p:sp>
      <p:sp>
        <p:nvSpPr>
          <p:cNvPr id="26" name="Text 23"/>
          <p:cNvSpPr txBox="1"/>
          <p:nvPr/>
        </p:nvSpPr>
        <p:spPr>
          <a:xfrm>
            <a:off x="7589520" y="3493008"/>
            <a:ext cx="932688" cy="347472"/>
          </a:xfrm>
          <a:prstGeom prst="roundRect">
            <a:avLst>
              <a:gd name="adj" fmla="val 26316"/>
            </a:avLst>
          </a:prstGeom>
          <a:solidFill>
            <a:schemeClr val="bg1"/>
          </a:solidFill>
          <a:ln w="15875">
            <a:solidFill>
              <a:schemeClr val="accent5"/>
            </a:solidFill>
            <a:prstDash val="solid"/>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27" name="Text 24"/>
          <p:cNvSpPr txBox="1"/>
          <p:nvPr/>
        </p:nvSpPr>
        <p:spPr>
          <a:xfrm>
            <a:off x="5577840" y="39776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28" name="Text 25"/>
          <p:cNvSpPr txBox="1"/>
          <p:nvPr/>
        </p:nvSpPr>
        <p:spPr>
          <a:xfrm>
            <a:off x="6583680" y="39776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29" name="Text 26"/>
          <p:cNvSpPr txBox="1"/>
          <p:nvPr/>
        </p:nvSpPr>
        <p:spPr>
          <a:xfrm>
            <a:off x="7589520" y="3977640"/>
            <a:ext cx="932688" cy="457200"/>
          </a:xfrm>
          <a:prstGeom prst="roundRect">
            <a:avLst>
              <a:gd name="adj" fmla="val 20000"/>
            </a:avLst>
          </a:prstGeom>
          <a:solidFill>
            <a:schemeClr val="accent1"/>
          </a:solidFill>
          <a:ln/>
        </p:spPr>
        <p:txBody>
          <a:bodyPr wrap="square" lIns="76200" tIns="76200" rIns="76200" bIns="76200" rtlCol="0" anchor="ctr"/>
          <a:lstStyle/>
          <a:p>
            <a:pPr marL="0" indent="0" algn="ctr">
              <a:buNone/>
            </a:pPr>
            <a:r>
              <a:rPr lang="en-US" sz="1100" b="1" dirty="0">
                <a:solidFill>
                  <a:schemeClr val="bg1"/>
                </a:solidFill>
              </a:rPr>
              <a:t>pod</a:t>
            </a:r>
            <a:endParaRPr lang="en-US" sz="11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Our lab: “kind” cluster</a:t>
            </a:r>
            <a:endParaRPr lang="en-US" sz="3600" dirty="0"/>
          </a:p>
        </p:txBody>
      </p:sp>
      <p:sp>
        <p:nvSpPr>
          <p:cNvPr id="4" name="laptop"/>
          <p:cNvSpPr txBox="1"/>
          <p:nvPr/>
        </p:nvSpPr>
        <p:spPr>
          <a:xfrm>
            <a:off x="457200" y="1188720"/>
            <a:ext cx="4572000" cy="3429000"/>
          </a:xfrm>
          <a:prstGeom prst="roundRect">
            <a:avLst>
              <a:gd name="adj" fmla="val 2667"/>
            </a:avLst>
          </a:prstGeom>
          <a:ln w="15875">
            <a:solidFill>
              <a:schemeClr val="accent5"/>
            </a:solidFill>
            <a:prstDash val="solid"/>
          </a:ln>
        </p:spPr>
        <p:txBody>
          <a:bodyPr wrap="square" lIns="76200" tIns="76200" rIns="76200" bIns="76200" rtlCol="0" anchor="ctr"/>
          <a:lstStyle/>
          <a:p>
            <a:pPr marL="0" indent="0" algn="ctr">
              <a:buNone/>
            </a:pPr>
            <a:endParaRPr lang="en-US" sz="1300" dirty="0"/>
          </a:p>
        </p:txBody>
      </p:sp>
      <p:sp>
        <p:nvSpPr>
          <p:cNvPr id="5" name="Text 2"/>
          <p:cNvSpPr txBox="1"/>
          <p:nvPr/>
        </p:nvSpPr>
        <p:spPr>
          <a:xfrm>
            <a:off x="640080" y="1280160"/>
            <a:ext cx="2743200" cy="274320"/>
          </a:xfrm>
          <a:prstGeom prst="rect">
            <a:avLst/>
          </a:prstGeom>
          <a:noFill/>
          <a:ln/>
        </p:spPr>
        <p:txBody>
          <a:bodyPr wrap="square" lIns="0" tIns="0" rIns="0" bIns="0" rtlCol="0" anchor="t"/>
          <a:lstStyle/>
          <a:p>
            <a:pPr marL="0" indent="0">
              <a:buNone/>
            </a:pPr>
            <a:r>
              <a:rPr lang="en-US" sz="1300" b="1" dirty="0">
                <a:solidFill>
                  <a:schemeClr val="accent5"/>
                </a:solidFill>
              </a:rPr>
              <a:t>Your laptop</a:t>
            </a:r>
            <a:endParaRPr lang="en-US" sz="1300" dirty="0"/>
          </a:p>
        </p:txBody>
      </p:sp>
      <p:sp>
        <p:nvSpPr>
          <p:cNvPr id="6" name="docker"/>
          <p:cNvSpPr txBox="1"/>
          <p:nvPr/>
        </p:nvSpPr>
        <p:spPr>
          <a:xfrm>
            <a:off x="685800" y="1691640"/>
            <a:ext cx="4114800" cy="2743200"/>
          </a:xfrm>
          <a:prstGeom prst="roundRect">
            <a:avLst>
              <a:gd name="adj" fmla="val 3333"/>
            </a:avLst>
          </a:prstGeom>
          <a:solidFill>
            <a:schemeClr val="bg2"/>
          </a:solidFill>
          <a:ln/>
        </p:spPr>
        <p:txBody>
          <a:bodyPr wrap="square" lIns="76200" tIns="76200" rIns="76200" bIns="76200" rtlCol="0" anchor="ctr"/>
          <a:lstStyle/>
          <a:p>
            <a:pPr marL="0" indent="0" algn="ctr">
              <a:buNone/>
            </a:pPr>
            <a:endParaRPr lang="en-US" sz="1300" dirty="0"/>
          </a:p>
        </p:txBody>
      </p:sp>
      <p:sp>
        <p:nvSpPr>
          <p:cNvPr id="7" name="Text 4"/>
          <p:cNvSpPr txBox="1"/>
          <p:nvPr/>
        </p:nvSpPr>
        <p:spPr>
          <a:xfrm>
            <a:off x="868680" y="1783080"/>
            <a:ext cx="2743200" cy="274320"/>
          </a:xfrm>
          <a:prstGeom prst="rect">
            <a:avLst/>
          </a:prstGeom>
          <a:noFill/>
          <a:ln/>
        </p:spPr>
        <p:txBody>
          <a:bodyPr wrap="square" lIns="0" tIns="0" rIns="0" bIns="0" rtlCol="0" anchor="t"/>
          <a:lstStyle/>
          <a:p>
            <a:pPr marL="0" indent="0">
              <a:buNone/>
            </a:pPr>
            <a:r>
              <a:rPr lang="en-US" sz="1300" b="1" dirty="0">
                <a:solidFill>
                  <a:schemeClr val="accent1"/>
                </a:solidFill>
              </a:rPr>
              <a:t>Docker</a:t>
            </a:r>
            <a:endParaRPr lang="en-US" sz="1300" dirty="0"/>
          </a:p>
        </p:txBody>
      </p:sp>
      <p:sp>
        <p:nvSpPr>
          <p:cNvPr id="8" name="Text 5"/>
          <p:cNvSpPr txBox="1"/>
          <p:nvPr/>
        </p:nvSpPr>
        <p:spPr>
          <a:xfrm>
            <a:off x="868680" y="2148840"/>
            <a:ext cx="3749040" cy="512064"/>
          </a:xfrm>
          <a:prstGeom prst="roundRect">
            <a:avLst>
              <a:gd name="adj" fmla="val 17857"/>
            </a:avLst>
          </a:prstGeom>
          <a:solidFill>
            <a:schemeClr val="tx2"/>
          </a:solidFill>
          <a:ln/>
        </p:spPr>
        <p:txBody>
          <a:bodyPr wrap="square" lIns="127000" tIns="127000" rIns="127000" bIns="127000" rtlCol="0" anchor="ctr"/>
          <a:lstStyle/>
          <a:p>
            <a:pPr marL="0" indent="0" algn="l">
              <a:buNone/>
            </a:pPr>
            <a:r>
              <a:rPr lang="en-US" sz="1300" dirty="0">
                <a:solidFill>
                  <a:schemeClr val="bg1"/>
                </a:solidFill>
                <a:latin typeface="Courier New" pitchFamily="34" charset="0"/>
                <a:ea typeface="Courier New" pitchFamily="34" charset="-122"/>
                <a:cs typeface="Courier New" pitchFamily="34" charset="-120"/>
              </a:rPr>
              <a:t>k8s-demo-control-plane</a:t>
            </a:r>
            <a:endParaRPr lang="en-US" sz="1300" dirty="0"/>
          </a:p>
        </p:txBody>
      </p:sp>
      <p:sp>
        <p:nvSpPr>
          <p:cNvPr id="9" name="Text 6"/>
          <p:cNvSpPr txBox="1"/>
          <p:nvPr/>
        </p:nvSpPr>
        <p:spPr>
          <a:xfrm>
            <a:off x="868680" y="2770632"/>
            <a:ext cx="3749040" cy="512064"/>
          </a:xfrm>
          <a:prstGeom prst="roundRect">
            <a:avLst>
              <a:gd name="adj" fmla="val 17857"/>
            </a:avLst>
          </a:prstGeom>
          <a:solidFill>
            <a:schemeClr val="tx2"/>
          </a:solidFill>
          <a:ln/>
        </p:spPr>
        <p:txBody>
          <a:bodyPr wrap="square" lIns="127000" tIns="127000" rIns="127000" bIns="127000" rtlCol="0" anchor="ctr"/>
          <a:lstStyle/>
          <a:p>
            <a:pPr marL="0" indent="0" algn="l">
              <a:buNone/>
            </a:pPr>
            <a:r>
              <a:rPr lang="en-US" sz="1300" dirty="0">
                <a:solidFill>
                  <a:schemeClr val="bg1"/>
                </a:solidFill>
                <a:latin typeface="Courier New" pitchFamily="34" charset="0"/>
                <a:ea typeface="Courier New" pitchFamily="34" charset="-122"/>
                <a:cs typeface="Courier New" pitchFamily="34" charset="-120"/>
              </a:rPr>
              <a:t>k8s-demo-worker</a:t>
            </a:r>
            <a:endParaRPr lang="en-US" sz="1300" dirty="0"/>
          </a:p>
        </p:txBody>
      </p:sp>
      <p:sp>
        <p:nvSpPr>
          <p:cNvPr id="10" name="Text 7"/>
          <p:cNvSpPr txBox="1"/>
          <p:nvPr/>
        </p:nvSpPr>
        <p:spPr>
          <a:xfrm>
            <a:off x="868680" y="3392424"/>
            <a:ext cx="3749040" cy="512064"/>
          </a:xfrm>
          <a:prstGeom prst="roundRect">
            <a:avLst>
              <a:gd name="adj" fmla="val 17857"/>
            </a:avLst>
          </a:prstGeom>
          <a:solidFill>
            <a:schemeClr val="tx2"/>
          </a:solidFill>
          <a:ln/>
        </p:spPr>
        <p:txBody>
          <a:bodyPr wrap="square" lIns="127000" tIns="127000" rIns="127000" bIns="127000" rtlCol="0" anchor="ctr"/>
          <a:lstStyle/>
          <a:p>
            <a:pPr marL="0" indent="0" algn="l">
              <a:buNone/>
            </a:pPr>
            <a:r>
              <a:rPr lang="en-US" sz="1300" dirty="0">
                <a:solidFill>
                  <a:schemeClr val="bg1"/>
                </a:solidFill>
                <a:latin typeface="Courier New" pitchFamily="34" charset="0"/>
                <a:ea typeface="Courier New" pitchFamily="34" charset="-122"/>
                <a:cs typeface="Courier New" pitchFamily="34" charset="-120"/>
              </a:rPr>
              <a:t>k8s-demo-worker2</a:t>
            </a:r>
            <a:endParaRPr lang="en-US" sz="1300" dirty="0"/>
          </a:p>
        </p:txBody>
      </p:sp>
      <p:sp>
        <p:nvSpPr>
          <p:cNvPr id="11" name="Text 8"/>
          <p:cNvSpPr txBox="1"/>
          <p:nvPr/>
        </p:nvSpPr>
        <p:spPr>
          <a:xfrm>
            <a:off x="868680" y="4023360"/>
            <a:ext cx="3749040" cy="274320"/>
          </a:xfrm>
          <a:prstGeom prst="rect">
            <a:avLst/>
          </a:prstGeom>
          <a:noFill/>
          <a:ln/>
        </p:spPr>
        <p:txBody>
          <a:bodyPr wrap="square" lIns="0" tIns="0" rIns="0" bIns="0" rtlCol="0" anchor="t"/>
          <a:lstStyle/>
          <a:p>
            <a:pPr marL="0" indent="0">
              <a:buNone/>
            </a:pPr>
            <a:r>
              <a:rPr lang="en-US" sz="1200" i="1" dirty="0">
                <a:solidFill>
                  <a:schemeClr val="accent5"/>
                </a:solidFill>
              </a:rPr>
              <a:t>each container = one Kubernetes node</a:t>
            </a:r>
            <a:endParaRPr lang="en-US" sz="1200" dirty="0"/>
          </a:p>
        </p:txBody>
      </p:sp>
      <p:sp>
        <p:nvSpPr>
          <p:cNvPr id="12" name="Text 9"/>
          <p:cNvSpPr txBox="1"/>
          <p:nvPr/>
        </p:nvSpPr>
        <p:spPr>
          <a:xfrm>
            <a:off x="5394960" y="1188720"/>
            <a:ext cx="3291840" cy="411480"/>
          </a:xfrm>
          <a:prstGeom prst="rect">
            <a:avLst/>
          </a:prstGeom>
          <a:noFill/>
          <a:ln/>
        </p:spPr>
        <p:txBody>
          <a:bodyPr wrap="square" lIns="0" tIns="0" rIns="0" bIns="0" rtlCol="0" anchor="t"/>
          <a:lstStyle/>
          <a:p>
            <a:pPr marL="0" indent="0">
              <a:buNone/>
            </a:pPr>
            <a:r>
              <a:rPr lang="en-US" sz="1800" b="1" dirty="0">
                <a:solidFill>
                  <a:schemeClr val="tx1"/>
                </a:solidFill>
              </a:rPr>
              <a:t>kind = Kubernetes IN Docker</a:t>
            </a:r>
            <a:endParaRPr lang="en-US" sz="1800" dirty="0"/>
          </a:p>
        </p:txBody>
      </p:sp>
      <p:sp>
        <p:nvSpPr>
          <p:cNvPr id="13" name="kind bullets"/>
          <p:cNvSpPr txBox="1"/>
          <p:nvPr/>
        </p:nvSpPr>
        <p:spPr>
          <a:xfrm>
            <a:off x="5394960" y="1737360"/>
            <a:ext cx="32918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Real Kubernetes, not a simulator</a:t>
            </a:r>
            <a:endParaRPr lang="en-US" sz="1500" dirty="0"/>
          </a:p>
          <a:p>
            <a:pPr marL="342900" indent="-342900">
              <a:spcAft>
                <a:spcPts val="800"/>
              </a:spcAft>
              <a:buSzPct val="100000"/>
              <a:buChar char="•"/>
            </a:pPr>
            <a:r>
              <a:rPr lang="en-US" sz="1500" dirty="0">
                <a:solidFill>
                  <a:schemeClr val="tx1"/>
                </a:solidFill>
              </a:rPr>
              <a:t>Cluster ready in about a minute</a:t>
            </a:r>
            <a:endParaRPr lang="en-US" sz="1500" dirty="0"/>
          </a:p>
          <a:p>
            <a:pPr marL="342900" indent="-342900">
              <a:spcAft>
                <a:spcPts val="800"/>
              </a:spcAft>
              <a:buSzPct val="100000"/>
              <a:buChar char="•"/>
            </a:pPr>
            <a:r>
              <a:rPr lang="en-US" sz="1500" dirty="0">
                <a:solidFill>
                  <a:schemeClr val="tx1"/>
                </a:solidFill>
              </a:rPr>
              <a:t>Throwaway: delete and recreate anytime</a:t>
            </a:r>
            <a:endParaRPr lang="en-US" sz="1500" dirty="0"/>
          </a:p>
        </p:txBody>
      </p:sp>
      <p:sp>
        <p:nvSpPr>
          <p:cNvPr id="14" name="setup code"/>
          <p:cNvSpPr txBox="1"/>
          <p:nvPr/>
        </p:nvSpPr>
        <p:spPr>
          <a:xfrm>
            <a:off x="5394960" y="3611880"/>
            <a:ext cx="3291840" cy="868680"/>
          </a:xfrm>
          <a:prstGeom prst="roundRect">
            <a:avLst>
              <a:gd name="adj" fmla="val 8421"/>
            </a:avLst>
          </a:prstGeom>
          <a:solidFill>
            <a:schemeClr val="tx1"/>
          </a:solidFill>
          <a:ln/>
        </p:spPr>
        <p:txBody>
          <a:bodyPr wrap="square" lIns="127000" tIns="127000" rIns="127000" bIns="127000" rtlCol="0" anchor="ctr"/>
          <a:lstStyle/>
          <a:p>
            <a:pPr marL="0" indent="0" algn="l">
              <a:buNone/>
            </a:pPr>
            <a:r>
              <a:rPr lang="en-US" sz="1300" dirty="0">
                <a:solidFill>
                  <a:schemeClr val="accent5"/>
                </a:solidFill>
                <a:latin typeface="Courier New" pitchFamily="34" charset="0"/>
                <a:ea typeface="Courier New" pitchFamily="34" charset="-122"/>
                <a:cs typeface="Courier New" pitchFamily="34" charset="-120"/>
              </a:rPr>
              <a:t>$ </a:t>
            </a:r>
            <a:r>
              <a:rPr lang="en-US" sz="1300" dirty="0">
                <a:solidFill>
                  <a:schemeClr val="bg1"/>
                </a:solidFill>
                <a:latin typeface="Courier New" pitchFamily="34" charset="0"/>
                <a:ea typeface="Courier New" pitchFamily="34" charset="-122"/>
                <a:cs typeface="Courier New" pitchFamily="34" charset="-120"/>
              </a:rPr>
              <a:t>./setup.sh</a:t>
            </a:r>
            <a:endParaRPr lang="en-US" sz="1300" dirty="0"/>
          </a:p>
          <a:p>
            <a:pPr marL="0" indent="0" algn="l">
              <a:buNone/>
            </a:pPr>
            <a:r>
              <a:rPr lang="en-US" sz="1300" dirty="0">
                <a:solidFill>
                  <a:schemeClr val="accent5"/>
                </a:solidFill>
                <a:latin typeface="Courier New" pitchFamily="34" charset="0"/>
                <a:ea typeface="Courier New" pitchFamily="34" charset="-122"/>
                <a:cs typeface="Courier New" pitchFamily="34" charset="-120"/>
              </a:rPr>
              <a:t>$ </a:t>
            </a:r>
            <a:r>
              <a:rPr lang="en-US" sz="1300" dirty="0">
                <a:solidFill>
                  <a:schemeClr val="bg1"/>
                </a:solidFill>
                <a:latin typeface="Courier New" pitchFamily="34" charset="0"/>
                <a:ea typeface="Courier New" pitchFamily="34" charset="-122"/>
                <a:cs typeface="Courier New" pitchFamily="34" charset="-120"/>
              </a:rPr>
              <a:t>kubectl get nodes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1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Meet the cluster</a:t>
            </a:r>
            <a:endParaRPr lang="en-US" sz="3400" dirty="0"/>
          </a:p>
        </p:txBody>
      </p:sp>
      <p:sp>
        <p:nvSpPr>
          <p:cNvPr id="4" name="plan panel"/>
          <p:cNvSpPr txBox="1"/>
          <p:nvPr/>
        </p:nvSpPr>
        <p:spPr>
          <a:xfrm>
            <a:off x="4572000" y="868680"/>
            <a:ext cx="4114800" cy="2542032"/>
          </a:xfrm>
          <a:prstGeom prst="roundRect">
            <a:avLst>
              <a:gd name="adj" fmla="val 5396"/>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List the nodes of our 3-node cluster</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Show that each node is just a Docker container</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Peek at the control plane running as pods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Meet the cluster</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nodes -o wide</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docker ps                       </a:t>
            </a:r>
            <a:r>
              <a:rPr lang="en-US" sz="1400" dirty="0">
                <a:solidFill>
                  <a:schemeClr val="accent2"/>
                </a:solidFill>
                <a:latin typeface="Courier New" pitchFamily="34" charset="0"/>
                <a:ea typeface="Courier New" pitchFamily="34" charset="-122"/>
                <a:cs typeface="Courier New" pitchFamily="34" charset="-120"/>
              </a:rPr>
              <a:t>  # nodes are just containers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pods -n kube-system </a:t>
            </a:r>
            <a:r>
              <a:rPr lang="en-US" sz="1400" dirty="0">
                <a:solidFill>
                  <a:schemeClr val="accent2"/>
                </a:solidFill>
                <a:latin typeface="Courier New" pitchFamily="34" charset="0"/>
                <a:ea typeface="Courier New" pitchFamily="34" charset="-122"/>
                <a:cs typeface="Courier New" pitchFamily="34" charset="-120"/>
              </a:rPr>
              <a:t>  # the control plane runs as pods</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3 nodes, all Ready</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docker ps lists the same 3 nodes</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etcd, apiserver, scheduler as pods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Pod: the smallest unit</a:t>
            </a:r>
            <a:endParaRPr lang="en-US" sz="3600" dirty="0"/>
          </a:p>
        </p:txBody>
      </p:sp>
      <p:sp>
        <p:nvSpPr>
          <p:cNvPr id="4" name="pod outline"/>
          <p:cNvSpPr txBox="1"/>
          <p:nvPr/>
        </p:nvSpPr>
        <p:spPr>
          <a:xfrm>
            <a:off x="451338" y="1247335"/>
            <a:ext cx="4023360" cy="3337560"/>
          </a:xfrm>
          <a:prstGeom prst="roundRect">
            <a:avLst>
              <a:gd name="adj" fmla="val 4110"/>
            </a:avLst>
          </a:prstGeom>
          <a:solidFill>
            <a:schemeClr val="bg2"/>
          </a:solidFill>
          <a:ln w="15875">
            <a:solidFill>
              <a:schemeClr val="accent1"/>
            </a:solidFill>
            <a:prstDash val="solid"/>
          </a:ln>
        </p:spPr>
        <p:txBody>
          <a:bodyPr wrap="square" lIns="76200" tIns="76200" rIns="76200" bIns="76200" rtlCol="0" anchor="ctr"/>
          <a:lstStyle/>
          <a:p>
            <a:pPr marL="0" indent="0" algn="ctr">
              <a:buNone/>
            </a:pPr>
            <a:endParaRPr lang="en-US" sz="1300" dirty="0"/>
          </a:p>
        </p:txBody>
      </p:sp>
      <p:sp>
        <p:nvSpPr>
          <p:cNvPr id="5" name="Text 2"/>
          <p:cNvSpPr txBox="1"/>
          <p:nvPr/>
        </p:nvSpPr>
        <p:spPr>
          <a:xfrm>
            <a:off x="685800" y="1325880"/>
            <a:ext cx="1371600" cy="320040"/>
          </a:xfrm>
          <a:prstGeom prst="rect">
            <a:avLst/>
          </a:prstGeom>
          <a:noFill/>
          <a:ln/>
        </p:spPr>
        <p:txBody>
          <a:bodyPr wrap="square" lIns="0" tIns="0" rIns="0" bIns="0" rtlCol="0" anchor="t"/>
          <a:lstStyle/>
          <a:p>
            <a:pPr marL="0" indent="0">
              <a:buNone/>
            </a:pPr>
            <a:r>
              <a:rPr lang="en-US" sz="1600" b="1" dirty="0">
                <a:solidFill>
                  <a:schemeClr val="accent1"/>
                </a:solidFill>
              </a:rPr>
              <a:t>Pod</a:t>
            </a:r>
            <a:endParaRPr lang="en-US" sz="1600" dirty="0"/>
          </a:p>
        </p:txBody>
      </p:sp>
      <p:sp>
        <p:nvSpPr>
          <p:cNvPr id="6" name="Text 3"/>
          <p:cNvSpPr txBox="1"/>
          <p:nvPr/>
        </p:nvSpPr>
        <p:spPr>
          <a:xfrm>
            <a:off x="2331720" y="1353312"/>
            <a:ext cx="1920240" cy="274320"/>
          </a:xfrm>
          <a:prstGeom prst="rect">
            <a:avLst/>
          </a:prstGeom>
          <a:noFill/>
          <a:ln/>
        </p:spPr>
        <p:txBody>
          <a:bodyPr wrap="square" lIns="0" tIns="0" rIns="0" bIns="0" rtlCol="0" anchor="t"/>
          <a:lstStyle/>
          <a:p>
            <a:pPr marL="0" indent="0" algn="r">
              <a:buNone/>
            </a:pPr>
            <a:r>
              <a:rPr lang="en-US" sz="1200" dirty="0">
                <a:solidFill>
                  <a:schemeClr val="accent5"/>
                </a:solidFill>
                <a:latin typeface="Courier New" pitchFamily="34" charset="0"/>
                <a:ea typeface="Courier New" pitchFamily="34" charset="-122"/>
                <a:cs typeface="Courier New" pitchFamily="34" charset="-120"/>
              </a:rPr>
              <a:t>IP 10.244.1.7</a:t>
            </a:r>
            <a:endParaRPr lang="en-US" sz="1200" dirty="0"/>
          </a:p>
        </p:txBody>
      </p:sp>
      <p:sp>
        <p:nvSpPr>
          <p:cNvPr id="7" name="Text 4"/>
          <p:cNvSpPr txBox="1"/>
          <p:nvPr/>
        </p:nvSpPr>
        <p:spPr>
          <a:xfrm>
            <a:off x="685800" y="1828800"/>
            <a:ext cx="1691640" cy="1097280"/>
          </a:xfrm>
          <a:prstGeom prst="roundRect">
            <a:avLst>
              <a:gd name="adj" fmla="val 8333"/>
            </a:avLst>
          </a:prstGeom>
          <a:solidFill>
            <a:schemeClr val="accent1"/>
          </a:solidFill>
          <a:ln/>
        </p:spPr>
        <p:txBody>
          <a:bodyPr wrap="square" lIns="76200" tIns="76200" rIns="76200" bIns="76200" rtlCol="0" anchor="ctr"/>
          <a:lstStyle/>
          <a:p>
            <a:pPr marL="0" indent="0" algn="ctr">
              <a:buNone/>
            </a:pPr>
            <a:r>
              <a:rPr lang="en-US" sz="1500" b="1" dirty="0">
                <a:solidFill>
                  <a:schemeClr val="bg1"/>
                </a:solidFill>
              </a:rPr>
              <a:t>nginx</a:t>
            </a:r>
            <a:endParaRPr lang="en-US" sz="1300" dirty="0"/>
          </a:p>
          <a:p>
            <a:pPr marL="0" indent="0" algn="ctr">
              <a:buNone/>
            </a:pPr>
            <a:r>
              <a:rPr lang="en-US" sz="1100" dirty="0">
                <a:solidFill>
                  <a:schemeClr val="bg1"/>
                </a:solidFill>
              </a:rPr>
              <a:t>app container</a:t>
            </a:r>
            <a:endParaRPr lang="en-US" sz="1300" dirty="0"/>
          </a:p>
        </p:txBody>
      </p:sp>
      <p:sp>
        <p:nvSpPr>
          <p:cNvPr id="8" name="Text 5"/>
          <p:cNvSpPr txBox="1"/>
          <p:nvPr/>
        </p:nvSpPr>
        <p:spPr>
          <a:xfrm>
            <a:off x="2560320" y="1828800"/>
            <a:ext cx="1691640" cy="1097280"/>
          </a:xfrm>
          <a:prstGeom prst="roundRect">
            <a:avLst>
              <a:gd name="adj" fmla="val 8333"/>
            </a:avLst>
          </a:prstGeom>
          <a:solidFill>
            <a:schemeClr val="accent1"/>
          </a:solidFill>
          <a:ln/>
        </p:spPr>
        <p:txBody>
          <a:bodyPr wrap="square" lIns="76200" tIns="76200" rIns="76200" bIns="76200" rtlCol="0" anchor="ctr"/>
          <a:lstStyle/>
          <a:p>
            <a:pPr marL="0" indent="0" algn="ctr">
              <a:buNone/>
            </a:pPr>
            <a:r>
              <a:rPr lang="en-US" sz="1500" b="1" dirty="0">
                <a:solidFill>
                  <a:schemeClr val="bg1"/>
                </a:solidFill>
              </a:rPr>
              <a:t>log-agent</a:t>
            </a:r>
            <a:endParaRPr lang="en-US" sz="1300" dirty="0"/>
          </a:p>
          <a:p>
            <a:pPr marL="0" indent="0" algn="ctr">
              <a:buNone/>
            </a:pPr>
            <a:r>
              <a:rPr lang="en-US" sz="1100" dirty="0">
                <a:solidFill>
                  <a:schemeClr val="bg1"/>
                </a:solidFill>
              </a:rPr>
              <a:t>sidecar</a:t>
            </a:r>
            <a:endParaRPr lang="en-US" sz="1300" dirty="0"/>
          </a:p>
        </p:txBody>
      </p:sp>
      <p:sp>
        <p:nvSpPr>
          <p:cNvPr id="9" name="Text 6"/>
          <p:cNvSpPr txBox="1"/>
          <p:nvPr/>
        </p:nvSpPr>
        <p:spPr>
          <a:xfrm>
            <a:off x="685800" y="3108960"/>
            <a:ext cx="3566160" cy="548640"/>
          </a:xfrm>
          <a:prstGeom prst="roundRect">
            <a:avLst>
              <a:gd name="adj" fmla="val 16667"/>
            </a:avLst>
          </a:prstGeom>
          <a:solidFill>
            <a:schemeClr val="bg1"/>
          </a:solidFill>
          <a:ln w="15875">
            <a:solidFill>
              <a:schemeClr val="accent5"/>
            </a:solidFill>
            <a:prstDash val="dash"/>
          </a:ln>
        </p:spPr>
        <p:txBody>
          <a:bodyPr wrap="square" lIns="76200" tIns="76200" rIns="76200" bIns="76200" rtlCol="0" anchor="ctr"/>
          <a:lstStyle/>
          <a:p>
            <a:pPr marL="0" indent="0" algn="ctr">
              <a:buNone/>
            </a:pPr>
            <a:r>
              <a:rPr lang="en-US" sz="1200" dirty="0">
                <a:solidFill>
                  <a:schemeClr val="tx1"/>
                </a:solidFill>
              </a:rPr>
              <a:t>shared volume  /data</a:t>
            </a:r>
            <a:endParaRPr lang="en-US" sz="1200" dirty="0"/>
          </a:p>
        </p:txBody>
      </p:sp>
      <p:sp>
        <p:nvSpPr>
          <p:cNvPr id="10" name="Text 7"/>
          <p:cNvSpPr txBox="1"/>
          <p:nvPr/>
        </p:nvSpPr>
        <p:spPr>
          <a:xfrm>
            <a:off x="685800" y="3886200"/>
            <a:ext cx="3566160" cy="320040"/>
          </a:xfrm>
          <a:prstGeom prst="rect">
            <a:avLst/>
          </a:prstGeom>
          <a:noFill/>
          <a:ln/>
        </p:spPr>
        <p:txBody>
          <a:bodyPr wrap="square" lIns="0" tIns="0" rIns="0" bIns="0" rtlCol="0" anchor="t"/>
          <a:lstStyle/>
          <a:p>
            <a:pPr marL="0" indent="0">
              <a:buNone/>
            </a:pPr>
            <a:r>
              <a:rPr lang="en-US" sz="1200" i="1" dirty="0">
                <a:solidFill>
                  <a:schemeClr val="accent5"/>
                </a:solidFill>
              </a:rPr>
              <a:t>runs on node k8s-demo-worker</a:t>
            </a:r>
            <a:endParaRPr lang="en-US" sz="1200" dirty="0"/>
          </a:p>
        </p:txBody>
      </p:sp>
      <p:sp>
        <p:nvSpPr>
          <p:cNvPr id="11" name="dot 1"/>
          <p:cNvSpPr txBox="1"/>
          <p:nvPr/>
        </p:nvSpPr>
        <p:spPr>
          <a:xfrm>
            <a:off x="4846320" y="125272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2" name="Smallest deployable unit"/>
          <p:cNvSpPr txBox="1"/>
          <p:nvPr/>
        </p:nvSpPr>
        <p:spPr>
          <a:xfrm>
            <a:off x="5394960" y="1234440"/>
            <a:ext cx="329184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Smallest deployable unit</a:t>
            </a:r>
            <a:endParaRPr lang="en-US" sz="1400" dirty="0"/>
          </a:p>
          <a:p>
            <a:pPr marL="0" indent="0">
              <a:spcAft>
                <a:spcPts val="200"/>
              </a:spcAft>
              <a:buNone/>
            </a:pPr>
            <a:r>
              <a:rPr lang="en-US" sz="1400" dirty="0">
                <a:solidFill>
                  <a:schemeClr val="accent5"/>
                </a:solidFill>
              </a:rPr>
              <a:t>One or more containers sharing an IP and storage</a:t>
            </a:r>
            <a:endParaRPr lang="en-US" sz="1400" dirty="0"/>
          </a:p>
        </p:txBody>
      </p:sp>
      <p:sp>
        <p:nvSpPr>
          <p:cNvPr id="13" name="dot 2"/>
          <p:cNvSpPr txBox="1"/>
          <p:nvPr/>
        </p:nvSpPr>
        <p:spPr>
          <a:xfrm>
            <a:off x="4846320" y="235000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Lives on exactly one node"/>
          <p:cNvSpPr txBox="1"/>
          <p:nvPr/>
        </p:nvSpPr>
        <p:spPr>
          <a:xfrm>
            <a:off x="5394960" y="2331720"/>
            <a:ext cx="329184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Lives on exactly one node</a:t>
            </a:r>
            <a:endParaRPr lang="en-US" sz="1400" dirty="0"/>
          </a:p>
          <a:p>
            <a:pPr marL="0" indent="0">
              <a:spcAft>
                <a:spcPts val="200"/>
              </a:spcAft>
              <a:buNone/>
            </a:pPr>
            <a:r>
              <a:rPr lang="en-US" sz="1400" dirty="0">
                <a:solidFill>
                  <a:schemeClr val="accent5"/>
                </a:solidFill>
              </a:rPr>
              <a:t>The scheduler picks the node; the pod never moves</a:t>
            </a:r>
            <a:endParaRPr lang="en-US" sz="1400" dirty="0"/>
          </a:p>
        </p:txBody>
      </p:sp>
      <p:sp>
        <p:nvSpPr>
          <p:cNvPr id="15" name="dot !"/>
          <p:cNvSpPr txBox="1"/>
          <p:nvPr/>
        </p:nvSpPr>
        <p:spPr>
          <a:xfrm>
            <a:off x="4846320" y="3447288"/>
            <a:ext cx="384048" cy="384048"/>
          </a:xfrm>
          <a:prstGeom prst="ellipse">
            <a:avLst/>
          </a:prstGeom>
          <a:solidFill>
            <a:schemeClr val="accent4"/>
          </a:solid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6" name="Mortal"/>
          <p:cNvSpPr txBox="1"/>
          <p:nvPr/>
        </p:nvSpPr>
        <p:spPr>
          <a:xfrm>
            <a:off x="5394960" y="3429000"/>
            <a:ext cx="329184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Mortal</a:t>
            </a:r>
            <a:endParaRPr lang="en-US" sz="1400" dirty="0"/>
          </a:p>
          <a:p>
            <a:pPr marL="0" indent="0">
              <a:spcAft>
                <a:spcPts val="200"/>
              </a:spcAft>
              <a:buNone/>
            </a:pPr>
            <a:r>
              <a:rPr lang="en-US" sz="1400" dirty="0">
                <a:solidFill>
                  <a:schemeClr val="accent5"/>
                </a:solidFill>
              </a:rPr>
              <a:t>Delete a bare pod and nothing brings it back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Anatomy of a manifest</a:t>
            </a:r>
            <a:endParaRPr lang="en-US" sz="3600" dirty="0"/>
          </a:p>
        </p:txBody>
      </p:sp>
      <p:sp>
        <p:nvSpPr>
          <p:cNvPr id="4" name="pod yaml"/>
          <p:cNvSpPr txBox="1"/>
          <p:nvPr/>
        </p:nvSpPr>
        <p:spPr>
          <a:xfrm>
            <a:off x="914400" y="1188720"/>
            <a:ext cx="3657600" cy="3337560"/>
          </a:xfrm>
          <a:prstGeom prst="roundRect">
            <a:avLst>
              <a:gd name="adj" fmla="val 2192"/>
            </a:avLst>
          </a:prstGeom>
          <a:solidFill>
            <a:schemeClr val="tx1"/>
          </a:solidFill>
          <a:ln/>
        </p:spPr>
        <p:txBody>
          <a:bodyPr wrap="square" lIns="127000" tIns="127000" rIns="127000" bIns="127000" rtlCol="0" anchor="t"/>
          <a:lstStyle/>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apiVersion:</a:t>
            </a:r>
            <a:r>
              <a:rPr lang="en-US" sz="1400" dirty="0">
                <a:solidFill>
                  <a:schemeClr val="accent2"/>
                </a:solidFill>
                <a:latin typeface="Courier New" pitchFamily="34" charset="0"/>
                <a:ea typeface="Courier New" pitchFamily="34" charset="-122"/>
                <a:cs typeface="Courier New" pitchFamily="34" charset="-120"/>
              </a:rPr>
              <a:t> v1</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kind:</a:t>
            </a:r>
            <a:r>
              <a:rPr lang="en-US" sz="1400" dirty="0">
                <a:solidFill>
                  <a:schemeClr val="accent2"/>
                </a:solidFill>
                <a:latin typeface="Courier New" pitchFamily="34" charset="0"/>
                <a:ea typeface="Courier New" pitchFamily="34" charset="-122"/>
                <a:cs typeface="Courier New" pitchFamily="34" charset="-120"/>
              </a:rPr>
              <a:t> Pod</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metadata:</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name:</a:t>
            </a:r>
            <a:r>
              <a:rPr lang="en-US" sz="1400" dirty="0">
                <a:solidFill>
                  <a:schemeClr val="accent2"/>
                </a:solidFill>
                <a:latin typeface="Courier New" pitchFamily="34" charset="0"/>
                <a:ea typeface="Courier New" pitchFamily="34" charset="-122"/>
                <a:cs typeface="Courier New" pitchFamily="34" charset="-120"/>
              </a:rPr>
              <a:t> my-pod</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labels:</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app:</a:t>
            </a:r>
            <a:r>
              <a:rPr lang="en-US" sz="1400" dirty="0">
                <a:solidFill>
                  <a:schemeClr val="accent2"/>
                </a:solidFill>
                <a:latin typeface="Courier New" pitchFamily="34" charset="0"/>
                <a:ea typeface="Courier New" pitchFamily="34" charset="-122"/>
                <a:cs typeface="Courier New" pitchFamily="34" charset="-120"/>
              </a:rPr>
              <a:t> my-pod</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spec:</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containers:</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 name:</a:t>
            </a:r>
            <a:r>
              <a:rPr lang="en-US" sz="1400" dirty="0">
                <a:solidFill>
                  <a:schemeClr val="accent2"/>
                </a:solidFill>
                <a:latin typeface="Courier New" pitchFamily="34" charset="0"/>
                <a:ea typeface="Courier New" pitchFamily="34" charset="-122"/>
                <a:cs typeface="Courier New" pitchFamily="34" charset="-120"/>
              </a:rPr>
              <a:t> nginx</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image:</a:t>
            </a:r>
            <a:r>
              <a:rPr lang="en-US" sz="1400" dirty="0">
                <a:solidFill>
                  <a:schemeClr val="accent2"/>
                </a:solidFill>
                <a:latin typeface="Courier New" pitchFamily="34" charset="0"/>
                <a:ea typeface="Courier New" pitchFamily="34" charset="-122"/>
                <a:cs typeface="Courier New" pitchFamily="34" charset="-120"/>
              </a:rPr>
              <a:t> nginx:1.27</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ports:</a:t>
            </a:r>
            <a:endParaRPr lang="en-US" sz="1300" dirty="0"/>
          </a:p>
          <a:p>
            <a:pPr marL="0" indent="0" algn="l">
              <a:lnSpc>
                <a:spcPts val="1800"/>
              </a:lnSpc>
              <a:buNone/>
            </a:pPr>
            <a:r>
              <a:rPr lang="en-US" sz="1400" dirty="0">
                <a:solidFill>
                  <a:schemeClr val="bg1"/>
                </a:solidFill>
                <a:latin typeface="Courier New" pitchFamily="34" charset="0"/>
                <a:ea typeface="Courier New" pitchFamily="34" charset="-122"/>
                <a:cs typeface="Courier New" pitchFamily="34" charset="-120"/>
              </a:rPr>
              <a:t>        - containerPort:</a:t>
            </a:r>
            <a:r>
              <a:rPr lang="en-US" sz="1400" dirty="0">
                <a:solidFill>
                  <a:schemeClr val="accent2"/>
                </a:solidFill>
                <a:latin typeface="Courier New" pitchFamily="34" charset="0"/>
                <a:ea typeface="Courier New" pitchFamily="34" charset="-122"/>
                <a:cs typeface="Courier New" pitchFamily="34" charset="-120"/>
              </a:rPr>
              <a:t> 80</a:t>
            </a:r>
            <a:endParaRPr lang="en-US" sz="1300" dirty="0"/>
          </a:p>
        </p:txBody>
      </p:sp>
      <p:sp>
        <p:nvSpPr>
          <p:cNvPr id="5" name="dot 1"/>
          <p:cNvSpPr txBox="1"/>
          <p:nvPr/>
        </p:nvSpPr>
        <p:spPr>
          <a:xfrm>
            <a:off x="457200" y="1284732"/>
            <a:ext cx="292608" cy="29260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dot 2"/>
          <p:cNvSpPr txBox="1"/>
          <p:nvPr/>
        </p:nvSpPr>
        <p:spPr>
          <a:xfrm>
            <a:off x="457200" y="1741932"/>
            <a:ext cx="292608" cy="29260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7" name="dot 3"/>
          <p:cNvSpPr txBox="1"/>
          <p:nvPr/>
        </p:nvSpPr>
        <p:spPr>
          <a:xfrm>
            <a:off x="457200" y="2656332"/>
            <a:ext cx="292608" cy="29260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8" name="dot 1"/>
          <p:cNvSpPr txBox="1"/>
          <p:nvPr/>
        </p:nvSpPr>
        <p:spPr>
          <a:xfrm>
            <a:off x="4983480" y="120700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apiVersion + kind"/>
          <p:cNvSpPr txBox="1"/>
          <p:nvPr/>
        </p:nvSpPr>
        <p:spPr>
          <a:xfrm>
            <a:off x="5532120" y="1188720"/>
            <a:ext cx="31546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apiVersion + kind</a:t>
            </a:r>
            <a:endParaRPr lang="en-US" sz="1400" dirty="0"/>
          </a:p>
          <a:p>
            <a:pPr marL="0" indent="0">
              <a:spcAft>
                <a:spcPts val="200"/>
              </a:spcAft>
              <a:buNone/>
            </a:pPr>
            <a:r>
              <a:rPr lang="en-US" sz="1400" dirty="0">
                <a:solidFill>
                  <a:schemeClr val="accent5"/>
                </a:solidFill>
              </a:rPr>
              <a:t>What type of object this is</a:t>
            </a:r>
            <a:endParaRPr lang="en-US" sz="1400" dirty="0"/>
          </a:p>
        </p:txBody>
      </p:sp>
      <p:sp>
        <p:nvSpPr>
          <p:cNvPr id="10" name="dot 2"/>
          <p:cNvSpPr txBox="1"/>
          <p:nvPr/>
        </p:nvSpPr>
        <p:spPr>
          <a:xfrm>
            <a:off x="4983480" y="198424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metadata"/>
          <p:cNvSpPr txBox="1"/>
          <p:nvPr/>
        </p:nvSpPr>
        <p:spPr>
          <a:xfrm>
            <a:off x="5532120" y="1965960"/>
            <a:ext cx="31546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metadata</a:t>
            </a:r>
            <a:endParaRPr lang="en-US" sz="1400" dirty="0"/>
          </a:p>
          <a:p>
            <a:pPr marL="0" indent="0">
              <a:spcAft>
                <a:spcPts val="200"/>
              </a:spcAft>
              <a:buNone/>
            </a:pPr>
            <a:r>
              <a:rPr lang="en-US" sz="1400" dirty="0">
                <a:solidFill>
                  <a:schemeClr val="accent5"/>
                </a:solidFill>
              </a:rPr>
              <a:t>Its name and labels: how others find it</a:t>
            </a:r>
            <a:endParaRPr lang="en-US" sz="1400" dirty="0"/>
          </a:p>
        </p:txBody>
      </p:sp>
      <p:sp>
        <p:nvSpPr>
          <p:cNvPr id="12" name="dot 3"/>
          <p:cNvSpPr txBox="1"/>
          <p:nvPr/>
        </p:nvSpPr>
        <p:spPr>
          <a:xfrm>
            <a:off x="4983480" y="276148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spec"/>
          <p:cNvSpPr txBox="1"/>
          <p:nvPr/>
        </p:nvSpPr>
        <p:spPr>
          <a:xfrm>
            <a:off x="5532120" y="2743200"/>
            <a:ext cx="31546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spec</a:t>
            </a:r>
            <a:endParaRPr lang="en-US" sz="1400" dirty="0"/>
          </a:p>
          <a:p>
            <a:pPr marL="0" indent="0">
              <a:spcAft>
                <a:spcPts val="200"/>
              </a:spcAft>
              <a:buNone/>
            </a:pPr>
            <a:r>
              <a:rPr lang="en-US" sz="1400" dirty="0">
                <a:solidFill>
                  <a:schemeClr val="accent5"/>
                </a:solidFill>
              </a:rPr>
              <a:t>Desired state: what should run</a:t>
            </a:r>
            <a:endParaRPr lang="en-US" sz="1400" dirty="0"/>
          </a:p>
        </p:txBody>
      </p:sp>
      <p:sp>
        <p:nvSpPr>
          <p:cNvPr id="14" name="two ways"/>
          <p:cNvSpPr txBox="1"/>
          <p:nvPr/>
        </p:nvSpPr>
        <p:spPr>
          <a:xfrm>
            <a:off x="4983480" y="3611880"/>
            <a:ext cx="3703320" cy="914400"/>
          </a:xfrm>
          <a:prstGeom prst="roundRect">
            <a:avLst>
              <a:gd name="adj" fmla="val 10000"/>
            </a:avLst>
          </a:prstGeom>
          <a:solidFill>
            <a:schemeClr val="bg2"/>
          </a:solidFill>
          <a:ln/>
        </p:spPr>
        <p:txBody>
          <a:bodyPr wrap="square" lIns="101600" tIns="101600" rIns="101600" bIns="101600" rtlCol="0" anchor="ctr"/>
          <a:lstStyle/>
          <a:p>
            <a:pPr marL="0" indent="0" algn="l">
              <a:buNone/>
            </a:pPr>
            <a:r>
              <a:rPr lang="en-US" sz="1200" dirty="0">
                <a:solidFill>
                  <a:schemeClr val="accent5"/>
                </a:solidFill>
                <a:latin typeface="Courier New" pitchFamily="34" charset="0"/>
                <a:ea typeface="Courier New" pitchFamily="34" charset="-122"/>
                <a:cs typeface="Courier New" pitchFamily="34" charset="-120"/>
              </a:rPr>
              <a:t># imperative</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kubectl run nginx --image=nginx:1.27</a:t>
            </a:r>
            <a:endParaRPr lang="en-US" sz="1200" dirty="0"/>
          </a:p>
          <a:p>
            <a:pPr marL="0" indent="0" algn="l">
              <a:buNone/>
            </a:pPr>
            <a:r>
              <a:rPr lang="en-US" sz="1200" dirty="0">
                <a:solidFill>
                  <a:schemeClr val="accent5"/>
                </a:solidFill>
                <a:latin typeface="Courier New" pitchFamily="34" charset="0"/>
                <a:ea typeface="Courier New" pitchFamily="34" charset="-122"/>
                <a:cs typeface="Courier New" pitchFamily="34" charset="-120"/>
              </a:rPr>
              <a:t># declarative</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kubectl apply -f 01-pod.yaml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2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Create, inspect, delete a Pod</a:t>
            </a:r>
            <a:endParaRPr lang="en-US" sz="3400" dirty="0"/>
          </a:p>
        </p:txBody>
      </p:sp>
      <p:sp>
        <p:nvSpPr>
          <p:cNvPr id="4" name="plan panel"/>
          <p:cNvSpPr txBox="1"/>
          <p:nvPr/>
        </p:nvSpPr>
        <p:spPr>
          <a:xfrm>
            <a:off x="4572000" y="868680"/>
            <a:ext cx="4114800" cy="3145536"/>
          </a:xfrm>
          <a:prstGeom prst="roundRect">
            <a:avLst>
              <a:gd name="adj" fmla="val 4360"/>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Create a pod with a command, then from YAML</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Inspect it: IP, node, events, logs</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Step inside the running container</a:t>
            </a:r>
            <a:endParaRPr lang="en-US" sz="1500" dirty="0"/>
          </a:p>
        </p:txBody>
      </p:sp>
      <p:sp>
        <p:nvSpPr>
          <p:cNvPr id="12" name="dot 4"/>
          <p:cNvSpPr txBox="1"/>
          <p:nvPr/>
        </p:nvSpPr>
        <p:spPr>
          <a:xfrm>
            <a:off x="4892040" y="331927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step 4"/>
          <p:cNvSpPr txBox="1"/>
          <p:nvPr/>
        </p:nvSpPr>
        <p:spPr>
          <a:xfrm>
            <a:off x="5440680" y="3227832"/>
            <a:ext cx="3063240" cy="548640"/>
          </a:xfrm>
          <a:prstGeom prst="rect">
            <a:avLst/>
          </a:prstGeom>
          <a:noFill/>
          <a:ln/>
        </p:spPr>
        <p:txBody>
          <a:bodyPr wrap="square" lIns="0" tIns="0" rIns="0" bIns="0" rtlCol="0" anchor="ctr"/>
          <a:lstStyle/>
          <a:p>
            <a:pPr marL="0" indent="0">
              <a:buNone/>
            </a:pPr>
            <a:r>
              <a:rPr lang="en-US" sz="1500" dirty="0">
                <a:solidFill>
                  <a:schemeClr val="bg1"/>
                </a:solidFill>
              </a:rPr>
              <a:t>Delete it and see that nothing brings it back</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Create, inspect, delete a Pod</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run nginx --image=nginx:1.27    </a:t>
            </a:r>
            <a:r>
              <a:rPr lang="en-US" sz="1400" dirty="0">
                <a:solidFill>
                  <a:schemeClr val="accent2"/>
                </a:solidFill>
                <a:latin typeface="Courier New" pitchFamily="34" charset="0"/>
                <a:ea typeface="Courier New" pitchFamily="34" charset="-122"/>
                <a:cs typeface="Courier New" pitchFamily="34" charset="-120"/>
              </a:rPr>
              <a:t>  # imperative</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01-pod.yaml            </a:t>
            </a:r>
            <a:r>
              <a:rPr lang="en-US" sz="1400" dirty="0">
                <a:solidFill>
                  <a:schemeClr val="accent2"/>
                </a:solidFill>
                <a:latin typeface="Courier New" pitchFamily="34" charset="0"/>
                <a:ea typeface="Courier New" pitchFamily="34" charset="-122"/>
                <a:cs typeface="Courier New" pitchFamily="34" charset="-120"/>
              </a:rPr>
              <a:t>  # declarative</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pods -o wide</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describe pod my-pod             </a:t>
            </a:r>
            <a:r>
              <a:rPr lang="en-US" sz="1400" dirty="0">
                <a:solidFill>
                  <a:schemeClr val="accent2"/>
                </a:solidFill>
                <a:latin typeface="Courier New" pitchFamily="34" charset="0"/>
                <a:ea typeface="Courier New" pitchFamily="34" charset="-122"/>
                <a:cs typeface="Courier New" pitchFamily="34" charset="-120"/>
              </a:rPr>
              <a:t>  # read the Events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logs my-pod</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-it my-pod -- sh</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delete pod nginx my-pod</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Pod IP and the node it landed on</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Events: Scheduled → Pulled → Started</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After delete: gone for good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Who controls what</a:t>
            </a:r>
            <a:endParaRPr lang="en-US" sz="3600" dirty="0"/>
          </a:p>
        </p:txBody>
      </p:sp>
      <p:sp>
        <p:nvSpPr>
          <p:cNvPr id="4" name="Shape 1"/>
          <p:cNvSpPr/>
          <p:nvPr/>
        </p:nvSpPr>
        <p:spPr>
          <a:xfrm>
            <a:off x="5852160" y="475488"/>
            <a:ext cx="502920" cy="0"/>
          </a:xfrm>
          <a:prstGeom prst="line">
            <a:avLst/>
          </a:prstGeom>
          <a:noFill/>
          <a:ln w="22225">
            <a:solidFill>
              <a:schemeClr val="accent5"/>
            </a:solidFill>
            <a:prstDash val="solid"/>
            <a:tailEnd type="triangle"/>
          </a:ln>
        </p:spPr>
        <p:txBody>
          <a:bodyPr/>
          <a:lstStyle/>
          <a:p>
            <a:endParaRPr lang="en-US"/>
          </a:p>
        </p:txBody>
      </p:sp>
      <p:sp>
        <p:nvSpPr>
          <p:cNvPr id="5" name="Text 2"/>
          <p:cNvSpPr txBox="1"/>
          <p:nvPr/>
        </p:nvSpPr>
        <p:spPr>
          <a:xfrm>
            <a:off x="6492240" y="365760"/>
            <a:ext cx="2194560" cy="228600"/>
          </a:xfrm>
          <a:prstGeom prst="rect">
            <a:avLst/>
          </a:prstGeom>
          <a:noFill/>
          <a:ln/>
        </p:spPr>
        <p:txBody>
          <a:bodyPr wrap="square" lIns="0" tIns="0" rIns="0" bIns="0" rtlCol="0" anchor="t"/>
          <a:lstStyle/>
          <a:p>
            <a:pPr marL="0" indent="0">
              <a:buNone/>
            </a:pPr>
            <a:r>
              <a:rPr lang="en-US" sz="1200" dirty="0">
                <a:solidFill>
                  <a:schemeClr val="accent5"/>
                </a:solidFill>
              </a:rPr>
              <a:t>creates &amp; owns</a:t>
            </a:r>
            <a:endParaRPr lang="en-US" sz="1200" dirty="0"/>
          </a:p>
        </p:txBody>
      </p:sp>
      <p:sp>
        <p:nvSpPr>
          <p:cNvPr id="6" name="Shape 3"/>
          <p:cNvSpPr/>
          <p:nvPr/>
        </p:nvSpPr>
        <p:spPr>
          <a:xfrm>
            <a:off x="5852160" y="795528"/>
            <a:ext cx="502920" cy="0"/>
          </a:xfrm>
          <a:prstGeom prst="line">
            <a:avLst/>
          </a:prstGeom>
          <a:noFill/>
          <a:ln w="22225">
            <a:solidFill>
              <a:schemeClr val="accent3"/>
            </a:solidFill>
            <a:prstDash val="dash"/>
            <a:tailEnd type="triangle"/>
          </a:ln>
        </p:spPr>
        <p:txBody>
          <a:bodyPr/>
          <a:lstStyle/>
          <a:p>
            <a:endParaRPr lang="en-US"/>
          </a:p>
        </p:txBody>
      </p:sp>
      <p:sp>
        <p:nvSpPr>
          <p:cNvPr id="7" name="Text 4"/>
          <p:cNvSpPr txBox="1"/>
          <p:nvPr/>
        </p:nvSpPr>
        <p:spPr>
          <a:xfrm>
            <a:off x="6492240" y="685800"/>
            <a:ext cx="2194560" cy="228600"/>
          </a:xfrm>
          <a:prstGeom prst="rect">
            <a:avLst/>
          </a:prstGeom>
          <a:noFill/>
          <a:ln/>
        </p:spPr>
        <p:txBody>
          <a:bodyPr wrap="square" lIns="0" tIns="0" rIns="0" bIns="0" rtlCol="0" anchor="t"/>
          <a:lstStyle/>
          <a:p>
            <a:pPr marL="0" indent="0">
              <a:buNone/>
            </a:pPr>
            <a:r>
              <a:rPr lang="en-US" sz="1200" dirty="0">
                <a:solidFill>
                  <a:schemeClr val="accent5"/>
                </a:solidFill>
              </a:rPr>
              <a:t>finds pods by label</a:t>
            </a:r>
            <a:endParaRPr lang="en-US" sz="1200" dirty="0"/>
          </a:p>
        </p:txBody>
      </p:sp>
      <p:sp>
        <p:nvSpPr>
          <p:cNvPr id="8" name="Text 5"/>
          <p:cNvSpPr txBox="1"/>
          <p:nvPr/>
        </p:nvSpPr>
        <p:spPr>
          <a:xfrm>
            <a:off x="1051560" y="1097280"/>
            <a:ext cx="2926080" cy="228600"/>
          </a:xfrm>
          <a:prstGeom prst="rect">
            <a:avLst/>
          </a:prstGeom>
          <a:noFill/>
          <a:ln/>
        </p:spPr>
        <p:txBody>
          <a:bodyPr wrap="square" lIns="0" tIns="0" rIns="0" bIns="0" rtlCol="0" anchor="t"/>
          <a:lstStyle/>
          <a:p>
            <a:pPr marL="0" indent="0" algn="ctr">
              <a:buNone/>
            </a:pPr>
            <a:r>
              <a:rPr lang="en-US" sz="1100" b="1" kern="0" spc="150" dirty="0">
                <a:solidFill>
                  <a:schemeClr val="accent5"/>
                </a:solidFill>
              </a:rPr>
              <a:t>STATELESS APP</a:t>
            </a:r>
            <a:endParaRPr lang="en-US" sz="1100" dirty="0"/>
          </a:p>
        </p:txBody>
      </p:sp>
      <p:sp>
        <p:nvSpPr>
          <p:cNvPr id="9" name="Deployment"/>
          <p:cNvSpPr txBox="1"/>
          <p:nvPr/>
        </p:nvSpPr>
        <p:spPr>
          <a:xfrm>
            <a:off x="1463040" y="1371600"/>
            <a:ext cx="2103120" cy="594360"/>
          </a:xfrm>
          <a:prstGeom prst="roundRect">
            <a:avLst>
              <a:gd name="adj" fmla="val 15385"/>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Deployment</a:t>
            </a:r>
            <a:endParaRPr lang="en-US" sz="1300" dirty="0"/>
          </a:p>
          <a:p>
            <a:pPr marL="0" indent="0" algn="ctr">
              <a:buNone/>
            </a:pPr>
            <a:r>
              <a:rPr lang="en-US" sz="1100" dirty="0">
                <a:solidFill>
                  <a:schemeClr val="bg1"/>
                </a:solidFill>
              </a:rPr>
              <a:t>versions &amp; rollouts</a:t>
            </a:r>
            <a:endParaRPr lang="en-US" sz="1300" dirty="0"/>
          </a:p>
        </p:txBody>
      </p:sp>
      <p:sp>
        <p:nvSpPr>
          <p:cNvPr id="10" name="Shape 7"/>
          <p:cNvSpPr/>
          <p:nvPr/>
        </p:nvSpPr>
        <p:spPr>
          <a:xfrm>
            <a:off x="2514600" y="1965960"/>
            <a:ext cx="0" cy="320040"/>
          </a:xfrm>
          <a:prstGeom prst="line">
            <a:avLst/>
          </a:prstGeom>
          <a:noFill/>
          <a:ln w="22225">
            <a:solidFill>
              <a:schemeClr val="accent5"/>
            </a:solidFill>
            <a:prstDash val="solid"/>
            <a:tailEnd type="triangle"/>
          </a:ln>
        </p:spPr>
        <p:txBody>
          <a:bodyPr/>
          <a:lstStyle/>
          <a:p>
            <a:endParaRPr lang="en-US"/>
          </a:p>
        </p:txBody>
      </p:sp>
      <p:sp>
        <p:nvSpPr>
          <p:cNvPr id="11" name="ReplicaSet"/>
          <p:cNvSpPr txBox="1"/>
          <p:nvPr/>
        </p:nvSpPr>
        <p:spPr>
          <a:xfrm>
            <a:off x="1463040" y="2286000"/>
            <a:ext cx="2103120" cy="594360"/>
          </a:xfrm>
          <a:prstGeom prst="roundRect">
            <a:avLst>
              <a:gd name="adj" fmla="val 15385"/>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ReplicaSet</a:t>
            </a:r>
            <a:endParaRPr lang="en-US" sz="1300" dirty="0"/>
          </a:p>
          <a:p>
            <a:pPr marL="0" indent="0" algn="ctr">
              <a:buNone/>
            </a:pPr>
            <a:r>
              <a:rPr lang="en-US" sz="1100" dirty="0">
                <a:solidFill>
                  <a:schemeClr val="bg1"/>
                </a:solidFill>
              </a:rPr>
              <a:t>keeps N copies alive</a:t>
            </a:r>
            <a:endParaRPr lang="en-US" sz="1300" dirty="0"/>
          </a:p>
        </p:txBody>
      </p:sp>
      <p:sp>
        <p:nvSpPr>
          <p:cNvPr id="12" name="Shape 9"/>
          <p:cNvSpPr/>
          <p:nvPr/>
        </p:nvSpPr>
        <p:spPr>
          <a:xfrm flipH="1">
            <a:off x="1508760" y="2880360"/>
            <a:ext cx="1005840" cy="274320"/>
          </a:xfrm>
          <a:prstGeom prst="line">
            <a:avLst/>
          </a:prstGeom>
          <a:noFill/>
          <a:ln w="22225">
            <a:solidFill>
              <a:schemeClr val="accent5"/>
            </a:solidFill>
            <a:prstDash val="solid"/>
            <a:tailEnd type="triangle"/>
          </a:ln>
        </p:spPr>
        <p:txBody>
          <a:bodyPr/>
          <a:lstStyle/>
          <a:p>
            <a:endParaRPr lang="en-US"/>
          </a:p>
        </p:txBody>
      </p:sp>
      <p:sp>
        <p:nvSpPr>
          <p:cNvPr id="13" name="web pod"/>
          <p:cNvSpPr txBox="1"/>
          <p:nvPr/>
        </p:nvSpPr>
        <p:spPr>
          <a:xfrm>
            <a:off x="105156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14" name="Shape 11"/>
          <p:cNvSpPr/>
          <p:nvPr/>
        </p:nvSpPr>
        <p:spPr>
          <a:xfrm flipV="1">
            <a:off x="1508760" y="3703320"/>
            <a:ext cx="0" cy="320040"/>
          </a:xfrm>
          <a:prstGeom prst="line">
            <a:avLst/>
          </a:prstGeom>
          <a:noFill/>
          <a:ln w="22225">
            <a:solidFill>
              <a:schemeClr val="accent3"/>
            </a:solidFill>
            <a:prstDash val="dash"/>
            <a:tailEnd type="triangle"/>
          </a:ln>
        </p:spPr>
        <p:txBody>
          <a:bodyPr/>
          <a:lstStyle/>
          <a:p>
            <a:endParaRPr lang="en-US"/>
          </a:p>
        </p:txBody>
      </p:sp>
      <p:sp>
        <p:nvSpPr>
          <p:cNvPr id="15" name="Shape 12"/>
          <p:cNvSpPr/>
          <p:nvPr/>
        </p:nvSpPr>
        <p:spPr>
          <a:xfrm>
            <a:off x="2514600" y="2880360"/>
            <a:ext cx="0" cy="274320"/>
          </a:xfrm>
          <a:prstGeom prst="line">
            <a:avLst/>
          </a:prstGeom>
          <a:noFill/>
          <a:ln w="22225">
            <a:solidFill>
              <a:schemeClr val="accent5"/>
            </a:solidFill>
            <a:prstDash val="solid"/>
            <a:tailEnd type="triangle"/>
          </a:ln>
        </p:spPr>
        <p:txBody>
          <a:bodyPr/>
          <a:lstStyle/>
          <a:p>
            <a:endParaRPr lang="en-US"/>
          </a:p>
        </p:txBody>
      </p:sp>
      <p:sp>
        <p:nvSpPr>
          <p:cNvPr id="16" name="web pod"/>
          <p:cNvSpPr txBox="1"/>
          <p:nvPr/>
        </p:nvSpPr>
        <p:spPr>
          <a:xfrm>
            <a:off x="205740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17" name="Shape 14"/>
          <p:cNvSpPr/>
          <p:nvPr/>
        </p:nvSpPr>
        <p:spPr>
          <a:xfrm flipV="1">
            <a:off x="2514600" y="3703320"/>
            <a:ext cx="0" cy="320040"/>
          </a:xfrm>
          <a:prstGeom prst="line">
            <a:avLst/>
          </a:prstGeom>
          <a:noFill/>
          <a:ln w="22225">
            <a:solidFill>
              <a:schemeClr val="accent3"/>
            </a:solidFill>
            <a:prstDash val="dash"/>
            <a:tailEnd type="triangle"/>
          </a:ln>
        </p:spPr>
        <p:txBody>
          <a:bodyPr/>
          <a:lstStyle/>
          <a:p>
            <a:endParaRPr lang="en-US"/>
          </a:p>
        </p:txBody>
      </p:sp>
      <p:sp>
        <p:nvSpPr>
          <p:cNvPr id="18" name="Shape 15"/>
          <p:cNvSpPr/>
          <p:nvPr/>
        </p:nvSpPr>
        <p:spPr>
          <a:xfrm>
            <a:off x="2514600" y="2880360"/>
            <a:ext cx="1005840" cy="274320"/>
          </a:xfrm>
          <a:prstGeom prst="line">
            <a:avLst/>
          </a:prstGeom>
          <a:noFill/>
          <a:ln w="22225">
            <a:solidFill>
              <a:schemeClr val="accent5"/>
            </a:solidFill>
            <a:prstDash val="solid"/>
            <a:tailEnd type="triangle"/>
          </a:ln>
        </p:spPr>
        <p:txBody>
          <a:bodyPr/>
          <a:lstStyle/>
          <a:p>
            <a:endParaRPr lang="en-US"/>
          </a:p>
        </p:txBody>
      </p:sp>
      <p:sp>
        <p:nvSpPr>
          <p:cNvPr id="19" name="web pod"/>
          <p:cNvSpPr txBox="1"/>
          <p:nvPr/>
        </p:nvSpPr>
        <p:spPr>
          <a:xfrm>
            <a:off x="306324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20" name="Shape 17"/>
          <p:cNvSpPr/>
          <p:nvPr/>
        </p:nvSpPr>
        <p:spPr>
          <a:xfrm flipV="1">
            <a:off x="3520440" y="3703320"/>
            <a:ext cx="0" cy="320040"/>
          </a:xfrm>
          <a:prstGeom prst="line">
            <a:avLst/>
          </a:prstGeom>
          <a:noFill/>
          <a:ln w="22225">
            <a:solidFill>
              <a:schemeClr val="accent3"/>
            </a:solidFill>
            <a:prstDash val="dash"/>
            <a:tailEnd type="triangle"/>
          </a:ln>
        </p:spPr>
        <p:txBody>
          <a:bodyPr/>
          <a:lstStyle/>
          <a:p>
            <a:endParaRPr lang="en-US"/>
          </a:p>
        </p:txBody>
      </p:sp>
      <p:sp>
        <p:nvSpPr>
          <p:cNvPr id="21" name="service"/>
          <p:cNvSpPr txBox="1"/>
          <p:nvPr/>
        </p:nvSpPr>
        <p:spPr>
          <a:xfrm>
            <a:off x="1051560" y="4023360"/>
            <a:ext cx="2926080" cy="548640"/>
          </a:xfrm>
          <a:prstGeom prst="roundRect">
            <a:avLst>
              <a:gd name="adj" fmla="val 16667"/>
            </a:avLst>
          </a:prstGeom>
          <a:solidFill>
            <a:schemeClr val="accent3"/>
          </a:solidFill>
          <a:ln/>
        </p:spPr>
        <p:txBody>
          <a:bodyPr wrap="square" lIns="76200" tIns="76200" rIns="76200" bIns="76200" rtlCol="0" anchor="ctr"/>
          <a:lstStyle/>
          <a:p>
            <a:pPr marL="0" indent="0" algn="ctr">
              <a:buNone/>
            </a:pPr>
            <a:r>
              <a:rPr lang="en-US" sz="1300" b="1" dirty="0">
                <a:solidFill>
                  <a:schemeClr val="bg1"/>
                </a:solidFill>
              </a:rPr>
              <a:t>Service</a:t>
            </a:r>
            <a:r>
              <a:rPr lang="en-US" sz="1300" dirty="0">
                <a:solidFill>
                  <a:schemeClr val="bg1"/>
                </a:solidFill>
                <a:latin typeface="Courier New" pitchFamily="34" charset="0"/>
                <a:ea typeface="Courier New" pitchFamily="34" charset="-122"/>
                <a:cs typeface="Courier New" pitchFamily="34" charset="-120"/>
              </a:rPr>
              <a:t> web</a:t>
            </a:r>
            <a:endParaRPr lang="en-US" sz="1300" dirty="0"/>
          </a:p>
          <a:p>
            <a:pPr marL="0" indent="0" algn="ctr">
              <a:buNone/>
            </a:pPr>
            <a:r>
              <a:rPr lang="en-US" sz="1100" dirty="0">
                <a:solidFill>
                  <a:schemeClr val="bg1"/>
                </a:solidFill>
              </a:rPr>
              <a:t>created separately · selects app=web</a:t>
            </a:r>
            <a:endParaRPr lang="en-US" sz="1300" dirty="0"/>
          </a:p>
        </p:txBody>
      </p:sp>
      <p:sp>
        <p:nvSpPr>
          <p:cNvPr id="22" name="Text 19"/>
          <p:cNvSpPr txBox="1"/>
          <p:nvPr/>
        </p:nvSpPr>
        <p:spPr>
          <a:xfrm>
            <a:off x="3977640" y="1371600"/>
            <a:ext cx="1325880" cy="594360"/>
          </a:xfrm>
          <a:prstGeom prst="rect">
            <a:avLst/>
          </a:prstGeom>
          <a:noFill/>
          <a:ln/>
        </p:spPr>
        <p:txBody>
          <a:bodyPr wrap="square" lIns="0" tIns="0" rIns="0" bIns="0" rtlCol="0" anchor="ctr"/>
          <a:lstStyle/>
          <a:p>
            <a:pPr marL="0" indent="0" algn="ctr">
              <a:buNone/>
            </a:pPr>
            <a:r>
              <a:rPr lang="en-US" sz="1800" b="1" i="1" dirty="0">
                <a:solidFill>
                  <a:schemeClr val="accent5"/>
                </a:solidFill>
              </a:rPr>
              <a:t>or</a:t>
            </a:r>
            <a:endParaRPr lang="en-US" sz="1800" dirty="0"/>
          </a:p>
        </p:txBody>
      </p:sp>
      <p:sp>
        <p:nvSpPr>
          <p:cNvPr id="23" name="Text 20"/>
          <p:cNvSpPr txBox="1"/>
          <p:nvPr/>
        </p:nvSpPr>
        <p:spPr>
          <a:xfrm>
            <a:off x="5303520" y="1097280"/>
            <a:ext cx="2926080" cy="228600"/>
          </a:xfrm>
          <a:prstGeom prst="rect">
            <a:avLst/>
          </a:prstGeom>
          <a:noFill/>
          <a:ln/>
        </p:spPr>
        <p:txBody>
          <a:bodyPr wrap="square" lIns="0" tIns="0" rIns="0" bIns="0" rtlCol="0" anchor="t"/>
          <a:lstStyle/>
          <a:p>
            <a:pPr marL="0" indent="0" algn="ctr">
              <a:buNone/>
            </a:pPr>
            <a:r>
              <a:rPr lang="en-US" sz="1100" b="1" kern="0" spc="150" dirty="0">
                <a:solidFill>
                  <a:schemeClr val="accent5"/>
                </a:solidFill>
              </a:rPr>
              <a:t>STATEFUL APP</a:t>
            </a:r>
            <a:endParaRPr lang="en-US" sz="1100" dirty="0"/>
          </a:p>
        </p:txBody>
      </p:sp>
      <p:sp>
        <p:nvSpPr>
          <p:cNvPr id="24" name="StatefulSet"/>
          <p:cNvSpPr txBox="1"/>
          <p:nvPr/>
        </p:nvSpPr>
        <p:spPr>
          <a:xfrm>
            <a:off x="5715000" y="1371600"/>
            <a:ext cx="2103120" cy="594360"/>
          </a:xfrm>
          <a:prstGeom prst="roundRect">
            <a:avLst>
              <a:gd name="adj" fmla="val 15385"/>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StatefulSet</a:t>
            </a:r>
            <a:endParaRPr lang="en-US" sz="1300" dirty="0"/>
          </a:p>
          <a:p>
            <a:pPr marL="0" indent="0" algn="ctr">
              <a:buNone/>
            </a:pPr>
            <a:r>
              <a:rPr lang="en-US" sz="1100" dirty="0">
                <a:solidFill>
                  <a:schemeClr val="bg1"/>
                </a:solidFill>
              </a:rPr>
              <a:t>manages pods directly</a:t>
            </a:r>
            <a:endParaRPr lang="en-US" sz="1300" dirty="0"/>
          </a:p>
        </p:txBody>
      </p:sp>
      <p:sp>
        <p:nvSpPr>
          <p:cNvPr id="25" name="Text 22"/>
          <p:cNvSpPr txBox="1"/>
          <p:nvPr/>
        </p:nvSpPr>
        <p:spPr>
          <a:xfrm>
            <a:off x="7543800" y="2331720"/>
            <a:ext cx="1143000" cy="274320"/>
          </a:xfrm>
          <a:prstGeom prst="rect">
            <a:avLst/>
          </a:prstGeom>
          <a:noFill/>
          <a:ln/>
        </p:spPr>
        <p:txBody>
          <a:bodyPr wrap="square" lIns="0" tIns="0" rIns="0" bIns="0" rtlCol="0" anchor="t"/>
          <a:lstStyle/>
          <a:p>
            <a:pPr marL="0" indent="0">
              <a:buNone/>
            </a:pPr>
            <a:r>
              <a:rPr lang="en-US" sz="1100" i="1" dirty="0">
                <a:solidFill>
                  <a:schemeClr val="accent5"/>
                </a:solidFill>
              </a:rPr>
              <a:t>no ReplicaSet</a:t>
            </a:r>
            <a:endParaRPr lang="en-US" sz="1100" dirty="0"/>
          </a:p>
        </p:txBody>
      </p:sp>
      <p:sp>
        <p:nvSpPr>
          <p:cNvPr id="26" name="Shape 23"/>
          <p:cNvSpPr/>
          <p:nvPr/>
        </p:nvSpPr>
        <p:spPr>
          <a:xfrm flipH="1">
            <a:off x="5760720" y="1965960"/>
            <a:ext cx="1005840" cy="1188720"/>
          </a:xfrm>
          <a:prstGeom prst="line">
            <a:avLst/>
          </a:prstGeom>
          <a:noFill/>
          <a:ln w="22225">
            <a:solidFill>
              <a:schemeClr val="accent5"/>
            </a:solidFill>
            <a:prstDash val="solid"/>
            <a:tailEnd type="triangle"/>
          </a:ln>
        </p:spPr>
        <p:txBody>
          <a:bodyPr/>
          <a:lstStyle/>
          <a:p>
            <a:endParaRPr lang="en-US"/>
          </a:p>
        </p:txBody>
      </p:sp>
      <p:sp>
        <p:nvSpPr>
          <p:cNvPr id="27" name="db pod"/>
          <p:cNvSpPr txBox="1"/>
          <p:nvPr/>
        </p:nvSpPr>
        <p:spPr>
          <a:xfrm>
            <a:off x="530352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db-0</a:t>
            </a:r>
            <a:endParaRPr lang="en-US" sz="1300" dirty="0"/>
          </a:p>
        </p:txBody>
      </p:sp>
      <p:sp>
        <p:nvSpPr>
          <p:cNvPr id="28" name="pvc"/>
          <p:cNvSpPr txBox="1"/>
          <p:nvPr/>
        </p:nvSpPr>
        <p:spPr>
          <a:xfrm>
            <a:off x="5303520" y="4023360"/>
            <a:ext cx="914400" cy="548640"/>
          </a:xfrm>
          <a:prstGeom prst="roundRect">
            <a:avLst>
              <a:gd name="adj" fmla="val 16667"/>
            </a:avLst>
          </a:prstGeom>
          <a:solidFill>
            <a:schemeClr val="accent5"/>
          </a:solidFill>
          <a:ln/>
        </p:spPr>
        <p:txBody>
          <a:bodyPr wrap="square" lIns="25400" tIns="25400" rIns="25400" bIns="25400" rtlCol="0" anchor="ctr"/>
          <a:lstStyle/>
          <a:p>
            <a:pPr marL="0" indent="0" algn="ctr">
              <a:buNone/>
            </a:pPr>
            <a:r>
              <a:rPr lang="en-US" sz="1100" b="1" dirty="0">
                <a:solidFill>
                  <a:schemeClr val="bg1"/>
                </a:solidFill>
              </a:rPr>
              <a:t>PVC</a:t>
            </a:r>
            <a:endParaRPr lang="en-US" sz="1300" dirty="0"/>
          </a:p>
          <a:p>
            <a:pPr marL="0" indent="0" algn="ctr">
              <a:buNone/>
            </a:pPr>
            <a:r>
              <a:rPr lang="en-US" sz="900" dirty="0">
                <a:solidFill>
                  <a:schemeClr val="bg1"/>
                </a:solidFill>
                <a:latin typeface="Courier New" pitchFamily="34" charset="0"/>
                <a:ea typeface="Courier New" pitchFamily="34" charset="-122"/>
                <a:cs typeface="Courier New" pitchFamily="34" charset="-120"/>
              </a:rPr>
              <a:t>data-db-0</a:t>
            </a:r>
            <a:endParaRPr lang="en-US" sz="1300" dirty="0"/>
          </a:p>
        </p:txBody>
      </p:sp>
      <p:sp>
        <p:nvSpPr>
          <p:cNvPr id="29" name="Shape 26"/>
          <p:cNvSpPr/>
          <p:nvPr/>
        </p:nvSpPr>
        <p:spPr>
          <a:xfrm>
            <a:off x="5760720" y="3703320"/>
            <a:ext cx="0" cy="320040"/>
          </a:xfrm>
          <a:prstGeom prst="line">
            <a:avLst/>
          </a:prstGeom>
          <a:noFill/>
          <a:ln w="19050">
            <a:solidFill>
              <a:schemeClr val="accent5"/>
            </a:solidFill>
            <a:prstDash val="solid"/>
          </a:ln>
        </p:spPr>
        <p:txBody>
          <a:bodyPr/>
          <a:lstStyle/>
          <a:p>
            <a:endParaRPr lang="en-US"/>
          </a:p>
        </p:txBody>
      </p:sp>
      <p:sp>
        <p:nvSpPr>
          <p:cNvPr id="30" name="Shape 27"/>
          <p:cNvSpPr/>
          <p:nvPr/>
        </p:nvSpPr>
        <p:spPr>
          <a:xfrm>
            <a:off x="6766560" y="1965960"/>
            <a:ext cx="0" cy="1188720"/>
          </a:xfrm>
          <a:prstGeom prst="line">
            <a:avLst/>
          </a:prstGeom>
          <a:noFill/>
          <a:ln w="22225">
            <a:solidFill>
              <a:schemeClr val="accent5"/>
            </a:solidFill>
            <a:prstDash val="solid"/>
            <a:tailEnd type="triangle"/>
          </a:ln>
        </p:spPr>
        <p:txBody>
          <a:bodyPr/>
          <a:lstStyle/>
          <a:p>
            <a:endParaRPr lang="en-US"/>
          </a:p>
        </p:txBody>
      </p:sp>
      <p:sp>
        <p:nvSpPr>
          <p:cNvPr id="31" name="db pod"/>
          <p:cNvSpPr txBox="1"/>
          <p:nvPr/>
        </p:nvSpPr>
        <p:spPr>
          <a:xfrm>
            <a:off x="630936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db-1</a:t>
            </a:r>
            <a:endParaRPr lang="en-US" sz="1300" dirty="0"/>
          </a:p>
        </p:txBody>
      </p:sp>
      <p:sp>
        <p:nvSpPr>
          <p:cNvPr id="32" name="pvc"/>
          <p:cNvSpPr txBox="1"/>
          <p:nvPr/>
        </p:nvSpPr>
        <p:spPr>
          <a:xfrm>
            <a:off x="6309360" y="4023360"/>
            <a:ext cx="914400" cy="548640"/>
          </a:xfrm>
          <a:prstGeom prst="roundRect">
            <a:avLst>
              <a:gd name="adj" fmla="val 16667"/>
            </a:avLst>
          </a:prstGeom>
          <a:solidFill>
            <a:schemeClr val="accent5"/>
          </a:solidFill>
          <a:ln/>
        </p:spPr>
        <p:txBody>
          <a:bodyPr wrap="square" lIns="25400" tIns="25400" rIns="25400" bIns="25400" rtlCol="0" anchor="ctr"/>
          <a:lstStyle/>
          <a:p>
            <a:pPr marL="0" indent="0" algn="ctr">
              <a:buNone/>
            </a:pPr>
            <a:r>
              <a:rPr lang="en-US" sz="1100" b="1" dirty="0">
                <a:solidFill>
                  <a:schemeClr val="bg1"/>
                </a:solidFill>
              </a:rPr>
              <a:t>PVC</a:t>
            </a:r>
            <a:endParaRPr lang="en-US" sz="1300" dirty="0"/>
          </a:p>
          <a:p>
            <a:pPr marL="0" indent="0" algn="ctr">
              <a:buNone/>
            </a:pPr>
            <a:r>
              <a:rPr lang="en-US" sz="900" dirty="0">
                <a:solidFill>
                  <a:schemeClr val="bg1"/>
                </a:solidFill>
                <a:latin typeface="Courier New" pitchFamily="34" charset="0"/>
                <a:ea typeface="Courier New" pitchFamily="34" charset="-122"/>
                <a:cs typeface="Courier New" pitchFamily="34" charset="-120"/>
              </a:rPr>
              <a:t>data-db-1</a:t>
            </a:r>
            <a:endParaRPr lang="en-US" sz="1300" dirty="0"/>
          </a:p>
        </p:txBody>
      </p:sp>
      <p:sp>
        <p:nvSpPr>
          <p:cNvPr id="33" name="Shape 30"/>
          <p:cNvSpPr/>
          <p:nvPr/>
        </p:nvSpPr>
        <p:spPr>
          <a:xfrm>
            <a:off x="6766560" y="3703320"/>
            <a:ext cx="0" cy="320040"/>
          </a:xfrm>
          <a:prstGeom prst="line">
            <a:avLst/>
          </a:prstGeom>
          <a:noFill/>
          <a:ln w="19050">
            <a:solidFill>
              <a:schemeClr val="accent5"/>
            </a:solidFill>
            <a:prstDash val="solid"/>
          </a:ln>
        </p:spPr>
        <p:txBody>
          <a:bodyPr/>
          <a:lstStyle/>
          <a:p>
            <a:endParaRPr lang="en-US"/>
          </a:p>
        </p:txBody>
      </p:sp>
      <p:sp>
        <p:nvSpPr>
          <p:cNvPr id="34" name="Shape 31"/>
          <p:cNvSpPr/>
          <p:nvPr/>
        </p:nvSpPr>
        <p:spPr>
          <a:xfrm>
            <a:off x="6766560" y="1965960"/>
            <a:ext cx="1005840" cy="1188720"/>
          </a:xfrm>
          <a:prstGeom prst="line">
            <a:avLst/>
          </a:prstGeom>
          <a:noFill/>
          <a:ln w="22225">
            <a:solidFill>
              <a:schemeClr val="accent5"/>
            </a:solidFill>
            <a:prstDash val="solid"/>
            <a:tailEnd type="triangle"/>
          </a:ln>
        </p:spPr>
        <p:txBody>
          <a:bodyPr/>
          <a:lstStyle/>
          <a:p>
            <a:endParaRPr lang="en-US"/>
          </a:p>
        </p:txBody>
      </p:sp>
      <p:sp>
        <p:nvSpPr>
          <p:cNvPr id="35" name="db pod"/>
          <p:cNvSpPr txBox="1"/>
          <p:nvPr/>
        </p:nvSpPr>
        <p:spPr>
          <a:xfrm>
            <a:off x="7315200" y="3154680"/>
            <a:ext cx="914400" cy="548640"/>
          </a:xfrm>
          <a:prstGeom prst="roundRect">
            <a:avLst>
              <a:gd name="adj" fmla="val 16667"/>
            </a:avLst>
          </a:prstGeom>
          <a:solidFill>
            <a:schemeClr val="accent1"/>
          </a:solidFill>
          <a:ln/>
        </p:spPr>
        <p:txBody>
          <a:bodyPr wrap="square" lIns="25400" tIns="25400" rIns="25400" bIns="25400" rtlCol="0" anchor="ctr"/>
          <a:lstStyle/>
          <a:p>
            <a:pPr marL="0" indent="0" algn="ctr">
              <a:buNone/>
            </a:pPr>
            <a:r>
              <a:rPr lang="en-US" sz="1200" b="1" dirty="0">
                <a:solidFill>
                  <a:schemeClr val="bg1"/>
                </a:solidFill>
              </a:rPr>
              <a:t>Pod</a:t>
            </a:r>
            <a:endParaRPr lang="en-US" sz="1300" dirty="0"/>
          </a:p>
          <a:p>
            <a:pPr marL="0" indent="0" algn="ctr">
              <a:buNone/>
            </a:pPr>
            <a:r>
              <a:rPr lang="en-US" sz="1000" dirty="0">
                <a:solidFill>
                  <a:schemeClr val="bg1"/>
                </a:solidFill>
                <a:latin typeface="Courier New" pitchFamily="34" charset="0"/>
                <a:ea typeface="Courier New" pitchFamily="34" charset="-122"/>
                <a:cs typeface="Courier New" pitchFamily="34" charset="-120"/>
              </a:rPr>
              <a:t>db-2</a:t>
            </a:r>
            <a:endParaRPr lang="en-US" sz="1300" dirty="0"/>
          </a:p>
        </p:txBody>
      </p:sp>
      <p:sp>
        <p:nvSpPr>
          <p:cNvPr id="36" name="pvc"/>
          <p:cNvSpPr txBox="1"/>
          <p:nvPr/>
        </p:nvSpPr>
        <p:spPr>
          <a:xfrm>
            <a:off x="7315200" y="4023360"/>
            <a:ext cx="914400" cy="548640"/>
          </a:xfrm>
          <a:prstGeom prst="roundRect">
            <a:avLst>
              <a:gd name="adj" fmla="val 16667"/>
            </a:avLst>
          </a:prstGeom>
          <a:solidFill>
            <a:schemeClr val="accent5"/>
          </a:solidFill>
          <a:ln/>
        </p:spPr>
        <p:txBody>
          <a:bodyPr wrap="square" lIns="25400" tIns="25400" rIns="25400" bIns="25400" rtlCol="0" anchor="ctr"/>
          <a:lstStyle/>
          <a:p>
            <a:pPr marL="0" indent="0" algn="ctr">
              <a:buNone/>
            </a:pPr>
            <a:r>
              <a:rPr lang="en-US" sz="1100" b="1" dirty="0">
                <a:solidFill>
                  <a:schemeClr val="bg1"/>
                </a:solidFill>
              </a:rPr>
              <a:t>PVC</a:t>
            </a:r>
            <a:endParaRPr lang="en-US" sz="1300" dirty="0"/>
          </a:p>
          <a:p>
            <a:pPr marL="0" indent="0" algn="ctr">
              <a:buNone/>
            </a:pPr>
            <a:r>
              <a:rPr lang="en-US" sz="900" dirty="0">
                <a:solidFill>
                  <a:schemeClr val="bg1"/>
                </a:solidFill>
                <a:latin typeface="Courier New" pitchFamily="34" charset="0"/>
                <a:ea typeface="Courier New" pitchFamily="34" charset="-122"/>
                <a:cs typeface="Courier New" pitchFamily="34" charset="-120"/>
              </a:rPr>
              <a:t>data-db-2</a:t>
            </a:r>
            <a:endParaRPr lang="en-US" sz="1300" dirty="0"/>
          </a:p>
        </p:txBody>
      </p:sp>
      <p:sp>
        <p:nvSpPr>
          <p:cNvPr id="37" name="Shape 34"/>
          <p:cNvSpPr/>
          <p:nvPr/>
        </p:nvSpPr>
        <p:spPr>
          <a:xfrm>
            <a:off x="7772400" y="3703320"/>
            <a:ext cx="0" cy="320040"/>
          </a:xfrm>
          <a:prstGeom prst="line">
            <a:avLst/>
          </a:prstGeom>
          <a:noFill/>
          <a:ln w="19050">
            <a:solidFill>
              <a:schemeClr val="accent5"/>
            </a:solidFill>
            <a:prstDash val="solid"/>
          </a:ln>
        </p:spPr>
        <p:txBody>
          <a:bodyPr/>
          <a:lstStyle/>
          <a:p>
            <a:endParaRPr lang="en-US"/>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Deployment &amp; ReplicaSet</a:t>
            </a:r>
            <a:endParaRPr lang="en-US" sz="3600" dirty="0"/>
          </a:p>
        </p:txBody>
      </p:sp>
      <p:sp>
        <p:nvSpPr>
          <p:cNvPr id="4" name="deployment"/>
          <p:cNvSpPr txBox="1"/>
          <p:nvPr/>
        </p:nvSpPr>
        <p:spPr>
          <a:xfrm>
            <a:off x="457200" y="1188720"/>
            <a:ext cx="4663440" cy="777240"/>
          </a:xfrm>
          <a:prstGeom prst="roundRect">
            <a:avLst>
              <a:gd name="adj" fmla="val 11765"/>
            </a:avLst>
          </a:prstGeom>
          <a:solidFill>
            <a:schemeClr val="tx2"/>
          </a:solidFill>
          <a:ln/>
        </p:spPr>
        <p:txBody>
          <a:bodyPr wrap="square" lIns="76200" tIns="76200" rIns="76200" bIns="76200" rtlCol="0" anchor="ctr"/>
          <a:lstStyle/>
          <a:p>
            <a:pPr marL="0" indent="0" algn="ctr">
              <a:buNone/>
            </a:pPr>
            <a:r>
              <a:rPr lang="en-US" sz="1600" b="1" dirty="0">
                <a:solidFill>
                  <a:schemeClr val="bg1"/>
                </a:solidFill>
              </a:rPr>
              <a:t>Deployment  </a:t>
            </a:r>
            <a:r>
              <a:rPr lang="en-US" sz="1600" dirty="0">
                <a:solidFill>
                  <a:schemeClr val="accent2"/>
                </a:solidFill>
                <a:latin typeface="Courier New" pitchFamily="34" charset="0"/>
                <a:ea typeface="Courier New" pitchFamily="34" charset="-122"/>
                <a:cs typeface="Courier New" pitchFamily="34" charset="-120"/>
              </a:rPr>
              <a:t>web</a:t>
            </a:r>
            <a:endParaRPr lang="en-US" sz="1300" dirty="0"/>
          </a:p>
          <a:p>
            <a:pPr marL="0" indent="0" algn="ctr">
              <a:buNone/>
            </a:pPr>
            <a:r>
              <a:rPr lang="en-US" sz="1200" dirty="0">
                <a:solidFill>
                  <a:schemeClr val="bg2"/>
                </a:solidFill>
              </a:rPr>
              <a:t>replicas: 3 · image: whoami:v1.10.3</a:t>
            </a:r>
            <a:endParaRPr lang="en-US" sz="1300" dirty="0"/>
          </a:p>
        </p:txBody>
      </p:sp>
      <p:sp>
        <p:nvSpPr>
          <p:cNvPr id="5" name="Shape 2"/>
          <p:cNvSpPr/>
          <p:nvPr/>
        </p:nvSpPr>
        <p:spPr>
          <a:xfrm>
            <a:off x="2788920" y="1965960"/>
            <a:ext cx="0" cy="320040"/>
          </a:xfrm>
          <a:prstGeom prst="line">
            <a:avLst/>
          </a:prstGeom>
          <a:noFill/>
          <a:ln w="22225">
            <a:solidFill>
              <a:schemeClr val="accent5"/>
            </a:solidFill>
            <a:prstDash val="solid"/>
            <a:tailEnd type="triangle"/>
          </a:ln>
        </p:spPr>
        <p:txBody>
          <a:bodyPr/>
          <a:lstStyle/>
          <a:p>
            <a:endParaRPr lang="en-US"/>
          </a:p>
        </p:txBody>
      </p:sp>
      <p:sp>
        <p:nvSpPr>
          <p:cNvPr id="6" name="replicaset"/>
          <p:cNvSpPr txBox="1"/>
          <p:nvPr/>
        </p:nvSpPr>
        <p:spPr>
          <a:xfrm>
            <a:off x="457200" y="2286000"/>
            <a:ext cx="4663440" cy="777240"/>
          </a:xfrm>
          <a:prstGeom prst="roundRect">
            <a:avLst>
              <a:gd name="adj" fmla="val 11765"/>
            </a:avLst>
          </a:prstGeom>
          <a:solidFill>
            <a:schemeClr val="bg2"/>
          </a:solidFill>
          <a:ln w="15875">
            <a:solidFill>
              <a:schemeClr val="accent1"/>
            </a:solidFill>
            <a:prstDash val="solid"/>
          </a:ln>
        </p:spPr>
        <p:txBody>
          <a:bodyPr wrap="square" lIns="76200" tIns="76200" rIns="76200" bIns="76200" rtlCol="0" anchor="ctr"/>
          <a:lstStyle/>
          <a:p>
            <a:pPr marL="0" indent="0" algn="ctr">
              <a:buNone/>
            </a:pPr>
            <a:r>
              <a:rPr lang="en-US" sz="1600" b="1" dirty="0">
                <a:solidFill>
                  <a:schemeClr val="tx1"/>
                </a:solidFill>
              </a:rPr>
              <a:t>ReplicaSet  </a:t>
            </a:r>
            <a:r>
              <a:rPr lang="en-US" sz="1400" dirty="0">
                <a:solidFill>
                  <a:schemeClr val="accent1"/>
                </a:solidFill>
                <a:latin typeface="Courier New" pitchFamily="34" charset="0"/>
                <a:ea typeface="Courier New" pitchFamily="34" charset="-122"/>
                <a:cs typeface="Courier New" pitchFamily="34" charset="-120"/>
              </a:rPr>
              <a:t>web-69854dc446</a:t>
            </a:r>
            <a:endParaRPr lang="en-US" sz="1300" dirty="0"/>
          </a:p>
          <a:p>
            <a:pPr marL="0" indent="0" algn="ctr">
              <a:buNone/>
            </a:pPr>
            <a:r>
              <a:rPr lang="en-US" sz="1200" dirty="0">
                <a:solidFill>
                  <a:schemeClr val="accent5"/>
                </a:solidFill>
              </a:rPr>
              <a:t>keeps exactly 3 pods alive</a:t>
            </a:r>
            <a:endParaRPr lang="en-US" sz="1300" dirty="0"/>
          </a:p>
        </p:txBody>
      </p:sp>
      <p:sp>
        <p:nvSpPr>
          <p:cNvPr id="7" name="Shape 4"/>
          <p:cNvSpPr/>
          <p:nvPr/>
        </p:nvSpPr>
        <p:spPr>
          <a:xfrm>
            <a:off x="1165860" y="3063240"/>
            <a:ext cx="0" cy="365760"/>
          </a:xfrm>
          <a:prstGeom prst="line">
            <a:avLst/>
          </a:prstGeom>
          <a:noFill/>
          <a:ln w="22225">
            <a:solidFill>
              <a:schemeClr val="accent5"/>
            </a:solidFill>
            <a:prstDash val="solid"/>
            <a:tailEnd type="triangle"/>
          </a:ln>
        </p:spPr>
        <p:txBody>
          <a:bodyPr/>
          <a:lstStyle/>
          <a:p>
            <a:endParaRPr lang="en-US"/>
          </a:p>
        </p:txBody>
      </p:sp>
      <p:sp>
        <p:nvSpPr>
          <p:cNvPr id="8" name="pod 45zpm"/>
          <p:cNvSpPr txBox="1"/>
          <p:nvPr/>
        </p:nvSpPr>
        <p:spPr>
          <a:xfrm>
            <a:off x="457200" y="3429000"/>
            <a:ext cx="1417320" cy="777240"/>
          </a:xfrm>
          <a:prstGeom prst="roundRect">
            <a:avLst>
              <a:gd name="adj" fmla="val 11765"/>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100" dirty="0">
                <a:solidFill>
                  <a:schemeClr val="bg1"/>
                </a:solidFill>
                <a:latin typeface="Courier New" pitchFamily="34" charset="0"/>
                <a:ea typeface="Courier New" pitchFamily="34" charset="-122"/>
                <a:cs typeface="Courier New" pitchFamily="34" charset="-120"/>
              </a:rPr>
              <a:t>…-45zpm</a:t>
            </a:r>
            <a:endParaRPr lang="en-US" sz="1300" dirty="0"/>
          </a:p>
        </p:txBody>
      </p:sp>
      <p:sp>
        <p:nvSpPr>
          <p:cNvPr id="9" name="Shape 6"/>
          <p:cNvSpPr/>
          <p:nvPr/>
        </p:nvSpPr>
        <p:spPr>
          <a:xfrm>
            <a:off x="2788920" y="3063240"/>
            <a:ext cx="0" cy="365760"/>
          </a:xfrm>
          <a:prstGeom prst="line">
            <a:avLst/>
          </a:prstGeom>
          <a:noFill/>
          <a:ln w="22225">
            <a:solidFill>
              <a:schemeClr val="accent5"/>
            </a:solidFill>
            <a:prstDash val="solid"/>
            <a:tailEnd type="triangle"/>
          </a:ln>
        </p:spPr>
        <p:txBody>
          <a:bodyPr/>
          <a:lstStyle/>
          <a:p>
            <a:endParaRPr lang="en-US"/>
          </a:p>
        </p:txBody>
      </p:sp>
      <p:sp>
        <p:nvSpPr>
          <p:cNvPr id="10" name="pod tj9xt"/>
          <p:cNvSpPr txBox="1"/>
          <p:nvPr/>
        </p:nvSpPr>
        <p:spPr>
          <a:xfrm>
            <a:off x="2080260" y="3429000"/>
            <a:ext cx="1417320" cy="777240"/>
          </a:xfrm>
          <a:prstGeom prst="roundRect">
            <a:avLst>
              <a:gd name="adj" fmla="val 11765"/>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100" dirty="0">
                <a:solidFill>
                  <a:schemeClr val="bg1"/>
                </a:solidFill>
                <a:latin typeface="Courier New" pitchFamily="34" charset="0"/>
                <a:ea typeface="Courier New" pitchFamily="34" charset="-122"/>
                <a:cs typeface="Courier New" pitchFamily="34" charset="-120"/>
              </a:rPr>
              <a:t>…-tj9xt</a:t>
            </a:r>
            <a:endParaRPr lang="en-US" sz="1300" dirty="0"/>
          </a:p>
        </p:txBody>
      </p:sp>
      <p:sp>
        <p:nvSpPr>
          <p:cNvPr id="11" name="Shape 8"/>
          <p:cNvSpPr/>
          <p:nvPr/>
        </p:nvSpPr>
        <p:spPr>
          <a:xfrm>
            <a:off x="4411980" y="3063240"/>
            <a:ext cx="0" cy="365760"/>
          </a:xfrm>
          <a:prstGeom prst="line">
            <a:avLst/>
          </a:prstGeom>
          <a:noFill/>
          <a:ln w="22225">
            <a:solidFill>
              <a:schemeClr val="accent5"/>
            </a:solidFill>
            <a:prstDash val="solid"/>
            <a:tailEnd type="triangle"/>
          </a:ln>
        </p:spPr>
        <p:txBody>
          <a:bodyPr/>
          <a:lstStyle/>
          <a:p>
            <a:endParaRPr lang="en-US"/>
          </a:p>
        </p:txBody>
      </p:sp>
      <p:sp>
        <p:nvSpPr>
          <p:cNvPr id="12" name="pod xklqd"/>
          <p:cNvSpPr txBox="1"/>
          <p:nvPr/>
        </p:nvSpPr>
        <p:spPr>
          <a:xfrm>
            <a:off x="3703320" y="3429000"/>
            <a:ext cx="1417320" cy="777240"/>
          </a:xfrm>
          <a:prstGeom prst="roundRect">
            <a:avLst>
              <a:gd name="adj" fmla="val 11765"/>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100" dirty="0">
                <a:solidFill>
                  <a:schemeClr val="bg1"/>
                </a:solidFill>
                <a:latin typeface="Courier New" pitchFamily="34" charset="0"/>
                <a:ea typeface="Courier New" pitchFamily="34" charset="-122"/>
                <a:cs typeface="Courier New" pitchFamily="34" charset="-120"/>
              </a:rPr>
              <a:t>…-xklqd</a:t>
            </a:r>
            <a:endParaRPr lang="en-US" sz="1300" dirty="0"/>
          </a:p>
        </p:txBody>
      </p:sp>
      <p:sp>
        <p:nvSpPr>
          <p:cNvPr id="13" name="dot 1"/>
          <p:cNvSpPr txBox="1"/>
          <p:nvPr/>
        </p:nvSpPr>
        <p:spPr>
          <a:xfrm>
            <a:off x="5486400" y="1207008"/>
            <a:ext cx="384048" cy="384048"/>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4" name="Self-healing"/>
          <p:cNvSpPr txBox="1"/>
          <p:nvPr/>
        </p:nvSpPr>
        <p:spPr>
          <a:xfrm>
            <a:off x="6035040" y="1188720"/>
            <a:ext cx="265176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Self-healing</a:t>
            </a:r>
            <a:endParaRPr lang="en-US" sz="1400" dirty="0"/>
          </a:p>
          <a:p>
            <a:pPr marL="0" indent="0">
              <a:spcAft>
                <a:spcPts val="200"/>
              </a:spcAft>
              <a:buNone/>
            </a:pPr>
            <a:r>
              <a:rPr lang="en-US" sz="1400" dirty="0">
                <a:solidFill>
                  <a:schemeClr val="accent5"/>
                </a:solidFill>
              </a:rPr>
              <a:t>A pod dies → the ReplicaSet makes a new one</a:t>
            </a:r>
            <a:endParaRPr lang="en-US" sz="1400" dirty="0"/>
          </a:p>
        </p:txBody>
      </p:sp>
      <p:sp>
        <p:nvSpPr>
          <p:cNvPr id="15" name="dot 2"/>
          <p:cNvSpPr txBox="1"/>
          <p:nvPr/>
        </p:nvSpPr>
        <p:spPr>
          <a:xfrm>
            <a:off x="5486400" y="225856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6" name="Scaling"/>
          <p:cNvSpPr txBox="1"/>
          <p:nvPr/>
        </p:nvSpPr>
        <p:spPr>
          <a:xfrm>
            <a:off x="6035040" y="2240280"/>
            <a:ext cx="265176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Scaling</a:t>
            </a:r>
            <a:endParaRPr lang="en-US" sz="1400" dirty="0"/>
          </a:p>
          <a:p>
            <a:pPr marL="0" indent="0">
              <a:spcAft>
                <a:spcPts val="200"/>
              </a:spcAft>
              <a:buNone/>
            </a:pPr>
            <a:r>
              <a:rPr lang="en-US" sz="1400" dirty="0">
                <a:solidFill>
                  <a:schemeClr val="accent5"/>
                </a:solidFill>
              </a:rPr>
              <a:t>Change replicas 3 → 5, get 2 more pods</a:t>
            </a:r>
            <a:endParaRPr lang="en-US" sz="1400" dirty="0"/>
          </a:p>
        </p:txBody>
      </p:sp>
      <p:sp>
        <p:nvSpPr>
          <p:cNvPr id="17" name="dot 3"/>
          <p:cNvSpPr txBox="1"/>
          <p:nvPr/>
        </p:nvSpPr>
        <p:spPr>
          <a:xfrm>
            <a:off x="5486400" y="33101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8" name="Rolling updates"/>
          <p:cNvSpPr txBox="1"/>
          <p:nvPr/>
        </p:nvSpPr>
        <p:spPr>
          <a:xfrm>
            <a:off x="6035040" y="3291840"/>
            <a:ext cx="265176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Rolling updates</a:t>
            </a:r>
            <a:endParaRPr lang="en-US" sz="1400" dirty="0"/>
          </a:p>
          <a:p>
            <a:pPr marL="0" indent="0">
              <a:spcAft>
                <a:spcPts val="200"/>
              </a:spcAft>
              <a:buNone/>
            </a:pPr>
            <a:r>
              <a:rPr lang="en-US" sz="1400" dirty="0">
                <a:solidFill>
                  <a:schemeClr val="accent5"/>
                </a:solidFill>
              </a:rPr>
              <a:t>New version rolls out pod by pod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Labels and selectors</a:t>
            </a:r>
            <a:endParaRPr lang="en-US" sz="3600" dirty="0"/>
          </a:p>
        </p:txBody>
      </p:sp>
      <p:sp>
        <p:nvSpPr>
          <p:cNvPr id="4" name="selector"/>
          <p:cNvSpPr txBox="1"/>
          <p:nvPr/>
        </p:nvSpPr>
        <p:spPr>
          <a:xfrm>
            <a:off x="457200" y="1188720"/>
            <a:ext cx="2926080" cy="1325880"/>
          </a:xfrm>
          <a:prstGeom prst="roundRect">
            <a:avLst>
              <a:gd name="adj" fmla="val 5517"/>
            </a:avLst>
          </a:prstGeom>
          <a:solidFill>
            <a:schemeClr val="tx1"/>
          </a:solidFill>
          <a:ln/>
        </p:spPr>
        <p:txBody>
          <a:bodyPr wrap="square" lIns="228600" tIns="228600" rIns="228600" bIns="228600" rtlCol="0" anchor="ctr"/>
          <a:lstStyle/>
          <a:p>
            <a:pPr marL="0" indent="0" algn="l">
              <a:buNone/>
            </a:pPr>
            <a:r>
              <a:rPr lang="en-US" sz="1800" dirty="0">
                <a:solidFill>
                  <a:schemeClr val="bg1"/>
                </a:solidFill>
                <a:latin typeface="Courier New" pitchFamily="34" charset="0"/>
                <a:ea typeface="Courier New" pitchFamily="34" charset="-122"/>
                <a:cs typeface="Courier New" pitchFamily="34" charset="-120"/>
              </a:rPr>
              <a:t>selector:</a:t>
            </a:r>
            <a:endParaRPr lang="en-US" sz="1800" dirty="0"/>
          </a:p>
          <a:p>
            <a:pPr marL="0" indent="0" algn="l">
              <a:buNone/>
            </a:pPr>
            <a:r>
              <a:rPr lang="en-US" sz="1800" dirty="0">
                <a:solidFill>
                  <a:schemeClr val="accent2"/>
                </a:solidFill>
                <a:latin typeface="Courier New" pitchFamily="34" charset="0"/>
                <a:ea typeface="Courier New" pitchFamily="34" charset="-122"/>
                <a:cs typeface="Courier New" pitchFamily="34" charset="-120"/>
              </a:rPr>
              <a:t>  app: web</a:t>
            </a:r>
            <a:endParaRPr lang="en-US" sz="1800" dirty="0"/>
          </a:p>
        </p:txBody>
      </p:sp>
      <p:sp>
        <p:nvSpPr>
          <p:cNvPr id="5" name="Text 2"/>
          <p:cNvSpPr txBox="1"/>
          <p:nvPr/>
        </p:nvSpPr>
        <p:spPr>
          <a:xfrm>
            <a:off x="457200" y="2697480"/>
            <a:ext cx="2926080" cy="685800"/>
          </a:xfrm>
          <a:prstGeom prst="rect">
            <a:avLst/>
          </a:prstGeom>
          <a:noFill/>
          <a:ln/>
        </p:spPr>
        <p:txBody>
          <a:bodyPr wrap="square" lIns="0" tIns="0" rIns="0" bIns="0" rtlCol="0" anchor="t"/>
          <a:lstStyle/>
          <a:p>
            <a:pPr marL="0" indent="0">
              <a:buNone/>
            </a:pPr>
            <a:r>
              <a:rPr lang="en-US" sz="1400" dirty="0">
                <a:solidFill>
                  <a:schemeClr val="accent5"/>
                </a:solidFill>
              </a:rPr>
              <a:t>A selector is a query: “give me every pod labelled app=web”</a:t>
            </a:r>
            <a:endParaRPr lang="en-US" sz="1400" dirty="0"/>
          </a:p>
        </p:txBody>
      </p:sp>
      <p:sp>
        <p:nvSpPr>
          <p:cNvPr id="6" name="pod 1"/>
          <p:cNvSpPr txBox="1"/>
          <p:nvPr/>
        </p:nvSpPr>
        <p:spPr>
          <a:xfrm>
            <a:off x="3794760" y="1188720"/>
            <a:ext cx="1508760" cy="914400"/>
          </a:xfrm>
          <a:prstGeom prst="roundRect">
            <a:avLst>
              <a:gd name="adj" fmla="val 10000"/>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2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7" name="pod 2"/>
          <p:cNvSpPr txBox="1"/>
          <p:nvPr/>
        </p:nvSpPr>
        <p:spPr>
          <a:xfrm>
            <a:off x="5440680" y="1188720"/>
            <a:ext cx="1508760" cy="914400"/>
          </a:xfrm>
          <a:prstGeom prst="roundRect">
            <a:avLst>
              <a:gd name="adj" fmla="val 10000"/>
            </a:avLst>
          </a:prstGeom>
          <a:solidFill>
            <a:schemeClr val="bg2"/>
          </a:solidFill>
          <a:ln/>
        </p:spPr>
        <p:txBody>
          <a:bodyPr wrap="square" lIns="76200" tIns="76200" rIns="76200" bIns="76200" rtlCol="0" anchor="ctr"/>
          <a:lstStyle/>
          <a:p>
            <a:pPr marL="0" indent="0" algn="ctr">
              <a:buNone/>
            </a:pPr>
            <a:r>
              <a:rPr lang="en-US" sz="1300" b="1" dirty="0">
                <a:solidFill>
                  <a:schemeClr val="accent5"/>
                </a:solidFill>
              </a:rPr>
              <a:t>Pod</a:t>
            </a:r>
            <a:endParaRPr lang="en-US" sz="1300" dirty="0"/>
          </a:p>
          <a:p>
            <a:pPr marL="0" indent="0" algn="ctr">
              <a:buNone/>
            </a:pPr>
            <a:r>
              <a:rPr lang="en-US" sz="1200" dirty="0">
                <a:solidFill>
                  <a:schemeClr val="accent5"/>
                </a:solidFill>
                <a:latin typeface="Courier New" pitchFamily="34" charset="0"/>
                <a:ea typeface="Courier New" pitchFamily="34" charset="-122"/>
                <a:cs typeface="Courier New" pitchFamily="34" charset="-120"/>
              </a:rPr>
              <a:t>app=db</a:t>
            </a:r>
            <a:endParaRPr lang="en-US" sz="1300" dirty="0"/>
          </a:p>
        </p:txBody>
      </p:sp>
      <p:sp>
        <p:nvSpPr>
          <p:cNvPr id="8" name="pod 3"/>
          <p:cNvSpPr txBox="1"/>
          <p:nvPr/>
        </p:nvSpPr>
        <p:spPr>
          <a:xfrm>
            <a:off x="7086600" y="1188720"/>
            <a:ext cx="1508760" cy="914400"/>
          </a:xfrm>
          <a:prstGeom prst="roundRect">
            <a:avLst>
              <a:gd name="adj" fmla="val 10000"/>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2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9" name="pod 4"/>
          <p:cNvSpPr txBox="1"/>
          <p:nvPr/>
        </p:nvSpPr>
        <p:spPr>
          <a:xfrm>
            <a:off x="3794760" y="2286000"/>
            <a:ext cx="1508760" cy="914400"/>
          </a:xfrm>
          <a:prstGeom prst="roundRect">
            <a:avLst>
              <a:gd name="adj" fmla="val 10000"/>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a:t>
            </a:r>
            <a:endParaRPr lang="en-US" sz="1300" dirty="0"/>
          </a:p>
          <a:p>
            <a:pPr marL="0" indent="0" algn="ctr">
              <a:buNone/>
            </a:pPr>
            <a:r>
              <a:rPr lang="en-US" sz="1200" dirty="0">
                <a:solidFill>
                  <a:schemeClr val="bg1"/>
                </a:solidFill>
                <a:latin typeface="Courier New" pitchFamily="34" charset="0"/>
                <a:ea typeface="Courier New" pitchFamily="34" charset="-122"/>
                <a:cs typeface="Courier New" pitchFamily="34" charset="-120"/>
              </a:rPr>
              <a:t>app=web</a:t>
            </a:r>
            <a:endParaRPr lang="en-US" sz="1300" dirty="0"/>
          </a:p>
        </p:txBody>
      </p:sp>
      <p:sp>
        <p:nvSpPr>
          <p:cNvPr id="10" name="pod 5"/>
          <p:cNvSpPr txBox="1"/>
          <p:nvPr/>
        </p:nvSpPr>
        <p:spPr>
          <a:xfrm>
            <a:off x="5440680" y="2286000"/>
            <a:ext cx="1508760" cy="914400"/>
          </a:xfrm>
          <a:prstGeom prst="roundRect">
            <a:avLst>
              <a:gd name="adj" fmla="val 10000"/>
            </a:avLst>
          </a:prstGeom>
          <a:solidFill>
            <a:schemeClr val="bg2"/>
          </a:solidFill>
          <a:ln/>
        </p:spPr>
        <p:txBody>
          <a:bodyPr wrap="square" lIns="76200" tIns="76200" rIns="76200" bIns="76200" rtlCol="0" anchor="ctr"/>
          <a:lstStyle/>
          <a:p>
            <a:pPr marL="0" indent="0" algn="ctr">
              <a:buNone/>
            </a:pPr>
            <a:r>
              <a:rPr lang="en-US" sz="1300" b="1" dirty="0">
                <a:solidFill>
                  <a:schemeClr val="accent5"/>
                </a:solidFill>
              </a:rPr>
              <a:t>Pod</a:t>
            </a:r>
            <a:endParaRPr lang="en-US" sz="1300" dirty="0"/>
          </a:p>
          <a:p>
            <a:pPr marL="0" indent="0" algn="ctr">
              <a:buNone/>
            </a:pPr>
            <a:r>
              <a:rPr lang="en-US" sz="1200" dirty="0">
                <a:solidFill>
                  <a:schemeClr val="accent5"/>
                </a:solidFill>
                <a:latin typeface="Courier New" pitchFamily="34" charset="0"/>
                <a:ea typeface="Courier New" pitchFamily="34" charset="-122"/>
                <a:cs typeface="Courier New" pitchFamily="34" charset="-120"/>
              </a:rPr>
              <a:t>no label</a:t>
            </a:r>
            <a:endParaRPr lang="en-US" sz="1300" dirty="0"/>
          </a:p>
        </p:txBody>
      </p:sp>
      <p:sp>
        <p:nvSpPr>
          <p:cNvPr id="11" name="Text 8"/>
          <p:cNvSpPr txBox="1"/>
          <p:nvPr/>
        </p:nvSpPr>
        <p:spPr>
          <a:xfrm>
            <a:off x="7086600" y="2286000"/>
            <a:ext cx="1600200" cy="914400"/>
          </a:xfrm>
          <a:prstGeom prst="rect">
            <a:avLst/>
          </a:prstGeom>
          <a:noFill/>
          <a:ln/>
        </p:spPr>
        <p:txBody>
          <a:bodyPr wrap="square" lIns="0" tIns="0" rIns="0" bIns="0" rtlCol="0" anchor="ctr"/>
          <a:lstStyle/>
          <a:p>
            <a:pPr marL="0" indent="0">
              <a:buNone/>
            </a:pPr>
            <a:r>
              <a:rPr lang="en-US" sz="1200" dirty="0">
                <a:solidFill>
                  <a:schemeClr val="accent5"/>
                </a:solidFill>
              </a:rPr>
              <a:t>Blue = matched by the selector. Grey pods are invisible to it.</a:t>
            </a:r>
            <a:endParaRPr lang="en-US" sz="1200" dirty="0"/>
          </a:p>
        </p:txBody>
      </p:sp>
      <p:sp>
        <p:nvSpPr>
          <p:cNvPr id="12" name="labels takeaway"/>
          <p:cNvSpPr txBox="1"/>
          <p:nvPr/>
        </p:nvSpPr>
        <p:spPr>
          <a:xfrm>
            <a:off x="457200" y="3611880"/>
            <a:ext cx="8229600" cy="868680"/>
          </a:xfrm>
          <a:prstGeom prst="roundRect">
            <a:avLst>
              <a:gd name="adj" fmla="val 10526"/>
            </a:avLst>
          </a:prstGeom>
          <a:solidFill>
            <a:schemeClr val="bg2"/>
          </a:solidFill>
          <a:ln/>
        </p:spPr>
        <p:txBody>
          <a:bodyPr wrap="square" lIns="177800" tIns="177800" rIns="177800" bIns="177800" rtlCol="0" anchor="ctr"/>
          <a:lstStyle/>
          <a:p>
            <a:pPr marL="0" indent="0" algn="l">
              <a:buNone/>
            </a:pPr>
            <a:r>
              <a:rPr lang="en-US" sz="1500" b="1" dirty="0">
                <a:solidFill>
                  <a:schemeClr val="tx1"/>
                </a:solidFill>
              </a:rPr>
              <a:t>Labels are sticky notes. </a:t>
            </a:r>
            <a:r>
              <a:rPr lang="en-US" sz="1500" dirty="0">
                <a:solidFill>
                  <a:schemeClr val="tx1"/>
                </a:solidFill>
              </a:rPr>
              <a:t>Deployments, ReplicaSets and Services find their pods only by label: remove the label and the pod is no longer theirs.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Rolling updates</a:t>
            </a:r>
            <a:endParaRPr lang="en-US" sz="3600" dirty="0"/>
          </a:p>
        </p:txBody>
      </p:sp>
      <p:sp>
        <p:nvSpPr>
          <p:cNvPr id="4" name="Text 1"/>
          <p:cNvSpPr txBox="1"/>
          <p:nvPr/>
        </p:nvSpPr>
        <p:spPr>
          <a:xfrm>
            <a:off x="2377440" y="1188720"/>
            <a:ext cx="1463040" cy="320040"/>
          </a:xfrm>
          <a:prstGeom prst="rect">
            <a:avLst/>
          </a:prstGeom>
          <a:noFill/>
          <a:ln/>
        </p:spPr>
        <p:txBody>
          <a:bodyPr wrap="square" lIns="0" tIns="0" rIns="0" bIns="0" rtlCol="0" anchor="t"/>
          <a:lstStyle/>
          <a:p>
            <a:pPr marL="0" indent="0" algn="ctr">
              <a:buNone/>
            </a:pPr>
            <a:r>
              <a:rPr lang="en-US" sz="1300" b="1" dirty="0">
                <a:solidFill>
                  <a:schemeClr val="accent5"/>
                </a:solidFill>
              </a:rPr>
              <a:t>Start</a:t>
            </a:r>
            <a:endParaRPr lang="en-US" sz="1300" dirty="0"/>
          </a:p>
        </p:txBody>
      </p:sp>
      <p:sp>
        <p:nvSpPr>
          <p:cNvPr id="5" name="Text 2"/>
          <p:cNvSpPr txBox="1"/>
          <p:nvPr/>
        </p:nvSpPr>
        <p:spPr>
          <a:xfrm>
            <a:off x="3995928" y="1188720"/>
            <a:ext cx="1463040" cy="320040"/>
          </a:xfrm>
          <a:prstGeom prst="rect">
            <a:avLst/>
          </a:prstGeom>
          <a:noFill/>
          <a:ln/>
        </p:spPr>
        <p:txBody>
          <a:bodyPr wrap="square" lIns="0" tIns="0" rIns="0" bIns="0" rtlCol="0" anchor="t"/>
          <a:lstStyle/>
          <a:p>
            <a:pPr marL="0" indent="0" algn="ctr">
              <a:buNone/>
            </a:pPr>
            <a:r>
              <a:rPr lang="en-US" sz="1300" b="1" dirty="0">
                <a:solidFill>
                  <a:schemeClr val="accent5"/>
                </a:solidFill>
              </a:rPr>
              <a:t>Step 1</a:t>
            </a:r>
            <a:endParaRPr lang="en-US" sz="1300" dirty="0"/>
          </a:p>
        </p:txBody>
      </p:sp>
      <p:sp>
        <p:nvSpPr>
          <p:cNvPr id="6" name="Text 3"/>
          <p:cNvSpPr txBox="1"/>
          <p:nvPr/>
        </p:nvSpPr>
        <p:spPr>
          <a:xfrm>
            <a:off x="5614416" y="1188720"/>
            <a:ext cx="1463040" cy="320040"/>
          </a:xfrm>
          <a:prstGeom prst="rect">
            <a:avLst/>
          </a:prstGeom>
          <a:noFill/>
          <a:ln/>
        </p:spPr>
        <p:txBody>
          <a:bodyPr wrap="square" lIns="0" tIns="0" rIns="0" bIns="0" rtlCol="0" anchor="t"/>
          <a:lstStyle/>
          <a:p>
            <a:pPr marL="0" indent="0" algn="ctr">
              <a:buNone/>
            </a:pPr>
            <a:r>
              <a:rPr lang="en-US" sz="1300" b="1" dirty="0">
                <a:solidFill>
                  <a:schemeClr val="accent5"/>
                </a:solidFill>
              </a:rPr>
              <a:t>Step 2</a:t>
            </a:r>
            <a:endParaRPr lang="en-US" sz="1300" dirty="0"/>
          </a:p>
        </p:txBody>
      </p:sp>
      <p:sp>
        <p:nvSpPr>
          <p:cNvPr id="7" name="Text 4"/>
          <p:cNvSpPr txBox="1"/>
          <p:nvPr/>
        </p:nvSpPr>
        <p:spPr>
          <a:xfrm>
            <a:off x="7232904" y="1188720"/>
            <a:ext cx="1463040" cy="320040"/>
          </a:xfrm>
          <a:prstGeom prst="rect">
            <a:avLst/>
          </a:prstGeom>
          <a:noFill/>
          <a:ln/>
        </p:spPr>
        <p:txBody>
          <a:bodyPr wrap="square" lIns="0" tIns="0" rIns="0" bIns="0" rtlCol="0" anchor="t"/>
          <a:lstStyle/>
          <a:p>
            <a:pPr marL="0" indent="0" algn="ctr">
              <a:buNone/>
            </a:pPr>
            <a:r>
              <a:rPr lang="en-US" sz="1300" b="1" dirty="0">
                <a:solidFill>
                  <a:schemeClr val="accent5"/>
                </a:solidFill>
              </a:rPr>
              <a:t>Done</a:t>
            </a:r>
            <a:endParaRPr lang="en-US" sz="1300" dirty="0"/>
          </a:p>
        </p:txBody>
      </p:sp>
      <p:sp>
        <p:nvSpPr>
          <p:cNvPr id="8" name="Text 5"/>
          <p:cNvSpPr txBox="1"/>
          <p:nvPr/>
        </p:nvSpPr>
        <p:spPr>
          <a:xfrm>
            <a:off x="457200" y="1600200"/>
            <a:ext cx="1783080" cy="822960"/>
          </a:xfrm>
          <a:prstGeom prst="rect">
            <a:avLst/>
          </a:prstGeom>
          <a:noFill/>
          <a:ln/>
        </p:spPr>
        <p:txBody>
          <a:bodyPr wrap="square" lIns="0" tIns="0" rIns="0" bIns="0" rtlCol="0" anchor="ctr"/>
          <a:lstStyle/>
          <a:p>
            <a:pPr marL="0" indent="0">
              <a:buNone/>
            </a:pPr>
            <a:r>
              <a:rPr lang="en-US" sz="1500" b="1" dirty="0">
                <a:solidFill>
                  <a:schemeClr val="tx1"/>
                </a:solidFill>
              </a:rPr>
              <a:t>Old ReplicaSet</a:t>
            </a:r>
            <a:endParaRPr lang="en-US" sz="1400" dirty="0"/>
          </a:p>
          <a:p>
            <a:pPr marL="0" indent="0">
              <a:buNone/>
            </a:pPr>
            <a:r>
              <a:rPr lang="en-US" sz="1200" dirty="0">
                <a:solidFill>
                  <a:schemeClr val="accent1"/>
                </a:solidFill>
                <a:latin typeface="Courier New" pitchFamily="34" charset="0"/>
                <a:ea typeface="Courier New" pitchFamily="34" charset="-122"/>
                <a:cs typeface="Courier New" pitchFamily="34" charset="-120"/>
              </a:rPr>
              <a:t>v1.10.3</a:t>
            </a:r>
            <a:endParaRPr lang="en-US" sz="1400" dirty="0"/>
          </a:p>
        </p:txBody>
      </p:sp>
      <p:sp>
        <p:nvSpPr>
          <p:cNvPr id="9" name="Old ReplicaSet Start"/>
          <p:cNvSpPr txBox="1"/>
          <p:nvPr/>
        </p:nvSpPr>
        <p:spPr>
          <a:xfrm>
            <a:off x="2377440" y="160020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10" name="slot"/>
          <p:cNvSpPr txBox="1"/>
          <p:nvPr/>
        </p:nvSpPr>
        <p:spPr>
          <a:xfrm>
            <a:off x="2523744"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1" name="slot"/>
          <p:cNvSpPr txBox="1"/>
          <p:nvPr/>
        </p:nvSpPr>
        <p:spPr>
          <a:xfrm>
            <a:off x="2944368"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2" name="slot"/>
          <p:cNvSpPr txBox="1"/>
          <p:nvPr/>
        </p:nvSpPr>
        <p:spPr>
          <a:xfrm>
            <a:off x="3364992"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3" name="Old ReplicaSet Step 1"/>
          <p:cNvSpPr txBox="1"/>
          <p:nvPr/>
        </p:nvSpPr>
        <p:spPr>
          <a:xfrm>
            <a:off x="3995928" y="160020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14" name="slot"/>
          <p:cNvSpPr txBox="1"/>
          <p:nvPr/>
        </p:nvSpPr>
        <p:spPr>
          <a:xfrm>
            <a:off x="4142232"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5" name="slot"/>
          <p:cNvSpPr txBox="1"/>
          <p:nvPr/>
        </p:nvSpPr>
        <p:spPr>
          <a:xfrm>
            <a:off x="4562856"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6" name="slot"/>
          <p:cNvSpPr txBox="1"/>
          <p:nvPr/>
        </p:nvSpPr>
        <p:spPr>
          <a:xfrm>
            <a:off x="4983480"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17" name="Old ReplicaSet Step 2"/>
          <p:cNvSpPr txBox="1"/>
          <p:nvPr/>
        </p:nvSpPr>
        <p:spPr>
          <a:xfrm>
            <a:off x="5614416" y="160020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18" name="slot"/>
          <p:cNvSpPr txBox="1"/>
          <p:nvPr/>
        </p:nvSpPr>
        <p:spPr>
          <a:xfrm>
            <a:off x="5760720" y="1847088"/>
            <a:ext cx="329184" cy="329184"/>
          </a:xfrm>
          <a:prstGeom prst="roundRect">
            <a:avLst>
              <a:gd name="adj" fmla="val 16667"/>
            </a:avLst>
          </a:prstGeom>
          <a:solidFill>
            <a:schemeClr val="accent1"/>
          </a:solidFill>
          <a:ln/>
        </p:spPr>
        <p:txBody>
          <a:bodyPr wrap="square" lIns="76200" tIns="76200" rIns="76200" bIns="76200" rtlCol="0" anchor="ctr"/>
          <a:lstStyle/>
          <a:p>
            <a:pPr marL="0" indent="0" algn="ctr">
              <a:buNone/>
            </a:pPr>
            <a:endParaRPr lang="en-US" sz="1300" dirty="0"/>
          </a:p>
        </p:txBody>
      </p:sp>
      <p:sp>
        <p:nvSpPr>
          <p:cNvPr id="19" name="slot"/>
          <p:cNvSpPr txBox="1"/>
          <p:nvPr/>
        </p:nvSpPr>
        <p:spPr>
          <a:xfrm>
            <a:off x="6181344"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0" name="slot"/>
          <p:cNvSpPr txBox="1"/>
          <p:nvPr/>
        </p:nvSpPr>
        <p:spPr>
          <a:xfrm>
            <a:off x="6601968"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1" name="Old ReplicaSet Done"/>
          <p:cNvSpPr txBox="1"/>
          <p:nvPr/>
        </p:nvSpPr>
        <p:spPr>
          <a:xfrm>
            <a:off x="7232904" y="160020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22" name="slot"/>
          <p:cNvSpPr txBox="1"/>
          <p:nvPr/>
        </p:nvSpPr>
        <p:spPr>
          <a:xfrm>
            <a:off x="7379208"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3" name="slot"/>
          <p:cNvSpPr txBox="1"/>
          <p:nvPr/>
        </p:nvSpPr>
        <p:spPr>
          <a:xfrm>
            <a:off x="7799832"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4" name="slot"/>
          <p:cNvSpPr txBox="1"/>
          <p:nvPr/>
        </p:nvSpPr>
        <p:spPr>
          <a:xfrm>
            <a:off x="8220456" y="184708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5" name="Text 22"/>
          <p:cNvSpPr txBox="1"/>
          <p:nvPr/>
        </p:nvSpPr>
        <p:spPr>
          <a:xfrm>
            <a:off x="457200" y="2560320"/>
            <a:ext cx="1783080" cy="822960"/>
          </a:xfrm>
          <a:prstGeom prst="rect">
            <a:avLst/>
          </a:prstGeom>
          <a:noFill/>
          <a:ln/>
        </p:spPr>
        <p:txBody>
          <a:bodyPr wrap="square" lIns="0" tIns="0" rIns="0" bIns="0" rtlCol="0" anchor="ctr"/>
          <a:lstStyle/>
          <a:p>
            <a:pPr marL="0" indent="0">
              <a:buNone/>
            </a:pPr>
            <a:r>
              <a:rPr lang="en-US" sz="1500" b="1" dirty="0">
                <a:solidFill>
                  <a:schemeClr val="tx1"/>
                </a:solidFill>
              </a:rPr>
              <a:t>New ReplicaSet</a:t>
            </a:r>
            <a:endParaRPr lang="en-US" sz="1400" dirty="0"/>
          </a:p>
          <a:p>
            <a:pPr marL="0" indent="0">
              <a:buNone/>
            </a:pPr>
            <a:r>
              <a:rPr lang="en-US" sz="1200" dirty="0">
                <a:solidFill>
                  <a:schemeClr val="accent3"/>
                </a:solidFill>
                <a:latin typeface="Courier New" pitchFamily="34" charset="0"/>
                <a:ea typeface="Courier New" pitchFamily="34" charset="-122"/>
                <a:cs typeface="Courier New" pitchFamily="34" charset="-120"/>
              </a:rPr>
              <a:t>v1.11.0</a:t>
            </a:r>
            <a:endParaRPr lang="en-US" sz="1400" dirty="0"/>
          </a:p>
        </p:txBody>
      </p:sp>
      <p:sp>
        <p:nvSpPr>
          <p:cNvPr id="26" name="New ReplicaSet Start"/>
          <p:cNvSpPr txBox="1"/>
          <p:nvPr/>
        </p:nvSpPr>
        <p:spPr>
          <a:xfrm>
            <a:off x="2377440" y="256032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27" name="slot"/>
          <p:cNvSpPr txBox="1"/>
          <p:nvPr/>
        </p:nvSpPr>
        <p:spPr>
          <a:xfrm>
            <a:off x="2523744"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8" name="slot"/>
          <p:cNvSpPr txBox="1"/>
          <p:nvPr/>
        </p:nvSpPr>
        <p:spPr>
          <a:xfrm>
            <a:off x="2944368"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29" name="slot"/>
          <p:cNvSpPr txBox="1"/>
          <p:nvPr/>
        </p:nvSpPr>
        <p:spPr>
          <a:xfrm>
            <a:off x="3364992"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30" name="New ReplicaSet Step 1"/>
          <p:cNvSpPr txBox="1"/>
          <p:nvPr/>
        </p:nvSpPr>
        <p:spPr>
          <a:xfrm>
            <a:off x="3995928" y="256032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31" name="slot"/>
          <p:cNvSpPr txBox="1"/>
          <p:nvPr/>
        </p:nvSpPr>
        <p:spPr>
          <a:xfrm>
            <a:off x="4142232"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32" name="slot"/>
          <p:cNvSpPr txBox="1"/>
          <p:nvPr/>
        </p:nvSpPr>
        <p:spPr>
          <a:xfrm>
            <a:off x="4562856"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33" name="slot"/>
          <p:cNvSpPr txBox="1"/>
          <p:nvPr/>
        </p:nvSpPr>
        <p:spPr>
          <a:xfrm>
            <a:off x="4983480"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34" name="New ReplicaSet Step 2"/>
          <p:cNvSpPr txBox="1"/>
          <p:nvPr/>
        </p:nvSpPr>
        <p:spPr>
          <a:xfrm>
            <a:off x="5614416" y="256032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35" name="slot"/>
          <p:cNvSpPr txBox="1"/>
          <p:nvPr/>
        </p:nvSpPr>
        <p:spPr>
          <a:xfrm>
            <a:off x="5760720"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36" name="slot"/>
          <p:cNvSpPr txBox="1"/>
          <p:nvPr/>
        </p:nvSpPr>
        <p:spPr>
          <a:xfrm>
            <a:off x="6181344"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37" name="slot"/>
          <p:cNvSpPr txBox="1"/>
          <p:nvPr/>
        </p:nvSpPr>
        <p:spPr>
          <a:xfrm>
            <a:off x="6601968" y="2807208"/>
            <a:ext cx="329184" cy="329184"/>
          </a:xfrm>
          <a:prstGeom prst="roundRect">
            <a:avLst>
              <a:gd name="adj" fmla="val 16667"/>
            </a:avLst>
          </a:prstGeom>
          <a:ln w="15875">
            <a:solidFill>
              <a:schemeClr val="accent5"/>
            </a:solidFill>
            <a:prstDash val="dash"/>
          </a:ln>
        </p:spPr>
        <p:txBody>
          <a:bodyPr wrap="square" lIns="76200" tIns="76200" rIns="76200" bIns="76200" rtlCol="0" anchor="ctr"/>
          <a:lstStyle/>
          <a:p>
            <a:pPr marL="0" indent="0" algn="ctr">
              <a:buNone/>
            </a:pPr>
            <a:endParaRPr lang="en-US" sz="1300" dirty="0"/>
          </a:p>
        </p:txBody>
      </p:sp>
      <p:sp>
        <p:nvSpPr>
          <p:cNvPr id="38" name="New ReplicaSet Done"/>
          <p:cNvSpPr txBox="1"/>
          <p:nvPr/>
        </p:nvSpPr>
        <p:spPr>
          <a:xfrm>
            <a:off x="7232904" y="2560320"/>
            <a:ext cx="1463040" cy="822960"/>
          </a:xfrm>
          <a:prstGeom prst="roundRect">
            <a:avLst>
              <a:gd name="adj" fmla="val 11111"/>
            </a:avLst>
          </a:prstGeom>
          <a:solidFill>
            <a:schemeClr val="bg2"/>
          </a:solidFill>
          <a:ln/>
        </p:spPr>
        <p:txBody>
          <a:bodyPr wrap="square" lIns="76200" tIns="76200" rIns="76200" bIns="76200" rtlCol="0" anchor="ctr"/>
          <a:lstStyle/>
          <a:p>
            <a:pPr marL="0" indent="0" algn="ctr">
              <a:buNone/>
            </a:pPr>
            <a:endParaRPr lang="en-US" sz="1300" dirty="0"/>
          </a:p>
        </p:txBody>
      </p:sp>
      <p:sp>
        <p:nvSpPr>
          <p:cNvPr id="39" name="slot"/>
          <p:cNvSpPr txBox="1"/>
          <p:nvPr/>
        </p:nvSpPr>
        <p:spPr>
          <a:xfrm>
            <a:off x="7379208"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40" name="slot"/>
          <p:cNvSpPr txBox="1"/>
          <p:nvPr/>
        </p:nvSpPr>
        <p:spPr>
          <a:xfrm>
            <a:off x="7799832"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41" name="slot"/>
          <p:cNvSpPr txBox="1"/>
          <p:nvPr/>
        </p:nvSpPr>
        <p:spPr>
          <a:xfrm>
            <a:off x="8220456" y="2807208"/>
            <a:ext cx="329184" cy="329184"/>
          </a:xfrm>
          <a:prstGeom prst="roundRect">
            <a:avLst>
              <a:gd name="adj" fmla="val 16667"/>
            </a:avLst>
          </a:prstGeom>
          <a:solidFill>
            <a:schemeClr val="accent3"/>
          </a:solidFill>
          <a:ln/>
        </p:spPr>
        <p:txBody>
          <a:bodyPr wrap="square" lIns="76200" tIns="76200" rIns="76200" bIns="76200" rtlCol="0" anchor="ctr"/>
          <a:lstStyle/>
          <a:p>
            <a:pPr marL="0" indent="0" algn="ctr">
              <a:buNone/>
            </a:pPr>
            <a:endParaRPr lang="en-US" sz="1300" dirty="0"/>
          </a:p>
        </p:txBody>
      </p:sp>
      <p:sp>
        <p:nvSpPr>
          <p:cNvPr id="42" name="Text 39"/>
          <p:cNvSpPr txBox="1"/>
          <p:nvPr/>
        </p:nvSpPr>
        <p:spPr>
          <a:xfrm>
            <a:off x="457200" y="3611880"/>
            <a:ext cx="4023360" cy="868680"/>
          </a:xfrm>
          <a:prstGeom prst="roundRect">
            <a:avLst>
              <a:gd name="adj" fmla="val 10526"/>
            </a:avLst>
          </a:prstGeom>
          <a:solidFill>
            <a:schemeClr val="bg2"/>
          </a:solidFill>
          <a:ln/>
        </p:spPr>
        <p:txBody>
          <a:bodyPr wrap="square" lIns="177800" tIns="177800" rIns="177800" bIns="177800" rtlCol="0" anchor="ctr"/>
          <a:lstStyle/>
          <a:p>
            <a:pPr marL="0" indent="0" algn="l">
              <a:buNone/>
            </a:pPr>
            <a:r>
              <a:rPr lang="en-US" sz="1600" b="1" dirty="0">
                <a:solidFill>
                  <a:schemeClr val="tx1"/>
                </a:solidFill>
              </a:rPr>
              <a:t>Zero downtime</a:t>
            </a:r>
            <a:endParaRPr lang="en-US" sz="1300" dirty="0"/>
          </a:p>
          <a:p>
            <a:pPr marL="0" indent="0" algn="l">
              <a:buNone/>
            </a:pPr>
            <a:r>
              <a:rPr lang="en-US" sz="1400" dirty="0">
                <a:solidFill>
                  <a:schemeClr val="accent5"/>
                </a:solidFill>
              </a:rPr>
              <a:t>Old pods are removed only after new ones are ready</a:t>
            </a:r>
            <a:endParaRPr lang="en-US" sz="1300" dirty="0"/>
          </a:p>
        </p:txBody>
      </p:sp>
      <p:sp>
        <p:nvSpPr>
          <p:cNvPr id="43" name="Text 40"/>
          <p:cNvSpPr txBox="1"/>
          <p:nvPr/>
        </p:nvSpPr>
        <p:spPr>
          <a:xfrm>
            <a:off x="4663440" y="3611880"/>
            <a:ext cx="4023360" cy="868680"/>
          </a:xfrm>
          <a:prstGeom prst="roundRect">
            <a:avLst>
              <a:gd name="adj" fmla="val 10526"/>
            </a:avLst>
          </a:prstGeom>
          <a:solidFill>
            <a:schemeClr val="bg2"/>
          </a:solidFill>
          <a:ln/>
        </p:spPr>
        <p:txBody>
          <a:bodyPr wrap="square" lIns="177800" tIns="177800" rIns="177800" bIns="177800" rtlCol="0" anchor="ctr"/>
          <a:lstStyle/>
          <a:p>
            <a:pPr marL="0" indent="0" algn="l">
              <a:buNone/>
            </a:pPr>
            <a:r>
              <a:rPr lang="en-US" sz="1600" b="1" dirty="0">
                <a:solidFill>
                  <a:schemeClr val="tx1"/>
                </a:solidFill>
              </a:rPr>
              <a:t>Instant rollback</a:t>
            </a:r>
            <a:endParaRPr lang="en-US" sz="1300" dirty="0"/>
          </a:p>
          <a:p>
            <a:pPr marL="0" indent="0" algn="l">
              <a:buNone/>
            </a:pPr>
            <a:r>
              <a:rPr lang="en-US" sz="1300" dirty="0">
                <a:solidFill>
                  <a:schemeClr val="tx1"/>
                </a:solidFill>
                <a:latin typeface="Courier New" pitchFamily="34" charset="0"/>
                <a:ea typeface="Courier New" pitchFamily="34" charset="-122"/>
                <a:cs typeface="Courier New" pitchFamily="34" charset="-120"/>
              </a:rPr>
              <a:t>kubectl rollout undo</a:t>
            </a:r>
            <a:r>
              <a:rPr lang="en-US" sz="1400" dirty="0">
                <a:solidFill>
                  <a:schemeClr val="accent5"/>
                </a:solidFill>
              </a:rPr>
              <a:t> scales the old ReplicaSet back up</a:t>
            </a:r>
            <a:endParaRPr lang="en-US" sz="13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3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Self-healing, scaling, rollouts</a:t>
            </a:r>
            <a:endParaRPr lang="en-US" sz="3400" dirty="0"/>
          </a:p>
        </p:txBody>
      </p:sp>
      <p:sp>
        <p:nvSpPr>
          <p:cNvPr id="4" name="plan panel"/>
          <p:cNvSpPr txBox="1"/>
          <p:nvPr/>
        </p:nvSpPr>
        <p:spPr>
          <a:xfrm>
            <a:off x="4572000" y="868680"/>
            <a:ext cx="4114800" cy="3749040"/>
          </a:xfrm>
          <a:prstGeom prst="roundRect">
            <a:avLst>
              <a:gd name="adj" fmla="val 3659"/>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Deploy 3 replicas; trace Deployment → ReplicaSet → Pods</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Kill a pod and watch it come back</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Scale from 3 to 5 replicas</a:t>
            </a:r>
            <a:endParaRPr lang="en-US" sz="1500" dirty="0"/>
          </a:p>
        </p:txBody>
      </p:sp>
      <p:sp>
        <p:nvSpPr>
          <p:cNvPr id="12" name="dot 4"/>
          <p:cNvSpPr txBox="1"/>
          <p:nvPr/>
        </p:nvSpPr>
        <p:spPr>
          <a:xfrm>
            <a:off x="4892040" y="331927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step 4"/>
          <p:cNvSpPr txBox="1"/>
          <p:nvPr/>
        </p:nvSpPr>
        <p:spPr>
          <a:xfrm>
            <a:off x="5440680" y="3227832"/>
            <a:ext cx="3063240" cy="548640"/>
          </a:xfrm>
          <a:prstGeom prst="rect">
            <a:avLst/>
          </a:prstGeom>
          <a:noFill/>
          <a:ln/>
        </p:spPr>
        <p:txBody>
          <a:bodyPr wrap="square" lIns="0" tIns="0" rIns="0" bIns="0" rtlCol="0" anchor="ctr"/>
          <a:lstStyle/>
          <a:p>
            <a:pPr marL="0" indent="0">
              <a:buNone/>
            </a:pPr>
            <a:r>
              <a:rPr lang="en-US" sz="1500" dirty="0">
                <a:solidFill>
                  <a:schemeClr val="bg1"/>
                </a:solidFill>
              </a:rPr>
              <a:t>Remove a label and orphan a pod</a:t>
            </a:r>
            <a:endParaRPr lang="en-US" sz="1500" dirty="0"/>
          </a:p>
        </p:txBody>
      </p:sp>
      <p:sp>
        <p:nvSpPr>
          <p:cNvPr id="14" name="dot 5"/>
          <p:cNvSpPr txBox="1"/>
          <p:nvPr/>
        </p:nvSpPr>
        <p:spPr>
          <a:xfrm>
            <a:off x="4892040" y="3922776"/>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5" name="step 5"/>
          <p:cNvSpPr txBox="1"/>
          <p:nvPr/>
        </p:nvSpPr>
        <p:spPr>
          <a:xfrm>
            <a:off x="5440680" y="3831336"/>
            <a:ext cx="3063240" cy="548640"/>
          </a:xfrm>
          <a:prstGeom prst="rect">
            <a:avLst/>
          </a:prstGeom>
          <a:noFill/>
          <a:ln/>
        </p:spPr>
        <p:txBody>
          <a:bodyPr wrap="square" lIns="0" tIns="0" rIns="0" bIns="0" rtlCol="0" anchor="ctr"/>
          <a:lstStyle/>
          <a:p>
            <a:pPr marL="0" indent="0">
              <a:buNone/>
            </a:pPr>
            <a:r>
              <a:rPr lang="en-US" sz="1500" dirty="0">
                <a:solidFill>
                  <a:schemeClr val="bg1"/>
                </a:solidFill>
              </a:rPr>
              <a:t>Roll out a new version, then roll back</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Self-healing, scaling, rollouts</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02-deployment.yaml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deploy,rs,pods --show-labels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delete pod &lt;web-pod&gt;            </a:t>
            </a:r>
            <a:r>
              <a:rPr lang="en-US" sz="1400" dirty="0">
                <a:solidFill>
                  <a:schemeClr val="accent2"/>
                </a:solidFill>
                <a:latin typeface="Courier New" pitchFamily="34" charset="0"/>
                <a:ea typeface="Courier New" pitchFamily="34" charset="-122"/>
                <a:cs typeface="Courier New" pitchFamily="34" charset="-120"/>
              </a:rPr>
              <a:t>  # self-healing</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scale deploy web --replicas=5</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label pod &lt;web-pod&gt; app-        </a:t>
            </a:r>
            <a:r>
              <a:rPr lang="en-US" sz="1400" dirty="0">
                <a:solidFill>
                  <a:schemeClr val="accent2"/>
                </a:solidFill>
                <a:latin typeface="Courier New" pitchFamily="34" charset="0"/>
                <a:ea typeface="Courier New" pitchFamily="34" charset="-122"/>
                <a:cs typeface="Courier New" pitchFamily="34" charset="-120"/>
              </a:rPr>
              <a:t>  # remove the label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set image deploy/web whoami=traefik/whoami:v1.11.0</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rs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rollout undo deploy web</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Deleted pod replaced in seconds</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Unlabelled pod orphaned, new one created</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New ReplicaSet up, old one down to 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Service: stable front door</a:t>
            </a:r>
            <a:endParaRPr lang="en-US" sz="3600" dirty="0"/>
          </a:p>
        </p:txBody>
      </p:sp>
      <p:sp>
        <p:nvSpPr>
          <p:cNvPr id="4" name="client"/>
          <p:cNvSpPr txBox="1"/>
          <p:nvPr/>
        </p:nvSpPr>
        <p:spPr>
          <a:xfrm>
            <a:off x="457200" y="1874520"/>
            <a:ext cx="1920240" cy="914400"/>
          </a:xfrm>
          <a:prstGeom prst="roundRect">
            <a:avLst>
              <a:gd name="adj" fmla="val 10000"/>
            </a:avLst>
          </a:prstGeom>
          <a:solidFill>
            <a:schemeClr val="tx1"/>
          </a:solidFill>
          <a:ln/>
        </p:spPr>
        <p:txBody>
          <a:bodyPr wrap="square" lIns="76200" tIns="76200" rIns="76200" bIns="76200" rtlCol="0" anchor="ctr"/>
          <a:lstStyle/>
          <a:p>
            <a:pPr marL="0" indent="0" algn="ctr">
              <a:buNone/>
            </a:pPr>
            <a:r>
              <a:rPr lang="en-US" sz="1400" b="1" dirty="0">
                <a:solidFill>
                  <a:schemeClr val="bg1"/>
                </a:solidFill>
              </a:rPr>
              <a:t>Client</a:t>
            </a:r>
            <a:endParaRPr lang="en-US" sz="1300" dirty="0"/>
          </a:p>
          <a:p>
            <a:pPr marL="0" indent="0" algn="ctr">
              <a:buNone/>
            </a:pPr>
            <a:r>
              <a:rPr lang="en-US" sz="1200" dirty="0">
                <a:solidFill>
                  <a:schemeClr val="accent2"/>
                </a:solidFill>
                <a:latin typeface="Courier New" pitchFamily="34" charset="0"/>
                <a:ea typeface="Courier New" pitchFamily="34" charset="-122"/>
                <a:cs typeface="Courier New" pitchFamily="34" charset="-120"/>
              </a:rPr>
              <a:t>wget http://web</a:t>
            </a:r>
            <a:endParaRPr lang="en-US" sz="1300" dirty="0"/>
          </a:p>
        </p:txBody>
      </p:sp>
      <p:sp>
        <p:nvSpPr>
          <p:cNvPr id="5" name="Shape 2"/>
          <p:cNvSpPr/>
          <p:nvPr/>
        </p:nvSpPr>
        <p:spPr>
          <a:xfrm>
            <a:off x="2377440" y="2331720"/>
            <a:ext cx="548640" cy="0"/>
          </a:xfrm>
          <a:prstGeom prst="line">
            <a:avLst/>
          </a:prstGeom>
          <a:noFill/>
          <a:ln w="22225">
            <a:solidFill>
              <a:schemeClr val="accent5"/>
            </a:solidFill>
            <a:prstDash val="solid"/>
            <a:tailEnd type="triangle"/>
          </a:ln>
        </p:spPr>
        <p:txBody>
          <a:bodyPr/>
          <a:lstStyle/>
          <a:p>
            <a:endParaRPr lang="en-US"/>
          </a:p>
        </p:txBody>
      </p:sp>
      <p:sp>
        <p:nvSpPr>
          <p:cNvPr id="6" name="service"/>
          <p:cNvSpPr txBox="1"/>
          <p:nvPr/>
        </p:nvSpPr>
        <p:spPr>
          <a:xfrm>
            <a:off x="2926080" y="1600200"/>
            <a:ext cx="2377440" cy="1463040"/>
          </a:xfrm>
          <a:prstGeom prst="roundRect">
            <a:avLst>
              <a:gd name="adj" fmla="val 6250"/>
            </a:avLst>
          </a:prstGeom>
          <a:solidFill>
            <a:schemeClr val="accent3"/>
          </a:solidFill>
          <a:ln/>
        </p:spPr>
        <p:txBody>
          <a:bodyPr wrap="square" lIns="76200" tIns="76200" rIns="76200" bIns="76200" rtlCol="0" anchor="ctr"/>
          <a:lstStyle/>
          <a:p>
            <a:pPr marL="0" indent="0" algn="ctr">
              <a:buNone/>
            </a:pPr>
            <a:r>
              <a:rPr lang="en-US" sz="1600" b="1" dirty="0">
                <a:solidFill>
                  <a:schemeClr val="bg1"/>
                </a:solidFill>
              </a:rPr>
              <a:t>Service  </a:t>
            </a:r>
            <a:r>
              <a:rPr lang="en-US" sz="1600" dirty="0">
                <a:solidFill>
                  <a:schemeClr val="bg1"/>
                </a:solidFill>
                <a:latin typeface="Courier New" pitchFamily="34" charset="0"/>
                <a:ea typeface="Courier New" pitchFamily="34" charset="-122"/>
                <a:cs typeface="Courier New" pitchFamily="34" charset="-120"/>
              </a:rPr>
              <a:t>web</a:t>
            </a:r>
            <a:endParaRPr lang="en-US" sz="1300" dirty="0"/>
          </a:p>
          <a:p>
            <a:pPr marL="0" indent="0" algn="ctr">
              <a:buNone/>
            </a:pPr>
            <a:r>
              <a:rPr lang="en-US" sz="1200" dirty="0">
                <a:solidFill>
                  <a:schemeClr val="bg1"/>
                </a:solidFill>
                <a:latin typeface="Courier New" pitchFamily="34" charset="0"/>
                <a:ea typeface="Courier New" pitchFamily="34" charset="-122"/>
                <a:cs typeface="Courier New" pitchFamily="34" charset="-120"/>
              </a:rPr>
              <a:t>10.96.223.168</a:t>
            </a:r>
            <a:endParaRPr lang="en-US" sz="1300" dirty="0"/>
          </a:p>
          <a:p>
            <a:pPr marL="0" indent="0" algn="ctr">
              <a:buNone/>
            </a:pPr>
            <a:r>
              <a:rPr lang="en-US" sz="1200" dirty="0">
                <a:solidFill>
                  <a:schemeClr val="bg1"/>
                </a:solidFill>
                <a:latin typeface="Courier New" pitchFamily="34" charset="0"/>
                <a:ea typeface="Courier New" pitchFamily="34" charset="-122"/>
                <a:cs typeface="Courier New" pitchFamily="34" charset="-120"/>
              </a:rPr>
              <a:t>DNS: web</a:t>
            </a:r>
            <a:endParaRPr lang="en-US" sz="1300" dirty="0"/>
          </a:p>
        </p:txBody>
      </p:sp>
      <p:sp>
        <p:nvSpPr>
          <p:cNvPr id="7" name="Shape 4"/>
          <p:cNvSpPr/>
          <p:nvPr/>
        </p:nvSpPr>
        <p:spPr>
          <a:xfrm flipV="1">
            <a:off x="5303520" y="1463040"/>
            <a:ext cx="685800" cy="868680"/>
          </a:xfrm>
          <a:prstGeom prst="line">
            <a:avLst/>
          </a:prstGeom>
          <a:noFill/>
          <a:ln w="22225">
            <a:solidFill>
              <a:schemeClr val="accent5"/>
            </a:solidFill>
            <a:prstDash val="solid"/>
            <a:tailEnd type="triangle"/>
          </a:ln>
        </p:spPr>
        <p:txBody>
          <a:bodyPr/>
          <a:lstStyle/>
          <a:p>
            <a:endParaRPr lang="en-US"/>
          </a:p>
        </p:txBody>
      </p:sp>
      <p:sp>
        <p:nvSpPr>
          <p:cNvPr id="8" name="pod 10.244.1.9"/>
          <p:cNvSpPr txBox="1"/>
          <p:nvPr/>
        </p:nvSpPr>
        <p:spPr>
          <a:xfrm>
            <a:off x="5989320" y="1188720"/>
            <a:ext cx="269748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  </a:t>
            </a:r>
            <a:r>
              <a:rPr lang="en-US" sz="1200" dirty="0">
                <a:solidFill>
                  <a:schemeClr val="bg1"/>
                </a:solidFill>
                <a:latin typeface="Courier New" pitchFamily="34" charset="0"/>
                <a:ea typeface="Courier New" pitchFamily="34" charset="-122"/>
                <a:cs typeface="Courier New" pitchFamily="34" charset="-120"/>
              </a:rPr>
              <a:t>10.244.1.9</a:t>
            </a:r>
            <a:endParaRPr lang="en-US" sz="1300" dirty="0"/>
          </a:p>
        </p:txBody>
      </p:sp>
      <p:sp>
        <p:nvSpPr>
          <p:cNvPr id="9" name="Shape 6"/>
          <p:cNvSpPr/>
          <p:nvPr/>
        </p:nvSpPr>
        <p:spPr>
          <a:xfrm flipV="1">
            <a:off x="5303520" y="2286000"/>
            <a:ext cx="685800" cy="45720"/>
          </a:xfrm>
          <a:prstGeom prst="line">
            <a:avLst/>
          </a:prstGeom>
          <a:noFill/>
          <a:ln w="22225">
            <a:solidFill>
              <a:schemeClr val="accent5"/>
            </a:solidFill>
            <a:prstDash val="solid"/>
            <a:tailEnd type="triangle"/>
          </a:ln>
        </p:spPr>
        <p:txBody>
          <a:bodyPr/>
          <a:lstStyle/>
          <a:p>
            <a:endParaRPr lang="en-US"/>
          </a:p>
        </p:txBody>
      </p:sp>
      <p:sp>
        <p:nvSpPr>
          <p:cNvPr id="10" name="pod 10.244.3.12"/>
          <p:cNvSpPr txBox="1"/>
          <p:nvPr/>
        </p:nvSpPr>
        <p:spPr>
          <a:xfrm>
            <a:off x="5989320" y="2011680"/>
            <a:ext cx="269748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  </a:t>
            </a:r>
            <a:r>
              <a:rPr lang="en-US" sz="1200" dirty="0">
                <a:solidFill>
                  <a:schemeClr val="bg1"/>
                </a:solidFill>
                <a:latin typeface="Courier New" pitchFamily="34" charset="0"/>
                <a:ea typeface="Courier New" pitchFamily="34" charset="-122"/>
                <a:cs typeface="Courier New" pitchFamily="34" charset="-120"/>
              </a:rPr>
              <a:t>10.244.3.12</a:t>
            </a:r>
            <a:endParaRPr lang="en-US" sz="1300" dirty="0"/>
          </a:p>
        </p:txBody>
      </p:sp>
      <p:sp>
        <p:nvSpPr>
          <p:cNvPr id="11" name="Shape 8"/>
          <p:cNvSpPr/>
          <p:nvPr/>
        </p:nvSpPr>
        <p:spPr>
          <a:xfrm>
            <a:off x="5303520" y="2331720"/>
            <a:ext cx="685800" cy="777240"/>
          </a:xfrm>
          <a:prstGeom prst="line">
            <a:avLst/>
          </a:prstGeom>
          <a:noFill/>
          <a:ln w="22225">
            <a:solidFill>
              <a:schemeClr val="accent5"/>
            </a:solidFill>
            <a:prstDash val="solid"/>
            <a:tailEnd type="triangle"/>
          </a:ln>
        </p:spPr>
        <p:txBody>
          <a:bodyPr/>
          <a:lstStyle/>
          <a:p>
            <a:endParaRPr lang="en-US"/>
          </a:p>
        </p:txBody>
      </p:sp>
      <p:sp>
        <p:nvSpPr>
          <p:cNvPr id="12" name="pod 10.244.1.8"/>
          <p:cNvSpPr txBox="1"/>
          <p:nvPr/>
        </p:nvSpPr>
        <p:spPr>
          <a:xfrm>
            <a:off x="5989320" y="2834640"/>
            <a:ext cx="2697480" cy="548640"/>
          </a:xfrm>
          <a:prstGeom prst="roundRect">
            <a:avLst>
              <a:gd name="adj" fmla="val 16667"/>
            </a:avLst>
          </a:prstGeom>
          <a:solidFill>
            <a:schemeClr val="accent1"/>
          </a:solidFill>
          <a:ln/>
        </p:spPr>
        <p:txBody>
          <a:bodyPr wrap="square" lIns="76200" tIns="76200" rIns="76200" bIns="76200" rtlCol="0" anchor="ctr"/>
          <a:lstStyle/>
          <a:p>
            <a:pPr marL="0" indent="0" algn="ctr">
              <a:buNone/>
            </a:pPr>
            <a:r>
              <a:rPr lang="en-US" sz="1300" b="1" dirty="0">
                <a:solidFill>
                  <a:schemeClr val="bg1"/>
                </a:solidFill>
              </a:rPr>
              <a:t>Pod  </a:t>
            </a:r>
            <a:r>
              <a:rPr lang="en-US" sz="1200" dirty="0">
                <a:solidFill>
                  <a:schemeClr val="bg1"/>
                </a:solidFill>
                <a:latin typeface="Courier New" pitchFamily="34" charset="0"/>
                <a:ea typeface="Courier New" pitchFamily="34" charset="-122"/>
                <a:cs typeface="Courier New" pitchFamily="34" charset="-120"/>
              </a:rPr>
              <a:t>10.244.1.8</a:t>
            </a:r>
            <a:endParaRPr lang="en-US" sz="1300" dirty="0"/>
          </a:p>
        </p:txBody>
      </p:sp>
      <p:sp>
        <p:nvSpPr>
          <p:cNvPr id="13" name="Stable IP + DNS name"/>
          <p:cNvSpPr txBox="1"/>
          <p:nvPr/>
        </p:nvSpPr>
        <p:spPr>
          <a:xfrm>
            <a:off x="457200" y="3611880"/>
            <a:ext cx="2651760" cy="868680"/>
          </a:xfrm>
          <a:prstGeom prst="roundRect">
            <a:avLst>
              <a:gd name="adj" fmla="val 10526"/>
            </a:avLst>
          </a:prstGeom>
          <a:solidFill>
            <a:schemeClr val="bg2"/>
          </a:solidFill>
          <a:ln/>
        </p:spPr>
        <p:txBody>
          <a:bodyPr wrap="square" lIns="152400" tIns="152400" rIns="152400" bIns="152400" rtlCol="0" anchor="ctr"/>
          <a:lstStyle/>
          <a:p>
            <a:pPr marL="0" indent="0" algn="l">
              <a:buNone/>
            </a:pPr>
            <a:r>
              <a:rPr lang="en-US" sz="1500" b="1" dirty="0">
                <a:solidFill>
                  <a:schemeClr val="tx1"/>
                </a:solidFill>
              </a:rPr>
              <a:t>Stable IP + DNS name</a:t>
            </a:r>
            <a:endParaRPr lang="en-US" sz="1300" dirty="0"/>
          </a:p>
          <a:p>
            <a:pPr marL="0" indent="0" algn="l">
              <a:buNone/>
            </a:pPr>
            <a:r>
              <a:rPr lang="en-US" sz="1300" dirty="0">
                <a:solidFill>
                  <a:schemeClr val="accent5"/>
                </a:solidFill>
              </a:rPr>
              <a:t>Survives every pod restart</a:t>
            </a:r>
            <a:endParaRPr lang="en-US" sz="1300" dirty="0"/>
          </a:p>
        </p:txBody>
      </p:sp>
      <p:sp>
        <p:nvSpPr>
          <p:cNvPr id="14" name="Load-balancing"/>
          <p:cNvSpPr txBox="1"/>
          <p:nvPr/>
        </p:nvSpPr>
        <p:spPr>
          <a:xfrm>
            <a:off x="3246120" y="3611880"/>
            <a:ext cx="2651760" cy="868680"/>
          </a:xfrm>
          <a:prstGeom prst="roundRect">
            <a:avLst>
              <a:gd name="adj" fmla="val 10526"/>
            </a:avLst>
          </a:prstGeom>
          <a:solidFill>
            <a:schemeClr val="bg2"/>
          </a:solidFill>
          <a:ln/>
        </p:spPr>
        <p:txBody>
          <a:bodyPr wrap="square" lIns="152400" tIns="152400" rIns="152400" bIns="152400" rtlCol="0" anchor="ctr"/>
          <a:lstStyle/>
          <a:p>
            <a:pPr marL="0" indent="0" algn="l">
              <a:buNone/>
            </a:pPr>
            <a:r>
              <a:rPr lang="en-US" sz="1500" b="1" dirty="0">
                <a:solidFill>
                  <a:schemeClr val="tx1"/>
                </a:solidFill>
              </a:rPr>
              <a:t>Load-balancing</a:t>
            </a:r>
            <a:endParaRPr lang="en-US" sz="1300" dirty="0"/>
          </a:p>
          <a:p>
            <a:pPr marL="0" indent="0" algn="l">
              <a:buNone/>
            </a:pPr>
            <a:r>
              <a:rPr lang="en-US" sz="1300" dirty="0">
                <a:solidFill>
                  <a:schemeClr val="accent5"/>
                </a:solidFill>
              </a:rPr>
              <a:t>Spreads requests across matching pods</a:t>
            </a:r>
            <a:endParaRPr lang="en-US" sz="1300" dirty="0"/>
          </a:p>
        </p:txBody>
      </p:sp>
      <p:sp>
        <p:nvSpPr>
          <p:cNvPr id="15" name="Self-updating"/>
          <p:cNvSpPr txBox="1"/>
          <p:nvPr/>
        </p:nvSpPr>
        <p:spPr>
          <a:xfrm>
            <a:off x="6035040" y="3611880"/>
            <a:ext cx="2651760" cy="868680"/>
          </a:xfrm>
          <a:prstGeom prst="roundRect">
            <a:avLst>
              <a:gd name="adj" fmla="val 10526"/>
            </a:avLst>
          </a:prstGeom>
          <a:solidFill>
            <a:schemeClr val="bg2"/>
          </a:solidFill>
          <a:ln/>
        </p:spPr>
        <p:txBody>
          <a:bodyPr wrap="square" lIns="152400" tIns="152400" rIns="152400" bIns="152400" rtlCol="0" anchor="ctr"/>
          <a:lstStyle/>
          <a:p>
            <a:pPr marL="0" indent="0" algn="l">
              <a:buNone/>
            </a:pPr>
            <a:r>
              <a:rPr lang="en-US" sz="1500" b="1" dirty="0">
                <a:solidFill>
                  <a:schemeClr val="tx1"/>
                </a:solidFill>
              </a:rPr>
              <a:t>Self-updating</a:t>
            </a:r>
            <a:endParaRPr lang="en-US" sz="1300" dirty="0"/>
          </a:p>
          <a:p>
            <a:pPr marL="0" indent="0" algn="l">
              <a:buNone/>
            </a:pPr>
            <a:r>
              <a:rPr lang="en-US" sz="1300" dirty="0">
                <a:solidFill>
                  <a:schemeClr val="accent5"/>
                </a:solidFill>
              </a:rPr>
              <a:t>Endpoints follow pods as they come and go</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Three Service types</a:t>
            </a:r>
            <a:endParaRPr lang="en-US" sz="3600" dirty="0"/>
          </a:p>
        </p:txBody>
      </p:sp>
      <p:sp>
        <p:nvSpPr>
          <p:cNvPr id="4" name="ClusterIP card"/>
          <p:cNvSpPr txBox="1"/>
          <p:nvPr/>
        </p:nvSpPr>
        <p:spPr>
          <a:xfrm>
            <a:off x="457200" y="1188720"/>
            <a:ext cx="2651760" cy="2697480"/>
          </a:xfrm>
          <a:prstGeom prst="roundRect">
            <a:avLst>
              <a:gd name="adj" fmla="val 3448"/>
            </a:avLst>
          </a:prstGeom>
          <a:solidFill>
            <a:schemeClr val="bg2"/>
          </a:solidFill>
          <a:ln/>
        </p:spPr>
        <p:txBody>
          <a:bodyPr wrap="square" lIns="76200" tIns="76200" rIns="76200" bIns="76200" rtlCol="0" anchor="ctr"/>
          <a:lstStyle/>
          <a:p>
            <a:pPr marL="0" indent="0" algn="ctr">
              <a:buNone/>
            </a:pPr>
            <a:endParaRPr lang="en-US" sz="1300" dirty="0"/>
          </a:p>
        </p:txBody>
      </p:sp>
      <p:sp>
        <p:nvSpPr>
          <p:cNvPr id="5" name="Text 2"/>
          <p:cNvSpPr txBox="1"/>
          <p:nvPr/>
        </p:nvSpPr>
        <p:spPr>
          <a:xfrm>
            <a:off x="685800" y="1371600"/>
            <a:ext cx="2194560" cy="411480"/>
          </a:xfrm>
          <a:prstGeom prst="rect">
            <a:avLst/>
          </a:prstGeom>
          <a:noFill/>
          <a:ln/>
        </p:spPr>
        <p:txBody>
          <a:bodyPr wrap="square" lIns="0" tIns="0" rIns="0" bIns="0" rtlCol="0" anchor="t"/>
          <a:lstStyle/>
          <a:p>
            <a:pPr marL="0" indent="0">
              <a:buNone/>
            </a:pPr>
            <a:r>
              <a:rPr lang="en-US" sz="2200" b="1" dirty="0">
                <a:solidFill>
                  <a:schemeClr val="tx1"/>
                </a:solidFill>
              </a:rPr>
              <a:t>ClusterIP</a:t>
            </a:r>
            <a:endParaRPr lang="en-US" sz="2200" dirty="0"/>
          </a:p>
        </p:txBody>
      </p:sp>
      <p:sp>
        <p:nvSpPr>
          <p:cNvPr id="6" name="Text 3"/>
          <p:cNvSpPr txBox="1"/>
          <p:nvPr/>
        </p:nvSpPr>
        <p:spPr>
          <a:xfrm>
            <a:off x="685800" y="1874520"/>
            <a:ext cx="914400" cy="292608"/>
          </a:xfrm>
          <a:prstGeom prst="roundRect">
            <a:avLst>
              <a:gd name="adj" fmla="val 25000"/>
            </a:avLst>
          </a:prstGeom>
          <a:solidFill>
            <a:schemeClr val="accent3"/>
          </a:solidFill>
          <a:ln/>
        </p:spPr>
        <p:txBody>
          <a:bodyPr wrap="square" lIns="0" tIns="0" rIns="0" bIns="0" rtlCol="0" anchor="ctr"/>
          <a:lstStyle/>
          <a:p>
            <a:pPr marL="0" indent="0" algn="ctr">
              <a:buNone/>
            </a:pPr>
            <a:r>
              <a:rPr lang="en-US" sz="1100" b="1" dirty="0">
                <a:solidFill>
                  <a:schemeClr val="bg1"/>
                </a:solidFill>
              </a:rPr>
              <a:t>default</a:t>
            </a:r>
            <a:endParaRPr lang="en-US" sz="1100" dirty="0"/>
          </a:p>
        </p:txBody>
      </p:sp>
      <p:sp>
        <p:nvSpPr>
          <p:cNvPr id="7" name="Text 4"/>
          <p:cNvSpPr txBox="1"/>
          <p:nvPr/>
        </p:nvSpPr>
        <p:spPr>
          <a:xfrm>
            <a:off x="685800" y="2377440"/>
            <a:ext cx="2240280" cy="868680"/>
          </a:xfrm>
          <a:prstGeom prst="rect">
            <a:avLst/>
          </a:prstGeom>
          <a:noFill/>
          <a:ln/>
        </p:spPr>
        <p:txBody>
          <a:bodyPr wrap="square" lIns="0" tIns="0" rIns="0" bIns="0" rtlCol="0" anchor="t"/>
          <a:lstStyle/>
          <a:p>
            <a:pPr marL="0" indent="0">
              <a:spcAft>
                <a:spcPts val="300"/>
              </a:spcAft>
              <a:buNone/>
            </a:pPr>
            <a:r>
              <a:rPr lang="en-US" sz="1100" b="1" kern="0" spc="100" dirty="0">
                <a:solidFill>
                  <a:schemeClr val="accent5"/>
                </a:solidFill>
              </a:rPr>
              <a:t>REACHABLE FROM</a:t>
            </a:r>
            <a:endParaRPr lang="en-US" sz="1400" dirty="0"/>
          </a:p>
          <a:p>
            <a:pPr marL="0" indent="0">
              <a:spcAft>
                <a:spcPts val="300"/>
              </a:spcAft>
              <a:buNone/>
            </a:pPr>
            <a:r>
              <a:rPr lang="en-US" sz="1500" dirty="0">
                <a:solidFill>
                  <a:schemeClr val="tx1"/>
                </a:solidFill>
              </a:rPr>
              <a:t>Only inside the cluster</a:t>
            </a:r>
            <a:endParaRPr lang="en-US" sz="1400" dirty="0"/>
          </a:p>
        </p:txBody>
      </p:sp>
      <p:sp>
        <p:nvSpPr>
          <p:cNvPr id="8" name="Text 5"/>
          <p:cNvSpPr txBox="1"/>
          <p:nvPr/>
        </p:nvSpPr>
        <p:spPr>
          <a:xfrm>
            <a:off x="685800" y="3337560"/>
            <a:ext cx="2240280" cy="32004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http://web</a:t>
            </a:r>
            <a:endParaRPr lang="en-US" sz="1300" dirty="0"/>
          </a:p>
        </p:txBody>
      </p:sp>
      <p:sp>
        <p:nvSpPr>
          <p:cNvPr id="9" name="NodePort card"/>
          <p:cNvSpPr txBox="1"/>
          <p:nvPr/>
        </p:nvSpPr>
        <p:spPr>
          <a:xfrm>
            <a:off x="3291840" y="1188720"/>
            <a:ext cx="2651760" cy="2697480"/>
          </a:xfrm>
          <a:prstGeom prst="roundRect">
            <a:avLst>
              <a:gd name="adj" fmla="val 3448"/>
            </a:avLst>
          </a:prstGeom>
          <a:solidFill>
            <a:schemeClr val="bg2"/>
          </a:solidFill>
          <a:ln/>
        </p:spPr>
        <p:txBody>
          <a:bodyPr wrap="square" lIns="76200" tIns="76200" rIns="76200" bIns="76200" rtlCol="0" anchor="ctr"/>
          <a:lstStyle/>
          <a:p>
            <a:pPr marL="0" indent="0" algn="ctr">
              <a:buNone/>
            </a:pPr>
            <a:endParaRPr lang="en-US" sz="1300" dirty="0"/>
          </a:p>
        </p:txBody>
      </p:sp>
      <p:sp>
        <p:nvSpPr>
          <p:cNvPr id="10" name="Text 7"/>
          <p:cNvSpPr txBox="1"/>
          <p:nvPr/>
        </p:nvSpPr>
        <p:spPr>
          <a:xfrm>
            <a:off x="3520440" y="1371600"/>
            <a:ext cx="2194560" cy="411480"/>
          </a:xfrm>
          <a:prstGeom prst="rect">
            <a:avLst/>
          </a:prstGeom>
          <a:noFill/>
          <a:ln/>
        </p:spPr>
        <p:txBody>
          <a:bodyPr wrap="square" lIns="0" tIns="0" rIns="0" bIns="0" rtlCol="0" anchor="t"/>
          <a:lstStyle/>
          <a:p>
            <a:pPr marL="0" indent="0">
              <a:buNone/>
            </a:pPr>
            <a:r>
              <a:rPr lang="en-US" sz="2200" b="1" dirty="0">
                <a:solidFill>
                  <a:schemeClr val="tx1"/>
                </a:solidFill>
              </a:rPr>
              <a:t>NodePort</a:t>
            </a:r>
            <a:endParaRPr lang="en-US" sz="2200" dirty="0"/>
          </a:p>
        </p:txBody>
      </p:sp>
      <p:sp>
        <p:nvSpPr>
          <p:cNvPr id="11" name="Text 8"/>
          <p:cNvSpPr txBox="1"/>
          <p:nvPr/>
        </p:nvSpPr>
        <p:spPr>
          <a:xfrm>
            <a:off x="3520440" y="1874520"/>
            <a:ext cx="914400" cy="292608"/>
          </a:xfrm>
          <a:prstGeom prst="roundRect">
            <a:avLst>
              <a:gd name="adj" fmla="val 25000"/>
            </a:avLst>
          </a:prstGeom>
          <a:solidFill>
            <a:schemeClr val="accent2"/>
          </a:solidFill>
          <a:ln/>
        </p:spPr>
        <p:txBody>
          <a:bodyPr wrap="square" lIns="0" tIns="0" rIns="0" bIns="0" rtlCol="0" anchor="ctr"/>
          <a:lstStyle/>
          <a:p>
            <a:pPr marL="0" indent="0" algn="ctr">
              <a:buNone/>
            </a:pPr>
            <a:r>
              <a:rPr lang="en-US" sz="1100" b="1" dirty="0">
                <a:solidFill>
                  <a:schemeClr val="tx1"/>
                </a:solidFill>
              </a:rPr>
              <a:t>our lab</a:t>
            </a:r>
            <a:endParaRPr lang="en-US" sz="1100" dirty="0"/>
          </a:p>
        </p:txBody>
      </p:sp>
      <p:sp>
        <p:nvSpPr>
          <p:cNvPr id="12" name="Text 9"/>
          <p:cNvSpPr txBox="1"/>
          <p:nvPr/>
        </p:nvSpPr>
        <p:spPr>
          <a:xfrm>
            <a:off x="3520440" y="2377440"/>
            <a:ext cx="2240280" cy="868680"/>
          </a:xfrm>
          <a:prstGeom prst="rect">
            <a:avLst/>
          </a:prstGeom>
          <a:noFill/>
          <a:ln/>
        </p:spPr>
        <p:txBody>
          <a:bodyPr wrap="square" lIns="0" tIns="0" rIns="0" bIns="0" rtlCol="0" anchor="t"/>
          <a:lstStyle/>
          <a:p>
            <a:pPr marL="0" indent="0">
              <a:spcAft>
                <a:spcPts val="300"/>
              </a:spcAft>
              <a:buNone/>
            </a:pPr>
            <a:r>
              <a:rPr lang="en-US" sz="1100" b="1" kern="0" spc="100" dirty="0">
                <a:solidFill>
                  <a:schemeClr val="accent5"/>
                </a:solidFill>
              </a:rPr>
              <a:t>REACHABLE FROM</a:t>
            </a:r>
            <a:endParaRPr lang="en-US" sz="1400" dirty="0"/>
          </a:p>
          <a:p>
            <a:pPr marL="0" indent="0">
              <a:spcAft>
                <a:spcPts val="300"/>
              </a:spcAft>
              <a:buNone/>
            </a:pPr>
            <a:r>
              <a:rPr lang="en-US" sz="1500" dirty="0">
                <a:solidFill>
                  <a:schemeClr val="tx1"/>
                </a:solidFill>
              </a:rPr>
              <a:t>Every node, on a port 30000–32767</a:t>
            </a:r>
            <a:endParaRPr lang="en-US" sz="1400" dirty="0"/>
          </a:p>
        </p:txBody>
      </p:sp>
      <p:sp>
        <p:nvSpPr>
          <p:cNvPr id="13" name="Text 10"/>
          <p:cNvSpPr txBox="1"/>
          <p:nvPr/>
        </p:nvSpPr>
        <p:spPr>
          <a:xfrm>
            <a:off x="3520440" y="3337560"/>
            <a:ext cx="2240280" cy="32004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localhost:30090</a:t>
            </a:r>
            <a:endParaRPr lang="en-US" sz="1300" dirty="0"/>
          </a:p>
        </p:txBody>
      </p:sp>
      <p:sp>
        <p:nvSpPr>
          <p:cNvPr id="14" name="LoadBalancer card"/>
          <p:cNvSpPr txBox="1"/>
          <p:nvPr/>
        </p:nvSpPr>
        <p:spPr>
          <a:xfrm>
            <a:off x="6126480" y="1188720"/>
            <a:ext cx="2651760" cy="2697480"/>
          </a:xfrm>
          <a:prstGeom prst="roundRect">
            <a:avLst>
              <a:gd name="adj" fmla="val 3448"/>
            </a:avLst>
          </a:prstGeom>
          <a:solidFill>
            <a:schemeClr val="bg2"/>
          </a:solidFill>
          <a:ln/>
        </p:spPr>
        <p:txBody>
          <a:bodyPr wrap="square" lIns="76200" tIns="76200" rIns="76200" bIns="76200" rtlCol="0" anchor="ctr"/>
          <a:lstStyle/>
          <a:p>
            <a:pPr marL="0" indent="0" algn="ctr">
              <a:buNone/>
            </a:pPr>
            <a:endParaRPr lang="en-US" sz="1300" dirty="0"/>
          </a:p>
        </p:txBody>
      </p:sp>
      <p:sp>
        <p:nvSpPr>
          <p:cNvPr id="15" name="Text 12"/>
          <p:cNvSpPr txBox="1"/>
          <p:nvPr/>
        </p:nvSpPr>
        <p:spPr>
          <a:xfrm>
            <a:off x="6355080" y="1371600"/>
            <a:ext cx="2194560" cy="411480"/>
          </a:xfrm>
          <a:prstGeom prst="rect">
            <a:avLst/>
          </a:prstGeom>
          <a:noFill/>
          <a:ln/>
        </p:spPr>
        <p:txBody>
          <a:bodyPr wrap="square" lIns="0" tIns="0" rIns="0" bIns="0" rtlCol="0" anchor="t"/>
          <a:lstStyle/>
          <a:p>
            <a:pPr marL="0" indent="0">
              <a:buNone/>
            </a:pPr>
            <a:r>
              <a:rPr lang="en-US" sz="2200" b="1" dirty="0">
                <a:solidFill>
                  <a:schemeClr val="tx1"/>
                </a:solidFill>
              </a:rPr>
              <a:t>LoadBalancer</a:t>
            </a:r>
            <a:endParaRPr lang="en-US" sz="2200" dirty="0"/>
          </a:p>
        </p:txBody>
      </p:sp>
      <p:sp>
        <p:nvSpPr>
          <p:cNvPr id="16" name="Text 13"/>
          <p:cNvSpPr txBox="1"/>
          <p:nvPr/>
        </p:nvSpPr>
        <p:spPr>
          <a:xfrm>
            <a:off x="6355080" y="1874520"/>
            <a:ext cx="914400" cy="292608"/>
          </a:xfrm>
          <a:prstGeom prst="roundRect">
            <a:avLst>
              <a:gd name="adj" fmla="val 25000"/>
            </a:avLst>
          </a:prstGeom>
          <a:solidFill>
            <a:schemeClr val="accent6"/>
          </a:solidFill>
          <a:ln/>
        </p:spPr>
        <p:txBody>
          <a:bodyPr wrap="square" lIns="0" tIns="0" rIns="0" bIns="0" rtlCol="0" anchor="ctr"/>
          <a:lstStyle/>
          <a:p>
            <a:pPr marL="0" indent="0" algn="ctr">
              <a:buNone/>
            </a:pPr>
            <a:r>
              <a:rPr lang="en-US" sz="1100" b="1" dirty="0">
                <a:solidFill>
                  <a:schemeClr val="bg1"/>
                </a:solidFill>
              </a:rPr>
              <a:t>cloud</a:t>
            </a:r>
            <a:endParaRPr lang="en-US" sz="1100" dirty="0"/>
          </a:p>
        </p:txBody>
      </p:sp>
      <p:sp>
        <p:nvSpPr>
          <p:cNvPr id="17" name="Text 14"/>
          <p:cNvSpPr txBox="1"/>
          <p:nvPr/>
        </p:nvSpPr>
        <p:spPr>
          <a:xfrm>
            <a:off x="6355080" y="2377440"/>
            <a:ext cx="2240280" cy="868680"/>
          </a:xfrm>
          <a:prstGeom prst="rect">
            <a:avLst/>
          </a:prstGeom>
          <a:noFill/>
          <a:ln/>
        </p:spPr>
        <p:txBody>
          <a:bodyPr wrap="square" lIns="0" tIns="0" rIns="0" bIns="0" rtlCol="0" anchor="t"/>
          <a:lstStyle/>
          <a:p>
            <a:pPr marL="0" indent="0">
              <a:spcAft>
                <a:spcPts val="300"/>
              </a:spcAft>
              <a:buNone/>
            </a:pPr>
            <a:r>
              <a:rPr lang="en-US" sz="1100" b="1" kern="0" spc="100" dirty="0">
                <a:solidFill>
                  <a:schemeClr val="accent5"/>
                </a:solidFill>
              </a:rPr>
              <a:t>REACHABLE FROM</a:t>
            </a:r>
            <a:endParaRPr lang="en-US" sz="1400" dirty="0"/>
          </a:p>
          <a:p>
            <a:pPr marL="0" indent="0">
              <a:spcAft>
                <a:spcPts val="300"/>
              </a:spcAft>
              <a:buNone/>
            </a:pPr>
            <a:r>
              <a:rPr lang="en-US" sz="1500" dirty="0">
                <a:solidFill>
                  <a:schemeClr val="tx1"/>
                </a:solidFill>
              </a:rPr>
              <a:t>The internet, via a cloud load balancer</a:t>
            </a:r>
            <a:endParaRPr lang="en-US" sz="1400" dirty="0"/>
          </a:p>
        </p:txBody>
      </p:sp>
      <p:sp>
        <p:nvSpPr>
          <p:cNvPr id="18" name="Text 15"/>
          <p:cNvSpPr txBox="1"/>
          <p:nvPr/>
        </p:nvSpPr>
        <p:spPr>
          <a:xfrm>
            <a:off x="6355080" y="3337560"/>
            <a:ext cx="2240280" cy="32004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http://&lt;public-ip&gt;</a:t>
            </a:r>
            <a:endParaRPr lang="en-US" sz="1300" dirty="0"/>
          </a:p>
        </p:txBody>
      </p:sp>
      <p:sp>
        <p:nvSpPr>
          <p:cNvPr id="19" name="Text 16"/>
          <p:cNvSpPr txBox="1"/>
          <p:nvPr/>
        </p:nvSpPr>
        <p:spPr>
          <a:xfrm>
            <a:off x="457200" y="4069080"/>
            <a:ext cx="8229600" cy="411480"/>
          </a:xfrm>
          <a:prstGeom prst="rect">
            <a:avLst/>
          </a:prstGeom>
          <a:noFill/>
          <a:ln/>
        </p:spPr>
        <p:txBody>
          <a:bodyPr wrap="square" lIns="0" tIns="0" rIns="0" bIns="0" rtlCol="0" anchor="t"/>
          <a:lstStyle/>
          <a:p>
            <a:pPr marL="0" indent="0">
              <a:buNone/>
            </a:pPr>
            <a:r>
              <a:rPr lang="en-US" sz="1400" b="1" dirty="0">
                <a:solidFill>
                  <a:schemeClr val="accent5"/>
                </a:solidFill>
              </a:rPr>
              <a:t>Beyond today: </a:t>
            </a:r>
            <a:r>
              <a:rPr lang="en-US" sz="1400" dirty="0">
                <a:solidFill>
                  <a:schemeClr val="accent5"/>
                </a:solidFill>
              </a:rPr>
              <a:t>Ingress / Gateway API route HTTP by host and path to many Services.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4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One name, many pods</a:t>
            </a:r>
            <a:endParaRPr lang="en-US" sz="3400" dirty="0"/>
          </a:p>
        </p:txBody>
      </p:sp>
      <p:sp>
        <p:nvSpPr>
          <p:cNvPr id="4" name="plan panel"/>
          <p:cNvSpPr txBox="1"/>
          <p:nvPr/>
        </p:nvSpPr>
        <p:spPr>
          <a:xfrm>
            <a:off x="4572000" y="868680"/>
            <a:ext cx="4114800" cy="3145536"/>
          </a:xfrm>
          <a:prstGeom prst="roundRect">
            <a:avLst>
              <a:gd name="adj" fmla="val 4360"/>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Put a Service in front of the web pods</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Call it by name from inside the cluster</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Reach it from the laptop through a NodePort</a:t>
            </a:r>
            <a:endParaRPr lang="en-US" sz="1500" dirty="0"/>
          </a:p>
        </p:txBody>
      </p:sp>
      <p:sp>
        <p:nvSpPr>
          <p:cNvPr id="12" name="dot 4"/>
          <p:cNvSpPr txBox="1"/>
          <p:nvPr/>
        </p:nvSpPr>
        <p:spPr>
          <a:xfrm>
            <a:off x="4892040" y="331927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step 4"/>
          <p:cNvSpPr txBox="1"/>
          <p:nvPr/>
        </p:nvSpPr>
        <p:spPr>
          <a:xfrm>
            <a:off x="5440680" y="3227832"/>
            <a:ext cx="3063240" cy="548640"/>
          </a:xfrm>
          <a:prstGeom prst="rect">
            <a:avLst/>
          </a:prstGeom>
          <a:noFill/>
          <a:ln/>
        </p:spPr>
        <p:txBody>
          <a:bodyPr wrap="square" lIns="0" tIns="0" rIns="0" bIns="0" rtlCol="0" anchor="ctr"/>
          <a:lstStyle/>
          <a:p>
            <a:pPr marL="0" indent="0">
              <a:buNone/>
            </a:pPr>
            <a:r>
              <a:rPr lang="en-US" sz="1500" dirty="0">
                <a:solidFill>
                  <a:schemeClr val="bg1"/>
                </a:solidFill>
              </a:rPr>
              <a:t>Scale to zero and watch the Service go empty</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One name, many pods</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03-service.yaml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describe svc web                </a:t>
            </a:r>
            <a:r>
              <a:rPr lang="en-US" sz="1400" dirty="0">
                <a:solidFill>
                  <a:schemeClr val="accent2"/>
                </a:solidFill>
                <a:latin typeface="Courier New" pitchFamily="34" charset="0"/>
                <a:ea typeface="Courier New" pitchFamily="34" charset="-122"/>
                <a:cs typeface="Courier New" pitchFamily="34" charset="-120"/>
              </a:rPr>
              <a:t>  # Endpoints = pod IPs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run tmp --rm -it --image=busybox:1.36 -- sh</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  wget -qO- http://web                  </a:t>
            </a:r>
            <a:r>
              <a:rPr lang="en-US" sz="1400" dirty="0">
                <a:solidFill>
                  <a:schemeClr val="accent2"/>
                </a:solidFill>
                <a:latin typeface="Courier New" pitchFamily="34" charset="0"/>
                <a:ea typeface="Courier New" pitchFamily="34" charset="-122"/>
                <a:cs typeface="Courier New" pitchFamily="34" charset="-120"/>
              </a:rPr>
              <a:t>  # repeat it</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curl localhost:30090                    </a:t>
            </a:r>
            <a:r>
              <a:rPr lang="en-US" sz="1400" dirty="0">
                <a:solidFill>
                  <a:schemeClr val="accent2"/>
                </a:solidFill>
                <a:latin typeface="Courier New" pitchFamily="34" charset="0"/>
                <a:ea typeface="Courier New" pitchFamily="34" charset="-122"/>
                <a:cs typeface="Courier New" pitchFamily="34" charset="-120"/>
              </a:rPr>
              <a:t>  # from the laptop</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scale deploy web --replicas=0   </a:t>
            </a:r>
            <a:r>
              <a:rPr lang="en-US" sz="1400" dirty="0">
                <a:solidFill>
                  <a:schemeClr val="accent2"/>
                </a:solidFill>
                <a:latin typeface="Courier New" pitchFamily="34" charset="0"/>
                <a:ea typeface="Courier New" pitchFamily="34" charset="-122"/>
                <a:cs typeface="Courier New" pitchFamily="34" charset="-120"/>
              </a:rPr>
              <a:t>  # Endpoints empty</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Orphan pod is not in Endpoints</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Hostname changes: load-balanced</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0 replicas → request fails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ConfigMap &amp; Secret</a:t>
            </a:r>
            <a:endParaRPr lang="en-US" sz="3600" dirty="0"/>
          </a:p>
        </p:txBody>
      </p:sp>
      <p:sp>
        <p:nvSpPr>
          <p:cNvPr id="4" name="configmap"/>
          <p:cNvSpPr txBox="1"/>
          <p:nvPr/>
        </p:nvSpPr>
        <p:spPr>
          <a:xfrm>
            <a:off x="457200" y="1188720"/>
            <a:ext cx="3291840" cy="1188720"/>
          </a:xfrm>
          <a:prstGeom prst="roundRect">
            <a:avLst>
              <a:gd name="adj" fmla="val 7692"/>
            </a:avLst>
          </a:prstGeom>
          <a:solidFill>
            <a:schemeClr val="bg2"/>
          </a:solidFill>
          <a:ln/>
        </p:spPr>
        <p:txBody>
          <a:bodyPr wrap="square" lIns="177800" tIns="177800" rIns="177800" bIns="177800" rtlCol="0" anchor="ctr"/>
          <a:lstStyle/>
          <a:p>
            <a:pPr marL="0" indent="0" algn="l">
              <a:buNone/>
            </a:pPr>
            <a:r>
              <a:rPr lang="en-US" sz="1600" b="1" dirty="0">
                <a:solidFill>
                  <a:schemeClr val="tx1"/>
                </a:solidFill>
              </a:rPr>
              <a:t>ConfigMap</a:t>
            </a:r>
            <a:endParaRPr lang="en-US" sz="1300" dirty="0"/>
          </a:p>
          <a:p>
            <a:pPr marL="0" indent="0" algn="l">
              <a:buNone/>
            </a:pPr>
            <a:r>
              <a:rPr lang="en-US" sz="1300" dirty="0">
                <a:solidFill>
                  <a:schemeClr val="accent5"/>
                </a:solidFill>
              </a:rPr>
              <a:t>Plain settings</a:t>
            </a:r>
            <a:endParaRPr lang="en-US" sz="1300" dirty="0"/>
          </a:p>
          <a:p>
            <a:pPr marL="0" indent="0" algn="l">
              <a:buNone/>
            </a:pPr>
            <a:r>
              <a:rPr lang="en-US" sz="1300" dirty="0">
                <a:solidFill>
                  <a:schemeClr val="accent6"/>
                </a:solidFill>
                <a:latin typeface="Courier New" pitchFamily="34" charset="0"/>
                <a:ea typeface="Courier New" pitchFamily="34" charset="-122"/>
                <a:cs typeface="Courier New" pitchFamily="34" charset="-120"/>
              </a:rPr>
              <a:t>APP_COLOR: blue</a:t>
            </a:r>
            <a:endParaRPr lang="en-US" sz="1300" dirty="0"/>
          </a:p>
        </p:txBody>
      </p:sp>
      <p:sp>
        <p:nvSpPr>
          <p:cNvPr id="5" name="secret"/>
          <p:cNvSpPr txBox="1"/>
          <p:nvPr/>
        </p:nvSpPr>
        <p:spPr>
          <a:xfrm>
            <a:off x="457200" y="2514600"/>
            <a:ext cx="3291840" cy="1188720"/>
          </a:xfrm>
          <a:prstGeom prst="roundRect">
            <a:avLst>
              <a:gd name="adj" fmla="val 7692"/>
            </a:avLst>
          </a:prstGeom>
          <a:solidFill>
            <a:schemeClr val="bg2"/>
          </a:solidFill>
          <a:ln/>
        </p:spPr>
        <p:txBody>
          <a:bodyPr wrap="square" lIns="177800" tIns="177800" rIns="177800" bIns="177800" rtlCol="0" anchor="ctr"/>
          <a:lstStyle/>
          <a:p>
            <a:pPr marL="0" indent="0" algn="l">
              <a:buNone/>
            </a:pPr>
            <a:r>
              <a:rPr lang="en-US" sz="1600" b="1" dirty="0">
                <a:solidFill>
                  <a:schemeClr val="tx1"/>
                </a:solidFill>
              </a:rPr>
              <a:t>Secret</a:t>
            </a:r>
            <a:endParaRPr lang="en-US" sz="1300" dirty="0"/>
          </a:p>
          <a:p>
            <a:pPr marL="0" indent="0" algn="l">
              <a:buNone/>
            </a:pPr>
            <a:r>
              <a:rPr lang="en-US" sz="1300" dirty="0">
                <a:solidFill>
                  <a:schemeClr val="accent5"/>
                </a:solidFill>
              </a:rPr>
              <a:t>Passwords, tokens, keys</a:t>
            </a:r>
            <a:endParaRPr lang="en-US" sz="1300" dirty="0"/>
          </a:p>
          <a:p>
            <a:pPr marL="0" indent="0" algn="l">
              <a:buNone/>
            </a:pPr>
            <a:r>
              <a:rPr lang="en-US" sz="1300" dirty="0">
                <a:solidFill>
                  <a:schemeClr val="accent4"/>
                </a:solidFill>
                <a:latin typeface="Courier New" pitchFamily="34" charset="0"/>
                <a:ea typeface="Courier New" pitchFamily="34" charset="-122"/>
                <a:cs typeface="Courier New" pitchFamily="34" charset="-120"/>
              </a:rPr>
              <a:t>DB_PASSWORD: s3cr3t</a:t>
            </a:r>
            <a:endParaRPr lang="en-US" sz="1300" dirty="0"/>
          </a:p>
        </p:txBody>
      </p:sp>
      <p:sp>
        <p:nvSpPr>
          <p:cNvPr id="6" name="Shape 3"/>
          <p:cNvSpPr/>
          <p:nvPr/>
        </p:nvSpPr>
        <p:spPr>
          <a:xfrm>
            <a:off x="3749040" y="1783080"/>
            <a:ext cx="640080" cy="365760"/>
          </a:xfrm>
          <a:prstGeom prst="line">
            <a:avLst/>
          </a:prstGeom>
          <a:noFill/>
          <a:ln w="22225">
            <a:solidFill>
              <a:schemeClr val="accent5"/>
            </a:solidFill>
            <a:prstDash val="solid"/>
            <a:tailEnd type="triangle"/>
          </a:ln>
        </p:spPr>
        <p:txBody>
          <a:bodyPr/>
          <a:lstStyle/>
          <a:p>
            <a:endParaRPr lang="en-US"/>
          </a:p>
        </p:txBody>
      </p:sp>
      <p:sp>
        <p:nvSpPr>
          <p:cNvPr id="7" name="Shape 4"/>
          <p:cNvSpPr/>
          <p:nvPr/>
        </p:nvSpPr>
        <p:spPr>
          <a:xfrm flipV="1">
            <a:off x="3749040" y="2743200"/>
            <a:ext cx="640080" cy="365760"/>
          </a:xfrm>
          <a:prstGeom prst="line">
            <a:avLst/>
          </a:prstGeom>
          <a:noFill/>
          <a:ln w="22225">
            <a:solidFill>
              <a:schemeClr val="accent5"/>
            </a:solidFill>
            <a:prstDash val="solid"/>
            <a:tailEnd type="triangle"/>
          </a:ln>
        </p:spPr>
        <p:txBody>
          <a:bodyPr/>
          <a:lstStyle/>
          <a:p>
            <a:endParaRPr lang="en-US"/>
          </a:p>
        </p:txBody>
      </p:sp>
      <p:sp>
        <p:nvSpPr>
          <p:cNvPr id="8" name="pod outline"/>
          <p:cNvSpPr txBox="1"/>
          <p:nvPr/>
        </p:nvSpPr>
        <p:spPr>
          <a:xfrm>
            <a:off x="4389120" y="1188720"/>
            <a:ext cx="4297680" cy="2514600"/>
          </a:xfrm>
          <a:prstGeom prst="roundRect">
            <a:avLst>
              <a:gd name="adj" fmla="val 5455"/>
            </a:avLst>
          </a:prstGeom>
          <a:ln w="15875">
            <a:solidFill>
              <a:schemeClr val="accent1"/>
            </a:solidFill>
            <a:prstDash val="solid"/>
          </a:ln>
        </p:spPr>
        <p:txBody>
          <a:bodyPr wrap="square" lIns="76200" tIns="76200" rIns="76200" bIns="76200" rtlCol="0" anchor="ctr"/>
          <a:lstStyle/>
          <a:p>
            <a:pPr marL="0" indent="0" algn="ctr">
              <a:buNone/>
            </a:pPr>
            <a:endParaRPr lang="en-US" sz="1300" dirty="0"/>
          </a:p>
        </p:txBody>
      </p:sp>
      <p:sp>
        <p:nvSpPr>
          <p:cNvPr id="9" name="Text 6"/>
          <p:cNvSpPr txBox="1"/>
          <p:nvPr/>
        </p:nvSpPr>
        <p:spPr>
          <a:xfrm>
            <a:off x="4572000" y="1298448"/>
            <a:ext cx="3931920" cy="320040"/>
          </a:xfrm>
          <a:prstGeom prst="rect">
            <a:avLst/>
          </a:prstGeom>
          <a:noFill/>
          <a:ln/>
        </p:spPr>
        <p:txBody>
          <a:bodyPr wrap="square" lIns="0" tIns="0" rIns="0" bIns="0" rtlCol="0" anchor="t"/>
          <a:lstStyle/>
          <a:p>
            <a:pPr marL="0" indent="0">
              <a:buNone/>
            </a:pPr>
            <a:r>
              <a:rPr lang="en-US" sz="1400" b="1" dirty="0">
                <a:solidFill>
                  <a:schemeClr val="accent1"/>
                </a:solidFill>
              </a:rPr>
              <a:t>Pod  </a:t>
            </a:r>
            <a:r>
              <a:rPr lang="en-US" sz="1300" dirty="0">
                <a:solidFill>
                  <a:schemeClr val="accent1"/>
                </a:solidFill>
                <a:latin typeface="Courier New" pitchFamily="34" charset="0"/>
                <a:ea typeface="Courier New" pitchFamily="34" charset="-122"/>
                <a:cs typeface="Courier New" pitchFamily="34" charset="-120"/>
              </a:rPr>
              <a:t>config-demo</a:t>
            </a:r>
            <a:endParaRPr lang="en-US" sz="1400" dirty="0"/>
          </a:p>
        </p:txBody>
      </p:sp>
      <p:sp>
        <p:nvSpPr>
          <p:cNvPr id="10" name="env vars"/>
          <p:cNvSpPr txBox="1"/>
          <p:nvPr/>
        </p:nvSpPr>
        <p:spPr>
          <a:xfrm>
            <a:off x="4572000" y="1737360"/>
            <a:ext cx="1920240" cy="1783080"/>
          </a:xfrm>
          <a:prstGeom prst="roundRect">
            <a:avLst>
              <a:gd name="adj" fmla="val 5128"/>
            </a:avLst>
          </a:prstGeom>
          <a:solidFill>
            <a:schemeClr val="bg1"/>
          </a:solidFill>
          <a:ln w="15875">
            <a:solidFill>
              <a:schemeClr val="accent5"/>
            </a:solidFill>
            <a:prstDash val="solid"/>
          </a:ln>
        </p:spPr>
        <p:txBody>
          <a:bodyPr wrap="square" lIns="127000" tIns="127000" rIns="127000" bIns="127000" rtlCol="0" anchor="t"/>
          <a:lstStyle/>
          <a:p>
            <a:pPr marL="0" indent="0" algn="l">
              <a:spcAft>
                <a:spcPts val="400"/>
              </a:spcAft>
              <a:buNone/>
            </a:pPr>
            <a:r>
              <a:rPr lang="en-US" sz="1400" b="1" dirty="0">
                <a:solidFill>
                  <a:schemeClr val="tx1"/>
                </a:solidFill>
              </a:rPr>
              <a:t>As env vars</a:t>
            </a:r>
            <a:endParaRPr lang="en-US" sz="1300" dirty="0"/>
          </a:p>
          <a:p>
            <a:pPr marL="0" indent="0" algn="l">
              <a:spcAft>
                <a:spcPts val="400"/>
              </a:spcAft>
              <a:buNone/>
            </a:pPr>
            <a:r>
              <a:rPr lang="en-US" sz="1100" dirty="0">
                <a:solidFill>
                  <a:schemeClr val="tx1"/>
                </a:solidFill>
                <a:latin typeface="Courier New" pitchFamily="34" charset="0"/>
                <a:ea typeface="Courier New" pitchFamily="34" charset="-122"/>
                <a:cs typeface="Courier New" pitchFamily="34" charset="-120"/>
              </a:rPr>
              <a:t>APP_COLOR=blue</a:t>
            </a:r>
            <a:endParaRPr lang="en-US" sz="1300" dirty="0"/>
          </a:p>
          <a:p>
            <a:pPr marL="0" indent="0" algn="l">
              <a:spcAft>
                <a:spcPts val="400"/>
              </a:spcAft>
              <a:buNone/>
            </a:pPr>
            <a:r>
              <a:rPr lang="en-US" sz="1100" dirty="0">
                <a:solidFill>
                  <a:schemeClr val="tx1"/>
                </a:solidFill>
                <a:latin typeface="Courier New" pitchFamily="34" charset="0"/>
                <a:ea typeface="Courier New" pitchFamily="34" charset="-122"/>
                <a:cs typeface="Courier New" pitchFamily="34" charset="-120"/>
              </a:rPr>
              <a:t>DB_PASSWORD=s3cr3t</a:t>
            </a:r>
            <a:endParaRPr lang="en-US" sz="1300" dirty="0"/>
          </a:p>
        </p:txBody>
      </p:sp>
      <p:sp>
        <p:nvSpPr>
          <p:cNvPr id="11" name="files"/>
          <p:cNvSpPr txBox="1"/>
          <p:nvPr/>
        </p:nvSpPr>
        <p:spPr>
          <a:xfrm>
            <a:off x="6629400" y="1737360"/>
            <a:ext cx="1874520" cy="1783080"/>
          </a:xfrm>
          <a:prstGeom prst="roundRect">
            <a:avLst>
              <a:gd name="adj" fmla="val 5128"/>
            </a:avLst>
          </a:prstGeom>
          <a:solidFill>
            <a:schemeClr val="bg1"/>
          </a:solidFill>
          <a:ln w="15875">
            <a:solidFill>
              <a:schemeClr val="accent5"/>
            </a:solidFill>
            <a:prstDash val="solid"/>
          </a:ln>
        </p:spPr>
        <p:txBody>
          <a:bodyPr wrap="square" lIns="127000" tIns="127000" rIns="127000" bIns="127000" rtlCol="0" anchor="t"/>
          <a:lstStyle/>
          <a:p>
            <a:pPr marL="0" indent="0" algn="l">
              <a:spcAft>
                <a:spcPts val="400"/>
              </a:spcAft>
              <a:buNone/>
            </a:pPr>
            <a:r>
              <a:rPr lang="en-US" sz="1400" b="1" dirty="0">
                <a:solidFill>
                  <a:schemeClr val="tx1"/>
                </a:solidFill>
              </a:rPr>
              <a:t>As files</a:t>
            </a:r>
            <a:endParaRPr lang="en-US" sz="1300" dirty="0"/>
          </a:p>
          <a:p>
            <a:pPr marL="0" indent="0" algn="l">
              <a:spcAft>
                <a:spcPts val="400"/>
              </a:spcAft>
              <a:buNone/>
            </a:pPr>
            <a:r>
              <a:rPr lang="en-US" sz="1100" dirty="0">
                <a:solidFill>
                  <a:schemeClr val="tx1"/>
                </a:solidFill>
                <a:latin typeface="Courier New" pitchFamily="34" charset="0"/>
                <a:ea typeface="Courier New" pitchFamily="34" charset="-122"/>
                <a:cs typeface="Courier New" pitchFamily="34" charset="-120"/>
              </a:rPr>
              <a:t>/etc/config/</a:t>
            </a:r>
            <a:endParaRPr lang="en-US" sz="1300" dirty="0"/>
          </a:p>
          <a:p>
            <a:pPr marL="0" indent="0" algn="l">
              <a:spcAft>
                <a:spcPts val="400"/>
              </a:spcAft>
              <a:buNone/>
            </a:pPr>
            <a:r>
              <a:rPr lang="en-US" sz="1100" dirty="0">
                <a:solidFill>
                  <a:schemeClr val="tx1"/>
                </a:solidFill>
                <a:latin typeface="Courier New" pitchFamily="34" charset="0"/>
                <a:ea typeface="Courier New" pitchFamily="34" charset="-122"/>
                <a:cs typeface="Courier New" pitchFamily="34" charset="-120"/>
              </a:rPr>
              <a:t>  APP_COLOR</a:t>
            </a:r>
            <a:endParaRPr lang="en-US" sz="1300" dirty="0"/>
          </a:p>
          <a:p>
            <a:pPr marL="0" indent="0" algn="l">
              <a:spcAft>
                <a:spcPts val="400"/>
              </a:spcAft>
              <a:buNone/>
            </a:pPr>
            <a:r>
              <a:rPr lang="en-US" sz="1100" dirty="0">
                <a:solidFill>
                  <a:schemeClr val="tx1"/>
                </a:solidFill>
                <a:latin typeface="Courier New" pitchFamily="34" charset="0"/>
                <a:ea typeface="Courier New" pitchFamily="34" charset="-122"/>
                <a:cs typeface="Courier New" pitchFamily="34" charset="-120"/>
              </a:rPr>
              <a:t>  APP_MODE</a:t>
            </a:r>
            <a:endParaRPr lang="en-US" sz="1300" dirty="0"/>
          </a:p>
        </p:txBody>
      </p:sp>
      <p:sp>
        <p:nvSpPr>
          <p:cNvPr id="12" name="secret warning"/>
          <p:cNvSpPr txBox="1"/>
          <p:nvPr/>
        </p:nvSpPr>
        <p:spPr>
          <a:xfrm>
            <a:off x="457200" y="3886200"/>
            <a:ext cx="8229600" cy="594360"/>
          </a:xfrm>
          <a:prstGeom prst="roundRect">
            <a:avLst>
              <a:gd name="adj" fmla="val 15385"/>
            </a:avLst>
          </a:prstGeom>
          <a:solidFill>
            <a:schemeClr val="accent4">
              <a:alpha val="12000"/>
            </a:schemeClr>
          </a:solidFill>
          <a:ln/>
        </p:spPr>
        <p:txBody>
          <a:bodyPr wrap="square" lIns="177800" tIns="177800" rIns="177800" bIns="177800" rtlCol="0" anchor="ctr"/>
          <a:lstStyle/>
          <a:p>
            <a:pPr marL="0" indent="0">
              <a:buNone/>
            </a:pPr>
            <a:r>
              <a:rPr lang="en-US" sz="1500" b="1" dirty="0">
                <a:solidFill>
                  <a:schemeClr val="accent4"/>
                </a:solidFill>
              </a:rPr>
              <a:t>Heads-up: </a:t>
            </a:r>
            <a:r>
              <a:rPr lang="en-US" sz="1500" dirty="0">
                <a:solidFill>
                  <a:schemeClr val="tx1"/>
                </a:solidFill>
              </a:rPr>
              <a:t>Secrets are base64-encoded, not encrypted.   </a:t>
            </a:r>
            <a:r>
              <a:rPr lang="en-US" sz="1500" dirty="0">
                <a:solidFill>
                  <a:schemeClr val="tx1"/>
                </a:solidFill>
                <a:latin typeface="Courier New" pitchFamily="34" charset="0"/>
                <a:ea typeface="Courier New" pitchFamily="34" charset="-122"/>
                <a:cs typeface="Courier New" pitchFamily="34" charset="-120"/>
              </a:rPr>
              <a:t>s3cr3t → czNjcjN0</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5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Config in, secrets out</a:t>
            </a:r>
            <a:endParaRPr lang="en-US" sz="3400" dirty="0"/>
          </a:p>
        </p:txBody>
      </p:sp>
      <p:sp>
        <p:nvSpPr>
          <p:cNvPr id="4" name="plan panel"/>
          <p:cNvSpPr txBox="1"/>
          <p:nvPr/>
        </p:nvSpPr>
        <p:spPr>
          <a:xfrm>
            <a:off x="4572000" y="868680"/>
            <a:ext cx="4114800" cy="2542032"/>
          </a:xfrm>
          <a:prstGeom prst="roundRect">
            <a:avLst>
              <a:gd name="adj" fmla="val 5396"/>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Create a ConfigMap, a Secret and a pod using both</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Read the values as env vars and as files</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Decode the Secret to prove it isn't encrypted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Config in, secrets out</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04-config.yaml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config-demo -- env | grep -E 'APP_|DB_'</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config-demo -- ls /etc/config</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config-demo -- cat /etc/config/APP_COLOR</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secret app-secret -o yaml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secret app-secret \</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  -o jsonpath='{.data.DB_PASSWORD}' | base64 -d</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Same values, two delivery methods</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Stored value is just base64</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One command decodes the password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StatefulSet vs Deployment</a:t>
            </a:r>
            <a:endParaRPr lang="en-US" sz="3600" dirty="0"/>
          </a:p>
        </p:txBody>
      </p:sp>
      <p:graphicFrame>
        <p:nvGraphicFramePr>
          <p:cNvPr id="27"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54940200" cy="25298400"/>
        </p:xfrm>
        <a:graphic>
          <a:graphicData uri="http://schemas.openxmlformats.org/drawingml/2006/table">
            <a:tbl>
              <a:tblPr/>
              <a:tblGrid>
                <a:gridCol w="18313400">
                  <a:extLst>
                    <a:ext uri="{9D8B030D-6E8A-4147-A177-3AD203B41FA5}">
                      <a16:colId xmlns:a16="http://schemas.microsoft.com/office/drawing/2014/main" val="20000"/>
                    </a:ext>
                  </a:extLst>
                </a:gridCol>
                <a:gridCol w="18313400">
                  <a:extLst>
                    <a:ext uri="{9D8B030D-6E8A-4147-A177-3AD203B41FA5}">
                      <a16:colId xmlns:a16="http://schemas.microsoft.com/office/drawing/2014/main" val="20001"/>
                    </a:ext>
                  </a:extLst>
                </a:gridCol>
                <a:gridCol w="18313400">
                  <a:extLst>
                    <a:ext uri="{9D8B030D-6E8A-4147-A177-3AD203B41FA5}">
                      <a16:colId xmlns:a16="http://schemas.microsoft.com/office/drawing/2014/main" val="20002"/>
                    </a:ext>
                  </a:extLst>
                </a:gridCol>
              </a:tblGrid>
              <a:tr h="457200">
                <a:tc>
                  <a:txBody>
                    <a:bodyPr/>
                    <a:lstStyle/>
                    <a:p>
                      <a:pPr marL="0" indent="0">
                        <a:buNone/>
                      </a:pP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buNone/>
                      </a:pPr>
                      <a:r>
                        <a:rPr lang="en-US" sz="1600" b="1" dirty="0">
                          <a:solidFill>
                            <a:schemeClr val="bg1"/>
                          </a:solidFill>
                        </a:rPr>
                        <a:t>Deployment</a:t>
                      </a:r>
                      <a:endParaRPr lang="en-US" sz="16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StatefulSet</a:t>
                      </a:r>
                      <a:endParaRPr lang="en-US" sz="16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Pod names</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web-69854dc446-xk2pq (random)</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db-0, db-1, db-2 (stable)</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Startup</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All at once</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One by one, in order</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Storage</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No disk of its own</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Own disk each: data-db-0 …</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Network</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One Service IP for all</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Own DNS name: db-0.db</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tx1"/>
                          </a:solidFill>
                        </a:rPr>
                        <a:t>Good for</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Stateless web apps, APIs</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Databases, queues, Kafka</a:t>
                      </a:r>
                      <a:endParaRPr lang="en-US" sz="1400" dirty="0"/>
                    </a:p>
                  </a:txBody>
                  <a:tcPr marL="9144000" marR="914400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069080"/>
            <a:ext cx="8229600" cy="411480"/>
          </a:xfrm>
          <a:prstGeom prst="rect">
            <a:avLst/>
          </a:prstGeom>
          <a:noFill/>
          <a:ln/>
        </p:spPr>
        <p:txBody>
          <a:bodyPr wrap="square" lIns="0" tIns="0" rIns="0" bIns="0" rtlCol="0" anchor="t"/>
          <a:lstStyle/>
          <a:p>
            <a:pPr marL="0" indent="0">
              <a:buNone/>
            </a:pPr>
            <a:r>
              <a:rPr lang="en-US" sz="1500" b="1" dirty="0">
                <a:solidFill>
                  <a:schemeClr val="tx1"/>
                </a:solidFill>
              </a:rPr>
              <a:t>Cattle vs pets: </a:t>
            </a:r>
            <a:r>
              <a:rPr lang="en-US" sz="1500" dirty="0">
                <a:solidFill>
                  <a:schemeClr val="accent5"/>
                </a:solidFill>
              </a:rPr>
              <a:t>replace a Deployment pod freely; a StatefulSet pod comes back as itself.</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6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Stable names, stable data</a:t>
            </a:r>
            <a:endParaRPr lang="en-US" sz="3400" dirty="0"/>
          </a:p>
        </p:txBody>
      </p:sp>
      <p:sp>
        <p:nvSpPr>
          <p:cNvPr id="4" name="plan panel"/>
          <p:cNvSpPr txBox="1"/>
          <p:nvPr/>
        </p:nvSpPr>
        <p:spPr>
          <a:xfrm>
            <a:off x="4572000" y="868680"/>
            <a:ext cx="4114800" cy="3145536"/>
          </a:xfrm>
          <a:prstGeom prst="roundRect">
            <a:avLst>
              <a:gd name="adj" fmla="val 4360"/>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Create a 3-pod StatefulSet; watch the start order</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See one disk (PVC) per pod</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Write data, delete the pod, find the data still there</a:t>
            </a:r>
            <a:endParaRPr lang="en-US" sz="1500" dirty="0"/>
          </a:p>
        </p:txBody>
      </p:sp>
      <p:sp>
        <p:nvSpPr>
          <p:cNvPr id="12" name="dot 4"/>
          <p:cNvSpPr txBox="1"/>
          <p:nvPr/>
        </p:nvSpPr>
        <p:spPr>
          <a:xfrm>
            <a:off x="4892040" y="331927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step 4"/>
          <p:cNvSpPr txBox="1"/>
          <p:nvPr/>
        </p:nvSpPr>
        <p:spPr>
          <a:xfrm>
            <a:off x="5440680" y="3227832"/>
            <a:ext cx="3063240" cy="548640"/>
          </a:xfrm>
          <a:prstGeom prst="rect">
            <a:avLst/>
          </a:prstGeom>
          <a:noFill/>
          <a:ln/>
        </p:spPr>
        <p:txBody>
          <a:bodyPr wrap="square" lIns="0" tIns="0" rIns="0" bIns="0" rtlCol="0" anchor="ctr"/>
          <a:lstStyle/>
          <a:p>
            <a:pPr marL="0" indent="0">
              <a:buNone/>
            </a:pPr>
            <a:r>
              <a:rPr lang="en-US" sz="1500" dirty="0">
                <a:solidFill>
                  <a:schemeClr val="bg1"/>
                </a:solidFill>
              </a:rPr>
              <a:t>Reach one pod by its own DNS name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Stable names, stable data</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05-statefulset.yaml    </a:t>
            </a:r>
            <a:r>
              <a:rPr lang="en-US" sz="1400" dirty="0">
                <a:solidFill>
                  <a:schemeClr val="accent2"/>
                </a:solidFill>
                <a:latin typeface="Courier New" pitchFamily="34" charset="0"/>
                <a:ea typeface="Courier New" pitchFamily="34" charset="-122"/>
                <a:cs typeface="Courier New" pitchFamily="34" charset="-120"/>
              </a:rPr>
              <a:t>  # db-0, db-1, db-2</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pvc                         </a:t>
            </a:r>
            <a:r>
              <a:rPr lang="en-US" sz="1400" dirty="0">
                <a:solidFill>
                  <a:schemeClr val="accent2"/>
                </a:solidFill>
                <a:latin typeface="Courier New" pitchFamily="34" charset="0"/>
                <a:ea typeface="Courier New" pitchFamily="34" charset="-122"/>
                <a:cs typeface="Courier New" pitchFamily="34" charset="-120"/>
              </a:rPr>
              <a:t>  # one disk per pod</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db-0 -- sh -c \</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  'echo "hello from db-0" &gt; /usr/share/nginx/html/index.html'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delete pod db-0</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exec db-0 -- cat /usr/share/nginx/html/index.html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run tmp --rm -it --image=busybox:1.36 -- \</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  wget -qO- http://db-0.db</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Pods start one by one, in order</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db-0 returns with the same name</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…and the same data on its disk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HPA: scale on CPU</a:t>
            </a:r>
            <a:endParaRPr lang="en-US" sz="3600" dirty="0"/>
          </a:p>
        </p:txBody>
      </p:sp>
      <p:sp>
        <p:nvSpPr>
          <p:cNvPr id="4" name="metrics-server"/>
          <p:cNvSpPr txBox="1"/>
          <p:nvPr/>
        </p:nvSpPr>
        <p:spPr>
          <a:xfrm>
            <a:off x="457200" y="1188720"/>
            <a:ext cx="2194560" cy="1005840"/>
          </a:xfrm>
          <a:prstGeom prst="roundRect">
            <a:avLst>
              <a:gd name="adj" fmla="val 9091"/>
            </a:avLst>
          </a:prstGeom>
          <a:solidFill>
            <a:schemeClr val="bg2"/>
          </a:solidFill>
          <a:ln/>
        </p:spPr>
        <p:txBody>
          <a:bodyPr wrap="square" lIns="76200" tIns="76200" rIns="76200" bIns="76200" rtlCol="0" anchor="ctr"/>
          <a:lstStyle/>
          <a:p>
            <a:pPr marL="0" indent="0" algn="ctr">
              <a:buNone/>
            </a:pPr>
            <a:r>
              <a:rPr lang="en-US" sz="1500" b="1" dirty="0">
                <a:solidFill>
                  <a:schemeClr val="tx1"/>
                </a:solidFill>
              </a:rPr>
              <a:t>metrics-server</a:t>
            </a:r>
            <a:endParaRPr lang="en-US" sz="1300" dirty="0"/>
          </a:p>
          <a:p>
            <a:pPr marL="0" indent="0" algn="ctr">
              <a:buNone/>
            </a:pPr>
            <a:r>
              <a:rPr lang="en-US" sz="1200" dirty="0">
                <a:solidFill>
                  <a:schemeClr val="tx1"/>
                </a:solidFill>
              </a:rPr>
              <a:t>measures pod CPU</a:t>
            </a:r>
            <a:endParaRPr lang="en-US" sz="1300" dirty="0"/>
          </a:p>
        </p:txBody>
      </p:sp>
      <p:sp>
        <p:nvSpPr>
          <p:cNvPr id="5" name="HPA"/>
          <p:cNvSpPr txBox="1"/>
          <p:nvPr/>
        </p:nvSpPr>
        <p:spPr>
          <a:xfrm>
            <a:off x="3063240" y="1188720"/>
            <a:ext cx="2194560" cy="1005840"/>
          </a:xfrm>
          <a:prstGeom prst="roundRect">
            <a:avLst>
              <a:gd name="adj" fmla="val 9091"/>
            </a:avLst>
          </a:prstGeom>
          <a:solidFill>
            <a:schemeClr val="accent2"/>
          </a:solidFill>
          <a:ln/>
        </p:spPr>
        <p:txBody>
          <a:bodyPr wrap="square" lIns="76200" tIns="76200" rIns="76200" bIns="76200" rtlCol="0" anchor="ctr"/>
          <a:lstStyle/>
          <a:p>
            <a:pPr marL="0" indent="0" algn="ctr">
              <a:buNone/>
            </a:pPr>
            <a:r>
              <a:rPr lang="en-US" sz="1500" b="1" dirty="0">
                <a:solidFill>
                  <a:schemeClr val="tx1"/>
                </a:solidFill>
              </a:rPr>
              <a:t>HPA</a:t>
            </a:r>
            <a:endParaRPr lang="en-US" sz="1300" dirty="0"/>
          </a:p>
          <a:p>
            <a:pPr marL="0" indent="0" algn="ctr">
              <a:buNone/>
            </a:pPr>
            <a:r>
              <a:rPr lang="en-US" sz="1200" dirty="0">
                <a:solidFill>
                  <a:schemeClr val="tx1"/>
                </a:solidFill>
              </a:rPr>
              <a:t>target: 50% of request</a:t>
            </a:r>
            <a:endParaRPr lang="en-US" sz="1300" dirty="0"/>
          </a:p>
        </p:txBody>
      </p:sp>
      <p:sp>
        <p:nvSpPr>
          <p:cNvPr id="6" name="Deployment"/>
          <p:cNvSpPr txBox="1"/>
          <p:nvPr/>
        </p:nvSpPr>
        <p:spPr>
          <a:xfrm>
            <a:off x="3063240" y="3017520"/>
            <a:ext cx="2194560" cy="1005840"/>
          </a:xfrm>
          <a:prstGeom prst="roundRect">
            <a:avLst>
              <a:gd name="adj" fmla="val 9091"/>
            </a:avLst>
          </a:prstGeom>
          <a:solidFill>
            <a:schemeClr val="tx2"/>
          </a:solidFill>
          <a:ln/>
        </p:spPr>
        <p:txBody>
          <a:bodyPr wrap="square" lIns="76200" tIns="76200" rIns="76200" bIns="76200" rtlCol="0" anchor="ctr"/>
          <a:lstStyle/>
          <a:p>
            <a:pPr marL="0" indent="0" algn="ctr">
              <a:buNone/>
            </a:pPr>
            <a:r>
              <a:rPr lang="en-US" sz="1500" b="1" dirty="0">
                <a:solidFill>
                  <a:schemeClr val="bg1"/>
                </a:solidFill>
              </a:rPr>
              <a:t>Deployment</a:t>
            </a:r>
            <a:endParaRPr lang="en-US" sz="1300" dirty="0"/>
          </a:p>
          <a:p>
            <a:pPr marL="0" indent="0" algn="ctr">
              <a:buNone/>
            </a:pPr>
            <a:r>
              <a:rPr lang="en-US" sz="1200" dirty="0">
                <a:solidFill>
                  <a:schemeClr val="bg1"/>
                </a:solidFill>
              </a:rPr>
              <a:t>replicas: 1 → 5</a:t>
            </a:r>
            <a:endParaRPr lang="en-US" sz="1300" dirty="0"/>
          </a:p>
        </p:txBody>
      </p:sp>
      <p:sp>
        <p:nvSpPr>
          <p:cNvPr id="7" name="Pods"/>
          <p:cNvSpPr txBox="1"/>
          <p:nvPr/>
        </p:nvSpPr>
        <p:spPr>
          <a:xfrm>
            <a:off x="457200" y="3017520"/>
            <a:ext cx="2194560" cy="1005840"/>
          </a:xfrm>
          <a:prstGeom prst="roundRect">
            <a:avLst>
              <a:gd name="adj" fmla="val 9091"/>
            </a:avLst>
          </a:prstGeom>
          <a:solidFill>
            <a:schemeClr val="accent1"/>
          </a:solidFill>
          <a:ln/>
        </p:spPr>
        <p:txBody>
          <a:bodyPr wrap="square" lIns="76200" tIns="76200" rIns="76200" bIns="76200" rtlCol="0" anchor="ctr"/>
          <a:lstStyle/>
          <a:p>
            <a:pPr marL="0" indent="0" algn="ctr">
              <a:buNone/>
            </a:pPr>
            <a:r>
              <a:rPr lang="en-US" sz="1500" b="1" dirty="0">
                <a:solidFill>
                  <a:schemeClr val="bg1"/>
                </a:solidFill>
              </a:rPr>
              <a:t>Pods</a:t>
            </a:r>
            <a:endParaRPr lang="en-US" sz="1300" dirty="0"/>
          </a:p>
          <a:p>
            <a:pPr marL="0" indent="0" algn="ctr">
              <a:buNone/>
            </a:pPr>
            <a:r>
              <a:rPr lang="en-US" sz="1200" dirty="0">
                <a:solidFill>
                  <a:schemeClr val="bg1"/>
                </a:solidFill>
              </a:rPr>
              <a:t>more pods share the load</a:t>
            </a:r>
            <a:endParaRPr lang="en-US" sz="1300" dirty="0"/>
          </a:p>
        </p:txBody>
      </p:sp>
      <p:sp>
        <p:nvSpPr>
          <p:cNvPr id="8" name="Shape 5"/>
          <p:cNvSpPr/>
          <p:nvPr/>
        </p:nvSpPr>
        <p:spPr>
          <a:xfrm>
            <a:off x="2651760" y="1691640"/>
            <a:ext cx="411480" cy="0"/>
          </a:xfrm>
          <a:prstGeom prst="line">
            <a:avLst/>
          </a:prstGeom>
          <a:noFill/>
          <a:ln w="22225">
            <a:solidFill>
              <a:schemeClr val="accent5"/>
            </a:solidFill>
            <a:prstDash val="solid"/>
            <a:tailEnd type="triangle"/>
          </a:ln>
        </p:spPr>
        <p:txBody>
          <a:bodyPr/>
          <a:lstStyle/>
          <a:p>
            <a:endParaRPr lang="en-US"/>
          </a:p>
        </p:txBody>
      </p:sp>
      <p:sp>
        <p:nvSpPr>
          <p:cNvPr id="9" name="Shape 6"/>
          <p:cNvSpPr/>
          <p:nvPr/>
        </p:nvSpPr>
        <p:spPr>
          <a:xfrm>
            <a:off x="4160520" y="2194560"/>
            <a:ext cx="0" cy="822960"/>
          </a:xfrm>
          <a:prstGeom prst="line">
            <a:avLst/>
          </a:prstGeom>
          <a:noFill/>
          <a:ln w="22225">
            <a:solidFill>
              <a:schemeClr val="accent5"/>
            </a:solidFill>
            <a:prstDash val="solid"/>
            <a:tailEnd type="triangle"/>
          </a:ln>
        </p:spPr>
        <p:txBody>
          <a:bodyPr/>
          <a:lstStyle/>
          <a:p>
            <a:endParaRPr lang="en-US"/>
          </a:p>
        </p:txBody>
      </p:sp>
      <p:sp>
        <p:nvSpPr>
          <p:cNvPr id="10" name="Shape 7"/>
          <p:cNvSpPr/>
          <p:nvPr/>
        </p:nvSpPr>
        <p:spPr>
          <a:xfrm flipH="1">
            <a:off x="2651760" y="3520440"/>
            <a:ext cx="411480" cy="0"/>
          </a:xfrm>
          <a:prstGeom prst="line">
            <a:avLst/>
          </a:prstGeom>
          <a:noFill/>
          <a:ln w="22225">
            <a:solidFill>
              <a:schemeClr val="accent5"/>
            </a:solidFill>
            <a:prstDash val="solid"/>
            <a:tailEnd type="triangle"/>
          </a:ln>
        </p:spPr>
        <p:txBody>
          <a:bodyPr/>
          <a:lstStyle/>
          <a:p>
            <a:endParaRPr lang="en-US"/>
          </a:p>
        </p:txBody>
      </p:sp>
      <p:sp>
        <p:nvSpPr>
          <p:cNvPr id="11" name="Shape 8"/>
          <p:cNvSpPr/>
          <p:nvPr/>
        </p:nvSpPr>
        <p:spPr>
          <a:xfrm flipV="1">
            <a:off x="1554480" y="2194560"/>
            <a:ext cx="0" cy="822960"/>
          </a:xfrm>
          <a:prstGeom prst="line">
            <a:avLst/>
          </a:prstGeom>
          <a:noFill/>
          <a:ln w="22225">
            <a:solidFill>
              <a:schemeClr val="accent5"/>
            </a:solidFill>
            <a:prstDash val="solid"/>
            <a:tailEnd type="triangle"/>
          </a:ln>
        </p:spPr>
        <p:txBody>
          <a:bodyPr/>
          <a:lstStyle/>
          <a:p>
            <a:endParaRPr lang="en-US"/>
          </a:p>
        </p:txBody>
      </p:sp>
      <p:sp>
        <p:nvSpPr>
          <p:cNvPr id="12" name="Text 9"/>
          <p:cNvSpPr txBox="1"/>
          <p:nvPr/>
        </p:nvSpPr>
        <p:spPr>
          <a:xfrm>
            <a:off x="1691640" y="2468880"/>
            <a:ext cx="2331720" cy="320040"/>
          </a:xfrm>
          <a:prstGeom prst="rect">
            <a:avLst/>
          </a:prstGeom>
          <a:noFill/>
          <a:ln/>
        </p:spPr>
        <p:txBody>
          <a:bodyPr wrap="square" lIns="0" tIns="0" rIns="0" bIns="0" rtlCol="0" anchor="t"/>
          <a:lstStyle/>
          <a:p>
            <a:pPr marL="0" indent="0" algn="ctr">
              <a:buNone/>
            </a:pPr>
            <a:r>
              <a:rPr lang="en-US" sz="1200" i="1" dirty="0">
                <a:solidFill>
                  <a:schemeClr val="accent5"/>
                </a:solidFill>
              </a:rPr>
              <a:t>loop every 15s</a:t>
            </a:r>
            <a:endParaRPr lang="en-US" sz="1200" dirty="0"/>
          </a:p>
        </p:txBody>
      </p:sp>
      <p:sp>
        <p:nvSpPr>
          <p:cNvPr id="13" name="hpa math"/>
          <p:cNvSpPr txBox="1"/>
          <p:nvPr/>
        </p:nvSpPr>
        <p:spPr>
          <a:xfrm>
            <a:off x="5486400" y="1188720"/>
            <a:ext cx="3200400" cy="1417320"/>
          </a:xfrm>
          <a:prstGeom prst="roundRect">
            <a:avLst>
              <a:gd name="adj" fmla="val 5161"/>
            </a:avLst>
          </a:prstGeom>
          <a:solidFill>
            <a:schemeClr val="tx1"/>
          </a:solidFill>
          <a:ln/>
        </p:spPr>
        <p:txBody>
          <a:bodyPr wrap="square" lIns="152400" tIns="152400" rIns="152400" bIns="152400" rtlCol="0" anchor="ctr"/>
          <a:lstStyle/>
          <a:p>
            <a:pPr marL="0" indent="0" algn="l">
              <a:buNone/>
            </a:pPr>
            <a:r>
              <a:rPr lang="en-US" sz="1200" dirty="0">
                <a:solidFill>
                  <a:schemeClr val="bg2"/>
                </a:solidFill>
                <a:latin typeface="Courier New" pitchFamily="34" charset="0"/>
                <a:ea typeface="Courier New" pitchFamily="34" charset="-122"/>
                <a:cs typeface="Courier New" pitchFamily="34" charset="-120"/>
              </a:rPr>
              <a:t>desired =</a:t>
            </a:r>
            <a:endParaRPr lang="en-US" sz="1300" dirty="0"/>
          </a:p>
          <a:p>
            <a:pPr marL="0" indent="0" algn="l">
              <a:buNone/>
            </a:pPr>
            <a:r>
              <a:rPr lang="en-US" sz="1100" dirty="0">
                <a:solidFill>
                  <a:schemeClr val="bg1"/>
                </a:solidFill>
                <a:latin typeface="Courier New" pitchFamily="34" charset="0"/>
                <a:ea typeface="Courier New" pitchFamily="34" charset="-122"/>
                <a:cs typeface="Courier New" pitchFamily="34" charset="-120"/>
              </a:rPr>
              <a:t>ceil(current × actual ÷ target)</a:t>
            </a:r>
            <a:endParaRPr lang="en-US" sz="1300" dirty="0"/>
          </a:p>
          <a:p>
            <a:pPr marL="0" indent="0" algn="l">
              <a:buNone/>
            </a:pPr>
            <a:endParaRPr lang="en-US" sz="1300" dirty="0"/>
          </a:p>
          <a:p>
            <a:pPr marL="0" indent="0" algn="l">
              <a:buNone/>
            </a:pPr>
            <a:r>
              <a:rPr lang="en-US" sz="1100" dirty="0">
                <a:solidFill>
                  <a:schemeClr val="accent2"/>
                </a:solidFill>
                <a:latin typeface="Courier New" pitchFamily="34" charset="0"/>
                <a:ea typeface="Courier New" pitchFamily="34" charset="-122"/>
                <a:cs typeface="Courier New" pitchFamily="34" charset="-120"/>
              </a:rPr>
              <a:t>ceil(1 × 370% ÷ 50%) = 8</a:t>
            </a:r>
            <a:endParaRPr lang="en-US" sz="1300" dirty="0"/>
          </a:p>
          <a:p>
            <a:pPr marL="0" indent="0" algn="l">
              <a:buNone/>
            </a:pPr>
            <a:r>
              <a:rPr lang="en-US" sz="1100" dirty="0">
                <a:solidFill>
                  <a:schemeClr val="accent2"/>
                </a:solidFill>
                <a:latin typeface="Courier New" pitchFamily="34" charset="0"/>
                <a:ea typeface="Courier New" pitchFamily="34" charset="-122"/>
                <a:cs typeface="Courier New" pitchFamily="34" charset="-120"/>
              </a:rPr>
              <a:t>→ capped at maxReplicas: 5</a:t>
            </a:r>
            <a:endParaRPr lang="en-US" sz="1300" dirty="0"/>
          </a:p>
        </p:txBody>
      </p:sp>
      <p:sp>
        <p:nvSpPr>
          <p:cNvPr id="14" name="dot 1"/>
          <p:cNvSpPr txBox="1"/>
          <p:nvPr/>
        </p:nvSpPr>
        <p:spPr>
          <a:xfrm>
            <a:off x="5486400" y="285292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5" name="Needs CPU requests"/>
          <p:cNvSpPr txBox="1"/>
          <p:nvPr/>
        </p:nvSpPr>
        <p:spPr>
          <a:xfrm>
            <a:off x="6035040" y="2834640"/>
            <a:ext cx="265176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Needs CPU requests</a:t>
            </a:r>
            <a:endParaRPr lang="en-US" sz="1400" dirty="0"/>
          </a:p>
          <a:p>
            <a:pPr marL="0" indent="0">
              <a:spcAft>
                <a:spcPts val="200"/>
              </a:spcAft>
              <a:buNone/>
            </a:pPr>
            <a:r>
              <a:rPr lang="en-US" sz="1400" dirty="0">
                <a:solidFill>
                  <a:schemeClr val="accent5"/>
                </a:solidFill>
              </a:rPr>
              <a:t>Usage = % of the pod’s CPU request</a:t>
            </a:r>
            <a:endParaRPr lang="en-US" sz="1400" dirty="0"/>
          </a:p>
        </p:txBody>
      </p:sp>
      <p:sp>
        <p:nvSpPr>
          <p:cNvPr id="16" name="dot 2"/>
          <p:cNvSpPr txBox="1"/>
          <p:nvPr/>
        </p:nvSpPr>
        <p:spPr>
          <a:xfrm>
            <a:off x="5486400" y="372160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7" name="Up fast, down slow"/>
          <p:cNvSpPr txBox="1"/>
          <p:nvPr/>
        </p:nvSpPr>
        <p:spPr>
          <a:xfrm>
            <a:off x="6035040" y="3703320"/>
            <a:ext cx="265176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Up fast, down slow</a:t>
            </a:r>
            <a:endParaRPr lang="en-US" sz="1400" dirty="0"/>
          </a:p>
          <a:p>
            <a:pPr marL="0" indent="0">
              <a:spcAft>
                <a:spcPts val="200"/>
              </a:spcAft>
              <a:buNone/>
            </a:pPr>
            <a:r>
              <a:rPr lang="en-US" sz="1400" dirty="0">
                <a:solidFill>
                  <a:schemeClr val="accent5"/>
                </a:solidFill>
              </a:rPr>
              <a:t>Up in ~1 min, down after 5 min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868680"/>
            <a:ext cx="192024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100" b="1" kern="0" spc="200" dirty="0">
                <a:solidFill>
                  <a:schemeClr val="tx1"/>
                </a:solidFill>
              </a:rPr>
              <a:t>LIVE DEMO 7 OF 7</a:t>
            </a:r>
            <a:endParaRPr lang="en-US" sz="1100" dirty="0"/>
          </a:p>
        </p:txBody>
      </p:sp>
      <p:sp>
        <p:nvSpPr>
          <p:cNvPr id="3" name="Text 0"/>
          <p:cNvSpPr>
            <a:spLocks noGrp="1"/>
          </p:cNvSpPr>
          <p:nvPr>
            <p:ph type="title" idx="100" hasCustomPrompt="1"/>
          </p:nvPr>
        </p:nvSpPr>
        <p:spPr>
          <a:xfrm>
            <a:off x="457200" y="1371600"/>
            <a:ext cx="3840480" cy="2011680"/>
          </a:xfrm>
          <a:prstGeom prst="rect">
            <a:avLst/>
          </a:prstGeom>
          <a:noFill/>
          <a:ln/>
        </p:spPr>
        <p:txBody>
          <a:bodyPr wrap="square" lIns="0" tIns="0" rIns="0" bIns="0" rtlCol="0" anchor="t"/>
          <a:lstStyle/>
          <a:p>
            <a:pPr marL="0" indent="0" algn="l">
              <a:buNone/>
            </a:pPr>
            <a:r>
              <a:rPr lang="en-US" sz="3400" b="1" dirty="0">
                <a:solidFill>
                  <a:schemeClr val="bg1"/>
                </a:solidFill>
              </a:rPr>
              <a:t>Watch it scale</a:t>
            </a:r>
            <a:endParaRPr lang="en-US" sz="3400" dirty="0"/>
          </a:p>
        </p:txBody>
      </p:sp>
      <p:sp>
        <p:nvSpPr>
          <p:cNvPr id="4" name="plan panel"/>
          <p:cNvSpPr txBox="1"/>
          <p:nvPr/>
        </p:nvSpPr>
        <p:spPr>
          <a:xfrm>
            <a:off x="4572000" y="868680"/>
            <a:ext cx="4114800" cy="3145536"/>
          </a:xfrm>
          <a:prstGeom prst="roundRect">
            <a:avLst>
              <a:gd name="adj" fmla="val 4360"/>
            </a:avLst>
          </a:prstGeom>
          <a:solidFill>
            <a:schemeClr val="tx2"/>
          </a:solidFill>
          <a:ln/>
        </p:spPr>
        <p:txBody>
          <a:bodyPr wrap="square" lIns="76200" tIns="76200" rIns="76200" bIns="76200" rtlCol="0" anchor="ctr"/>
          <a:lstStyle/>
          <a:p>
            <a:pPr marL="0" indent="0" algn="ctr">
              <a:buNone/>
            </a:pPr>
            <a:endParaRPr lang="en-US" sz="1300" dirty="0"/>
          </a:p>
        </p:txBody>
      </p:sp>
      <p:sp>
        <p:nvSpPr>
          <p:cNvPr id="5" name="Text 3"/>
          <p:cNvSpPr txBox="1"/>
          <p:nvPr/>
        </p:nvSpPr>
        <p:spPr>
          <a:xfrm>
            <a:off x="4892040" y="105156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WHAT WE'LL DO</a:t>
            </a:r>
            <a:endParaRPr lang="en-US" sz="1200" dirty="0"/>
          </a:p>
        </p:txBody>
      </p:sp>
      <p:sp>
        <p:nvSpPr>
          <p:cNvPr id="6" name="dot 1"/>
          <p:cNvSpPr txBox="1"/>
          <p:nvPr/>
        </p:nvSpPr>
        <p:spPr>
          <a:xfrm>
            <a:off x="489204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1"/>
          <p:cNvSpPr txBox="1"/>
          <p:nvPr/>
        </p:nvSpPr>
        <p:spPr>
          <a:xfrm>
            <a:off x="5440680" y="1417320"/>
            <a:ext cx="3063240" cy="548640"/>
          </a:xfrm>
          <a:prstGeom prst="rect">
            <a:avLst/>
          </a:prstGeom>
          <a:noFill/>
          <a:ln/>
        </p:spPr>
        <p:txBody>
          <a:bodyPr wrap="square" lIns="0" tIns="0" rIns="0" bIns="0" rtlCol="0" anchor="ctr"/>
          <a:lstStyle/>
          <a:p>
            <a:pPr marL="0" indent="0">
              <a:buNone/>
            </a:pPr>
            <a:r>
              <a:rPr lang="en-US" sz="1500" dirty="0">
                <a:solidFill>
                  <a:schemeClr val="bg1"/>
                </a:solidFill>
              </a:rPr>
              <a:t>Check live CPU metrics</a:t>
            </a:r>
            <a:endParaRPr lang="en-US" sz="1500" dirty="0"/>
          </a:p>
        </p:txBody>
      </p:sp>
      <p:sp>
        <p:nvSpPr>
          <p:cNvPr id="8" name="dot 2"/>
          <p:cNvSpPr txBox="1"/>
          <p:nvPr/>
        </p:nvSpPr>
        <p:spPr>
          <a:xfrm>
            <a:off x="4892040" y="211226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tep 2"/>
          <p:cNvSpPr txBox="1"/>
          <p:nvPr/>
        </p:nvSpPr>
        <p:spPr>
          <a:xfrm>
            <a:off x="5440680" y="2020824"/>
            <a:ext cx="3063240" cy="548640"/>
          </a:xfrm>
          <a:prstGeom prst="rect">
            <a:avLst/>
          </a:prstGeom>
          <a:noFill/>
          <a:ln/>
        </p:spPr>
        <p:txBody>
          <a:bodyPr wrap="square" lIns="0" tIns="0" rIns="0" bIns="0" rtlCol="0" anchor="ctr"/>
          <a:lstStyle/>
          <a:p>
            <a:pPr marL="0" indent="0">
              <a:buNone/>
            </a:pPr>
            <a:r>
              <a:rPr lang="en-US" sz="1500" dirty="0">
                <a:solidFill>
                  <a:schemeClr val="bg1"/>
                </a:solidFill>
              </a:rPr>
              <a:t>Add an autoscaler to the web Deployment</a:t>
            </a:r>
            <a:endParaRPr lang="en-US" sz="1500" dirty="0"/>
          </a:p>
        </p:txBody>
      </p:sp>
      <p:sp>
        <p:nvSpPr>
          <p:cNvPr id="10" name="dot 3"/>
          <p:cNvSpPr txBox="1"/>
          <p:nvPr/>
        </p:nvSpPr>
        <p:spPr>
          <a:xfrm>
            <a:off x="4892040" y="2715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3"/>
          <p:cNvSpPr txBox="1"/>
          <p:nvPr/>
        </p:nvSpPr>
        <p:spPr>
          <a:xfrm>
            <a:off x="5440680" y="2624328"/>
            <a:ext cx="3063240" cy="548640"/>
          </a:xfrm>
          <a:prstGeom prst="rect">
            <a:avLst/>
          </a:prstGeom>
          <a:noFill/>
          <a:ln/>
        </p:spPr>
        <p:txBody>
          <a:bodyPr wrap="square" lIns="0" tIns="0" rIns="0" bIns="0" rtlCol="0" anchor="ctr"/>
          <a:lstStyle/>
          <a:p>
            <a:pPr marL="0" indent="0">
              <a:buNone/>
            </a:pPr>
            <a:r>
              <a:rPr lang="en-US" sz="1500" dirty="0">
                <a:solidFill>
                  <a:schemeClr val="bg1"/>
                </a:solidFill>
              </a:rPr>
              <a:t>Flood it with requests</a:t>
            </a:r>
            <a:endParaRPr lang="en-US" sz="1500" dirty="0"/>
          </a:p>
        </p:txBody>
      </p:sp>
      <p:sp>
        <p:nvSpPr>
          <p:cNvPr id="12" name="dot 4"/>
          <p:cNvSpPr txBox="1"/>
          <p:nvPr/>
        </p:nvSpPr>
        <p:spPr>
          <a:xfrm>
            <a:off x="4892040" y="331927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step 4"/>
          <p:cNvSpPr txBox="1"/>
          <p:nvPr/>
        </p:nvSpPr>
        <p:spPr>
          <a:xfrm>
            <a:off x="5440680" y="3227832"/>
            <a:ext cx="3063240" cy="548640"/>
          </a:xfrm>
          <a:prstGeom prst="rect">
            <a:avLst/>
          </a:prstGeom>
          <a:noFill/>
          <a:ln/>
        </p:spPr>
        <p:txBody>
          <a:bodyPr wrap="square" lIns="0" tIns="0" rIns="0" bIns="0" rtlCol="0" anchor="ctr"/>
          <a:lstStyle/>
          <a:p>
            <a:pPr marL="0" indent="0">
              <a:buNone/>
            </a:pPr>
            <a:r>
              <a:rPr lang="en-US" sz="1500" dirty="0">
                <a:solidFill>
                  <a:schemeClr val="bg1"/>
                </a:solidFill>
              </a:rPr>
              <a:t>Watch replicas grow from 1 to 5</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685800"/>
            <a:ext cx="8229600" cy="548640"/>
          </a:xfrm>
          <a:prstGeom prst="rect">
            <a:avLst/>
          </a:prstGeom>
          <a:noFill/>
          <a:ln/>
        </p:spPr>
        <p:txBody>
          <a:bodyPr wrap="square" lIns="0" tIns="0" rIns="0" bIns="0" rtlCol="0" anchor="ctr"/>
          <a:lstStyle/>
          <a:p>
            <a:pPr marL="0" indent="0" algn="l">
              <a:buNone/>
            </a:pPr>
            <a:r>
              <a:rPr lang="en-US" sz="3000" b="1" dirty="0">
                <a:solidFill>
                  <a:schemeClr val="bg1"/>
                </a:solidFill>
              </a:rPr>
              <a:t>Watch it scale</a:t>
            </a:r>
            <a:endParaRPr lang="en-US" sz="3000" dirty="0"/>
          </a:p>
        </p:txBody>
      </p:sp>
      <p:sp>
        <p:nvSpPr>
          <p:cNvPr id="3" name="commands"/>
          <p:cNvSpPr txBox="1"/>
          <p:nvPr/>
        </p:nvSpPr>
        <p:spPr>
          <a:xfrm>
            <a:off x="457200" y="1371600"/>
            <a:ext cx="8229600" cy="2468880"/>
          </a:xfrm>
          <a:prstGeom prst="roundRect">
            <a:avLst>
              <a:gd name="adj" fmla="val 2963"/>
            </a:avLst>
          </a:prstGeom>
          <a:solidFill>
            <a:schemeClr val="tx1"/>
          </a:solidFill>
          <a:ln/>
        </p:spPr>
        <p:txBody>
          <a:bodyPr wrap="square" lIns="152400" tIns="152400" rIns="152400" bIns="152400" rtlCol="0" anchor="t"/>
          <a:lstStyle/>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top pods</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scale deploy web --replicas=1</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apply -f 06-hpa.yaml</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hpa                  </a:t>
            </a:r>
            <a:r>
              <a:rPr lang="en-US" sz="1400" dirty="0">
                <a:solidFill>
                  <a:schemeClr val="accent2"/>
                </a:solidFill>
                <a:latin typeface="Courier New" pitchFamily="34" charset="0"/>
                <a:ea typeface="Courier New" pitchFamily="34" charset="-122"/>
                <a:cs typeface="Courier New" pitchFamily="34" charset="-120"/>
              </a:rPr>
              <a:t>  # wait for cpu: 0%/50%</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run load --image=busybox:1.36 -- sh -c \</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  'while true; do wget -qO- http://web &gt;/dev/null; done'</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get hpa web -w</a:t>
            </a:r>
            <a:endParaRPr lang="en-US" sz="1300" dirty="0"/>
          </a:p>
          <a:p>
            <a:pPr marL="0" indent="0" algn="l">
              <a:lnSpc>
                <a:spcPts val="2000"/>
              </a:lnSpc>
              <a:buNone/>
            </a:pPr>
            <a:r>
              <a:rPr lang="en-US" sz="1400" dirty="0">
                <a:solidFill>
                  <a:schemeClr val="accent5"/>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kubectl delete pod load</a:t>
            </a:r>
            <a:endParaRPr lang="en-US" sz="1300" dirty="0"/>
          </a:p>
        </p:txBody>
      </p:sp>
      <p:sp>
        <p:nvSpPr>
          <p:cNvPr id="4" name="Text 2"/>
          <p:cNvSpPr txBox="1"/>
          <p:nvPr/>
        </p:nvSpPr>
        <p:spPr>
          <a:xfrm>
            <a:off x="457200" y="4023360"/>
            <a:ext cx="274320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WATCH FOR</a:t>
            </a:r>
            <a:endParaRPr lang="en-US" sz="1100" dirty="0"/>
          </a:p>
        </p:txBody>
      </p:sp>
      <p:sp>
        <p:nvSpPr>
          <p:cNvPr id="5" name="watch 1"/>
          <p:cNvSpPr txBox="1"/>
          <p:nvPr/>
        </p:nvSpPr>
        <p:spPr>
          <a:xfrm>
            <a:off x="45720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TARGETS jumps to hundreds of %</a:t>
            </a:r>
            <a:endParaRPr lang="en-US" sz="1400" dirty="0"/>
          </a:p>
        </p:txBody>
      </p:sp>
      <p:sp>
        <p:nvSpPr>
          <p:cNvPr id="6" name="watch 2"/>
          <p:cNvSpPr txBox="1"/>
          <p:nvPr/>
        </p:nvSpPr>
        <p:spPr>
          <a:xfrm>
            <a:off x="324612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Replicas 1 → 4 → 5 in about a minute</a:t>
            </a:r>
            <a:endParaRPr lang="en-US" sz="1400" dirty="0"/>
          </a:p>
        </p:txBody>
      </p:sp>
      <p:sp>
        <p:nvSpPr>
          <p:cNvPr id="7" name="watch 3"/>
          <p:cNvSpPr txBox="1"/>
          <p:nvPr/>
        </p:nvSpPr>
        <p:spPr>
          <a:xfrm>
            <a:off x="6035040" y="4297680"/>
            <a:ext cx="2651760" cy="502920"/>
          </a:xfrm>
          <a:prstGeom prst="rect">
            <a:avLst/>
          </a:prstGeom>
          <a:noFill/>
          <a:ln/>
        </p:spPr>
        <p:txBody>
          <a:bodyPr wrap="square" lIns="0" tIns="0" rIns="0" bIns="0" rtlCol="0" anchor="t"/>
          <a:lstStyle/>
          <a:p>
            <a:pPr marL="0" indent="0">
              <a:buNone/>
            </a:pPr>
            <a:r>
              <a:rPr lang="en-US" sz="1400" b="1" dirty="0">
                <a:solidFill>
                  <a:schemeClr val="accent2"/>
                </a:solidFill>
              </a:rPr>
              <a:t>→ </a:t>
            </a:r>
            <a:r>
              <a:rPr lang="en-US" sz="1400" dirty="0">
                <a:solidFill>
                  <a:schemeClr val="bg1"/>
                </a:solidFill>
              </a:rPr>
              <a:t>Scale-down takes ~5 min: don't wait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How it all fits</a:t>
            </a:r>
            <a:endParaRPr lang="en-US" sz="3600" dirty="0"/>
          </a:p>
        </p:txBody>
      </p:sp>
      <p:sp>
        <p:nvSpPr>
          <p:cNvPr id="4" name="HPA 1.3"/>
          <p:cNvSpPr txBox="1"/>
          <p:nvPr/>
        </p:nvSpPr>
        <p:spPr>
          <a:xfrm>
            <a:off x="457200" y="1188720"/>
            <a:ext cx="1463040" cy="685800"/>
          </a:xfrm>
          <a:prstGeom prst="roundRect">
            <a:avLst>
              <a:gd name="adj" fmla="val 13333"/>
            </a:avLst>
          </a:prstGeom>
          <a:solidFill>
            <a:schemeClr val="accent2"/>
          </a:solidFill>
          <a:ln/>
        </p:spPr>
        <p:txBody>
          <a:bodyPr wrap="square" lIns="76200" tIns="76200" rIns="76200" bIns="76200" rtlCol="0" anchor="ctr"/>
          <a:lstStyle/>
          <a:p>
            <a:pPr marL="0" indent="0" algn="ctr">
              <a:buNone/>
            </a:pPr>
            <a:r>
              <a:rPr lang="en-US" sz="1400" b="1" dirty="0">
                <a:solidFill>
                  <a:schemeClr val="tx1"/>
                </a:solidFill>
              </a:rPr>
              <a:t>HPA</a:t>
            </a:r>
            <a:endParaRPr lang="en-US" sz="1300" dirty="0"/>
          </a:p>
          <a:p>
            <a:pPr marL="0" indent="0" algn="ctr">
              <a:buNone/>
            </a:pPr>
            <a:r>
              <a:rPr lang="en-US" sz="1100" dirty="0">
                <a:solidFill>
                  <a:schemeClr val="tx1"/>
                </a:solidFill>
              </a:rPr>
              <a:t>sets replicas</a:t>
            </a:r>
            <a:endParaRPr lang="en-US" sz="1300" dirty="0"/>
          </a:p>
        </p:txBody>
      </p:sp>
      <p:sp>
        <p:nvSpPr>
          <p:cNvPr id="5" name="Shape 2"/>
          <p:cNvSpPr/>
          <p:nvPr/>
        </p:nvSpPr>
        <p:spPr>
          <a:xfrm>
            <a:off x="1920240" y="1531620"/>
            <a:ext cx="365760" cy="0"/>
          </a:xfrm>
          <a:prstGeom prst="line">
            <a:avLst/>
          </a:prstGeom>
          <a:noFill/>
          <a:ln w="22225">
            <a:solidFill>
              <a:schemeClr val="accent5"/>
            </a:solidFill>
            <a:prstDash val="solid"/>
            <a:tailEnd type="triangle"/>
          </a:ln>
        </p:spPr>
        <p:txBody>
          <a:bodyPr/>
          <a:lstStyle/>
          <a:p>
            <a:endParaRPr lang="en-US"/>
          </a:p>
        </p:txBody>
      </p:sp>
      <p:sp>
        <p:nvSpPr>
          <p:cNvPr id="6" name="Deployment 1.3"/>
          <p:cNvSpPr txBox="1"/>
          <p:nvPr/>
        </p:nvSpPr>
        <p:spPr>
          <a:xfrm>
            <a:off x="2286000" y="1188720"/>
            <a:ext cx="1737360" cy="685800"/>
          </a:xfrm>
          <a:prstGeom prst="roundRect">
            <a:avLst>
              <a:gd name="adj" fmla="val 13333"/>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Deployment</a:t>
            </a:r>
            <a:endParaRPr lang="en-US" sz="1300" dirty="0"/>
          </a:p>
          <a:p>
            <a:pPr marL="0" indent="0" algn="ctr">
              <a:buNone/>
            </a:pPr>
            <a:r>
              <a:rPr lang="en-US" sz="1100" dirty="0">
                <a:solidFill>
                  <a:schemeClr val="bg1"/>
                </a:solidFill>
              </a:rPr>
              <a:t>rollouts</a:t>
            </a:r>
            <a:endParaRPr lang="en-US" sz="1300" dirty="0"/>
          </a:p>
        </p:txBody>
      </p:sp>
      <p:sp>
        <p:nvSpPr>
          <p:cNvPr id="7" name="Shape 4"/>
          <p:cNvSpPr/>
          <p:nvPr/>
        </p:nvSpPr>
        <p:spPr>
          <a:xfrm>
            <a:off x="4023360" y="1531620"/>
            <a:ext cx="365760" cy="0"/>
          </a:xfrm>
          <a:prstGeom prst="line">
            <a:avLst/>
          </a:prstGeom>
          <a:noFill/>
          <a:ln w="22225">
            <a:solidFill>
              <a:schemeClr val="accent5"/>
            </a:solidFill>
            <a:prstDash val="solid"/>
            <a:tailEnd type="triangle"/>
          </a:ln>
        </p:spPr>
        <p:txBody>
          <a:bodyPr/>
          <a:lstStyle/>
          <a:p>
            <a:endParaRPr lang="en-US"/>
          </a:p>
        </p:txBody>
      </p:sp>
      <p:sp>
        <p:nvSpPr>
          <p:cNvPr id="8" name="ReplicaSet 1.3"/>
          <p:cNvSpPr txBox="1"/>
          <p:nvPr/>
        </p:nvSpPr>
        <p:spPr>
          <a:xfrm>
            <a:off x="4389120" y="1188720"/>
            <a:ext cx="1737360" cy="685800"/>
          </a:xfrm>
          <a:prstGeom prst="roundRect">
            <a:avLst>
              <a:gd name="adj" fmla="val 13333"/>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ReplicaSet</a:t>
            </a:r>
            <a:endParaRPr lang="en-US" sz="1300" dirty="0"/>
          </a:p>
          <a:p>
            <a:pPr marL="0" indent="0" algn="ctr">
              <a:buNone/>
            </a:pPr>
            <a:r>
              <a:rPr lang="en-US" sz="1100" dirty="0">
                <a:solidFill>
                  <a:schemeClr val="bg1"/>
                </a:solidFill>
              </a:rPr>
              <a:t>keeps N alive</a:t>
            </a:r>
            <a:endParaRPr lang="en-US" sz="1300" dirty="0"/>
          </a:p>
        </p:txBody>
      </p:sp>
      <p:sp>
        <p:nvSpPr>
          <p:cNvPr id="9" name="Shape 6"/>
          <p:cNvSpPr/>
          <p:nvPr/>
        </p:nvSpPr>
        <p:spPr>
          <a:xfrm>
            <a:off x="6126480" y="1531620"/>
            <a:ext cx="365760" cy="0"/>
          </a:xfrm>
          <a:prstGeom prst="line">
            <a:avLst/>
          </a:prstGeom>
          <a:noFill/>
          <a:ln w="22225">
            <a:solidFill>
              <a:schemeClr val="accent5"/>
            </a:solidFill>
            <a:prstDash val="solid"/>
            <a:tailEnd type="triangle"/>
          </a:ln>
        </p:spPr>
        <p:txBody>
          <a:bodyPr/>
          <a:lstStyle/>
          <a:p>
            <a:endParaRPr lang="en-US"/>
          </a:p>
        </p:txBody>
      </p:sp>
      <p:sp>
        <p:nvSpPr>
          <p:cNvPr id="10" name="Pods 1.3"/>
          <p:cNvSpPr txBox="1"/>
          <p:nvPr/>
        </p:nvSpPr>
        <p:spPr>
          <a:xfrm>
            <a:off x="6492240" y="1188720"/>
            <a:ext cx="2194560" cy="685800"/>
          </a:xfrm>
          <a:prstGeom prst="roundRect">
            <a:avLst>
              <a:gd name="adj" fmla="val 13333"/>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Pods</a:t>
            </a:r>
            <a:endParaRPr lang="en-US" sz="1300" dirty="0"/>
          </a:p>
          <a:p>
            <a:pPr marL="0" indent="0" algn="ctr">
              <a:buNone/>
            </a:pPr>
            <a:r>
              <a:rPr lang="en-US" sz="1100" dirty="0">
                <a:solidFill>
                  <a:schemeClr val="bg1"/>
                </a:solidFill>
              </a:rPr>
              <a:t>stateless copies</a:t>
            </a:r>
            <a:endParaRPr lang="en-US" sz="1300" dirty="0"/>
          </a:p>
        </p:txBody>
      </p:sp>
      <p:sp>
        <p:nvSpPr>
          <p:cNvPr id="11" name="StatefulSet 2.4"/>
          <p:cNvSpPr txBox="1"/>
          <p:nvPr/>
        </p:nvSpPr>
        <p:spPr>
          <a:xfrm>
            <a:off x="2286000" y="2194560"/>
            <a:ext cx="1737360" cy="685800"/>
          </a:xfrm>
          <a:prstGeom prst="roundRect">
            <a:avLst>
              <a:gd name="adj" fmla="val 13333"/>
            </a:avLst>
          </a:prstGeom>
          <a:solidFill>
            <a:schemeClr val="tx2"/>
          </a:solidFill>
          <a:ln/>
        </p:spPr>
        <p:txBody>
          <a:bodyPr wrap="square" lIns="76200" tIns="76200" rIns="76200" bIns="76200" rtlCol="0" anchor="ctr"/>
          <a:lstStyle/>
          <a:p>
            <a:pPr marL="0" indent="0" algn="ctr">
              <a:buNone/>
            </a:pPr>
            <a:r>
              <a:rPr lang="en-US" sz="1400" b="1" dirty="0">
                <a:solidFill>
                  <a:schemeClr val="bg1"/>
                </a:solidFill>
              </a:rPr>
              <a:t>StatefulSet</a:t>
            </a:r>
            <a:endParaRPr lang="en-US" sz="1300" dirty="0"/>
          </a:p>
          <a:p>
            <a:pPr marL="0" indent="0" algn="ctr">
              <a:buNone/>
            </a:pPr>
            <a:r>
              <a:rPr lang="en-US" sz="1100" dirty="0">
                <a:solidFill>
                  <a:schemeClr val="bg1"/>
                </a:solidFill>
              </a:rPr>
              <a:t>stable identity</a:t>
            </a:r>
            <a:endParaRPr lang="en-US" sz="1300" dirty="0"/>
          </a:p>
        </p:txBody>
      </p:sp>
      <p:sp>
        <p:nvSpPr>
          <p:cNvPr id="12" name="Shape 9"/>
          <p:cNvSpPr/>
          <p:nvPr/>
        </p:nvSpPr>
        <p:spPr>
          <a:xfrm>
            <a:off x="4023360" y="2537460"/>
            <a:ext cx="365760" cy="0"/>
          </a:xfrm>
          <a:prstGeom prst="line">
            <a:avLst/>
          </a:prstGeom>
          <a:noFill/>
          <a:ln w="22225">
            <a:solidFill>
              <a:schemeClr val="accent5"/>
            </a:solidFill>
            <a:prstDash val="solid"/>
            <a:tailEnd type="triangle"/>
          </a:ln>
        </p:spPr>
        <p:txBody>
          <a:bodyPr/>
          <a:lstStyle/>
          <a:p>
            <a:endParaRPr lang="en-US"/>
          </a:p>
        </p:txBody>
      </p:sp>
      <p:sp>
        <p:nvSpPr>
          <p:cNvPr id="13" name="Pods 2.4"/>
          <p:cNvSpPr txBox="1"/>
          <p:nvPr/>
        </p:nvSpPr>
        <p:spPr>
          <a:xfrm>
            <a:off x="4389120" y="2194560"/>
            <a:ext cx="1737360" cy="685800"/>
          </a:xfrm>
          <a:prstGeom prst="roundRect">
            <a:avLst>
              <a:gd name="adj" fmla="val 13333"/>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Pods</a:t>
            </a:r>
            <a:endParaRPr lang="en-US" sz="1300" dirty="0"/>
          </a:p>
          <a:p>
            <a:pPr marL="0" indent="0" algn="ctr">
              <a:buNone/>
            </a:pPr>
            <a:r>
              <a:rPr lang="en-US" sz="1100" dirty="0">
                <a:solidFill>
                  <a:schemeClr val="bg1"/>
                </a:solidFill>
              </a:rPr>
              <a:t>db-0, db-1, db-2</a:t>
            </a:r>
            <a:endParaRPr lang="en-US" sz="1300" dirty="0"/>
          </a:p>
        </p:txBody>
      </p:sp>
      <p:sp>
        <p:nvSpPr>
          <p:cNvPr id="14" name="Shape 11"/>
          <p:cNvSpPr/>
          <p:nvPr/>
        </p:nvSpPr>
        <p:spPr>
          <a:xfrm>
            <a:off x="6126480" y="2537460"/>
            <a:ext cx="365760" cy="0"/>
          </a:xfrm>
          <a:prstGeom prst="line">
            <a:avLst/>
          </a:prstGeom>
          <a:noFill/>
          <a:ln w="22225">
            <a:solidFill>
              <a:schemeClr val="accent5"/>
            </a:solidFill>
            <a:prstDash val="solid"/>
            <a:tailEnd type="triangle"/>
          </a:ln>
        </p:spPr>
        <p:txBody>
          <a:bodyPr/>
          <a:lstStyle/>
          <a:p>
            <a:endParaRPr lang="en-US"/>
          </a:p>
        </p:txBody>
      </p:sp>
      <p:sp>
        <p:nvSpPr>
          <p:cNvPr id="15" name="PersistentVolumeClaim 2.4"/>
          <p:cNvSpPr txBox="1"/>
          <p:nvPr/>
        </p:nvSpPr>
        <p:spPr>
          <a:xfrm>
            <a:off x="6492240" y="2194560"/>
            <a:ext cx="2194560" cy="685800"/>
          </a:xfrm>
          <a:prstGeom prst="roundRect">
            <a:avLst>
              <a:gd name="adj" fmla="val 13333"/>
            </a:avLst>
          </a:prstGeom>
          <a:solidFill>
            <a:schemeClr val="accent5"/>
          </a:solidFill>
          <a:ln/>
        </p:spPr>
        <p:txBody>
          <a:bodyPr wrap="square" lIns="76200" tIns="76200" rIns="76200" bIns="76200" rtlCol="0" anchor="ctr"/>
          <a:lstStyle/>
          <a:p>
            <a:pPr marL="0" indent="0" algn="ctr">
              <a:buNone/>
            </a:pPr>
            <a:r>
              <a:rPr lang="en-US" sz="1400" b="1" dirty="0">
                <a:solidFill>
                  <a:schemeClr val="bg1"/>
                </a:solidFill>
              </a:rPr>
              <a:t>PersistentVolumeClaim</a:t>
            </a:r>
            <a:endParaRPr lang="en-US" sz="1300" dirty="0"/>
          </a:p>
          <a:p>
            <a:pPr marL="0" indent="0" algn="ctr">
              <a:buNone/>
            </a:pPr>
            <a:r>
              <a:rPr lang="en-US" sz="1100" dirty="0">
                <a:solidFill>
                  <a:schemeClr val="bg1"/>
                </a:solidFill>
              </a:rPr>
              <a:t>one disk per pod</a:t>
            </a:r>
            <a:endParaRPr lang="en-US" sz="1300" dirty="0"/>
          </a:p>
        </p:txBody>
      </p:sp>
      <p:sp>
        <p:nvSpPr>
          <p:cNvPr id="16" name="Service 3.5"/>
          <p:cNvSpPr txBox="1"/>
          <p:nvPr/>
        </p:nvSpPr>
        <p:spPr>
          <a:xfrm>
            <a:off x="457200" y="3200400"/>
            <a:ext cx="1920240" cy="685800"/>
          </a:xfrm>
          <a:prstGeom prst="roundRect">
            <a:avLst>
              <a:gd name="adj" fmla="val 13333"/>
            </a:avLst>
          </a:prstGeom>
          <a:solidFill>
            <a:schemeClr val="accent3"/>
          </a:solidFill>
          <a:ln/>
        </p:spPr>
        <p:txBody>
          <a:bodyPr wrap="square" lIns="76200" tIns="76200" rIns="76200" bIns="76200" rtlCol="0" anchor="ctr"/>
          <a:lstStyle/>
          <a:p>
            <a:pPr marL="0" indent="0" algn="ctr">
              <a:buNone/>
            </a:pPr>
            <a:r>
              <a:rPr lang="en-US" sz="1400" b="1" dirty="0">
                <a:solidFill>
                  <a:schemeClr val="bg1"/>
                </a:solidFill>
              </a:rPr>
              <a:t>Service</a:t>
            </a:r>
            <a:endParaRPr lang="en-US" sz="1300" dirty="0"/>
          </a:p>
          <a:p>
            <a:pPr marL="0" indent="0" algn="ctr">
              <a:buNone/>
            </a:pPr>
            <a:r>
              <a:rPr lang="en-US" sz="1100" dirty="0">
                <a:solidFill>
                  <a:schemeClr val="bg1"/>
                </a:solidFill>
              </a:rPr>
              <a:t>finds pods by label</a:t>
            </a:r>
            <a:endParaRPr lang="en-US" sz="1300" dirty="0"/>
          </a:p>
        </p:txBody>
      </p:sp>
      <p:sp>
        <p:nvSpPr>
          <p:cNvPr id="17" name="Shape 14"/>
          <p:cNvSpPr/>
          <p:nvPr/>
        </p:nvSpPr>
        <p:spPr>
          <a:xfrm>
            <a:off x="2377440" y="3543300"/>
            <a:ext cx="365760" cy="0"/>
          </a:xfrm>
          <a:prstGeom prst="line">
            <a:avLst/>
          </a:prstGeom>
          <a:noFill/>
          <a:ln w="22225">
            <a:solidFill>
              <a:schemeClr val="accent5"/>
            </a:solidFill>
            <a:prstDash val="solid"/>
            <a:tailEnd type="triangle"/>
          </a:ln>
        </p:spPr>
        <p:txBody>
          <a:bodyPr/>
          <a:lstStyle/>
          <a:p>
            <a:endParaRPr lang="en-US"/>
          </a:p>
        </p:txBody>
      </p:sp>
      <p:sp>
        <p:nvSpPr>
          <p:cNvPr id="18" name="Pods 3.5"/>
          <p:cNvSpPr txBox="1"/>
          <p:nvPr/>
        </p:nvSpPr>
        <p:spPr>
          <a:xfrm>
            <a:off x="2743200" y="3200400"/>
            <a:ext cx="1463040" cy="685800"/>
          </a:xfrm>
          <a:prstGeom prst="roundRect">
            <a:avLst>
              <a:gd name="adj" fmla="val 13333"/>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Pods</a:t>
            </a:r>
            <a:endParaRPr lang="en-US" sz="1300" dirty="0"/>
          </a:p>
          <a:p>
            <a:pPr marL="0" indent="0" algn="ctr">
              <a:buNone/>
            </a:pPr>
            <a:r>
              <a:rPr lang="en-US" sz="1100" dirty="0">
                <a:solidFill>
                  <a:schemeClr val="bg1"/>
                </a:solidFill>
              </a:rPr>
              <a:t>app=web</a:t>
            </a:r>
            <a:endParaRPr lang="en-US" sz="1300" dirty="0"/>
          </a:p>
        </p:txBody>
      </p:sp>
      <p:sp>
        <p:nvSpPr>
          <p:cNvPr id="19" name="ConfigMap / Secret 3.5"/>
          <p:cNvSpPr txBox="1"/>
          <p:nvPr/>
        </p:nvSpPr>
        <p:spPr>
          <a:xfrm>
            <a:off x="4663440" y="3200400"/>
            <a:ext cx="2194560" cy="685800"/>
          </a:xfrm>
          <a:prstGeom prst="roundRect">
            <a:avLst>
              <a:gd name="adj" fmla="val 13333"/>
            </a:avLst>
          </a:prstGeom>
          <a:solidFill>
            <a:schemeClr val="accent6"/>
          </a:solidFill>
          <a:ln/>
        </p:spPr>
        <p:txBody>
          <a:bodyPr wrap="square" lIns="76200" tIns="76200" rIns="76200" bIns="76200" rtlCol="0" anchor="ctr"/>
          <a:lstStyle/>
          <a:p>
            <a:pPr marL="0" indent="0" algn="ctr">
              <a:buNone/>
            </a:pPr>
            <a:r>
              <a:rPr lang="en-US" sz="1400" b="1" dirty="0">
                <a:solidFill>
                  <a:schemeClr val="bg1"/>
                </a:solidFill>
              </a:rPr>
              <a:t>ConfigMap / Secret</a:t>
            </a:r>
            <a:endParaRPr lang="en-US" sz="1300" dirty="0"/>
          </a:p>
          <a:p>
            <a:pPr marL="0" indent="0" algn="ctr">
              <a:buNone/>
            </a:pPr>
            <a:r>
              <a:rPr lang="en-US" sz="1100" dirty="0">
                <a:solidFill>
                  <a:schemeClr val="bg1"/>
                </a:solidFill>
              </a:rPr>
              <a:t>env vars or files</a:t>
            </a:r>
            <a:endParaRPr lang="en-US" sz="1300" dirty="0"/>
          </a:p>
        </p:txBody>
      </p:sp>
      <p:sp>
        <p:nvSpPr>
          <p:cNvPr id="20" name="Shape 17"/>
          <p:cNvSpPr/>
          <p:nvPr/>
        </p:nvSpPr>
        <p:spPr>
          <a:xfrm>
            <a:off x="6858000" y="3543300"/>
            <a:ext cx="365760" cy="0"/>
          </a:xfrm>
          <a:prstGeom prst="line">
            <a:avLst/>
          </a:prstGeom>
          <a:noFill/>
          <a:ln w="22225">
            <a:solidFill>
              <a:schemeClr val="accent5"/>
            </a:solidFill>
            <a:prstDash val="solid"/>
            <a:tailEnd type="triangle"/>
          </a:ln>
        </p:spPr>
        <p:txBody>
          <a:bodyPr/>
          <a:lstStyle/>
          <a:p>
            <a:endParaRPr lang="en-US"/>
          </a:p>
        </p:txBody>
      </p:sp>
      <p:sp>
        <p:nvSpPr>
          <p:cNvPr id="21" name="Pods 3.5"/>
          <p:cNvSpPr txBox="1"/>
          <p:nvPr/>
        </p:nvSpPr>
        <p:spPr>
          <a:xfrm>
            <a:off x="7223760" y="3200400"/>
            <a:ext cx="1463040" cy="685800"/>
          </a:xfrm>
          <a:prstGeom prst="roundRect">
            <a:avLst>
              <a:gd name="adj" fmla="val 13333"/>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Pods</a:t>
            </a:r>
            <a:endParaRPr lang="en-US" sz="1300" dirty="0"/>
          </a:p>
          <a:p>
            <a:pPr marL="0" indent="0" algn="ctr">
              <a:buNone/>
            </a:pPr>
            <a:r>
              <a:rPr lang="en-US" sz="1100" dirty="0">
                <a:solidFill>
                  <a:schemeClr val="bg1"/>
                </a:solidFill>
              </a:rPr>
              <a:t>config-demo</a:t>
            </a:r>
            <a:endParaRPr lang="en-US" sz="1300" dirty="0"/>
          </a:p>
        </p:txBody>
      </p:sp>
      <p:sp>
        <p:nvSpPr>
          <p:cNvPr id="22" name="Text 19"/>
          <p:cNvSpPr txBox="1"/>
          <p:nvPr/>
        </p:nvSpPr>
        <p:spPr>
          <a:xfrm>
            <a:off x="457200" y="4114800"/>
            <a:ext cx="8229600" cy="365760"/>
          </a:xfrm>
          <a:prstGeom prst="rect">
            <a:avLst/>
          </a:prstGeom>
          <a:noFill/>
          <a:ln/>
        </p:spPr>
        <p:txBody>
          <a:bodyPr wrap="square" lIns="0" tIns="0" rIns="0" bIns="0" rtlCol="0" anchor="t"/>
          <a:lstStyle/>
          <a:p>
            <a:pPr marL="0" indent="0">
              <a:buNone/>
            </a:pPr>
            <a:r>
              <a:rPr lang="en-US" sz="1500" dirty="0">
                <a:solidFill>
                  <a:schemeClr val="accent5"/>
                </a:solidFill>
              </a:rPr>
              <a:t>Everything ends up as Pods on Nodes, and the control plane keeps desired = actual.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227D-DE49-6EC5-E0F2-AFA7B631E075}"/>
              </a:ext>
            </a:extLst>
          </p:cNvPr>
          <p:cNvSpPr>
            <a:spLocks noGrp="1"/>
          </p:cNvSpPr>
          <p:nvPr>
            <p:ph type="title" idx="100"/>
          </p:nvPr>
        </p:nvSpPr>
        <p:spPr/>
        <p:txBody>
          <a:bodyPr/>
          <a:lstStyle/>
          <a:p>
            <a:pPr marL="0" indent="0" algn="l">
              <a:buNone/>
            </a:pPr>
            <a:r>
              <a:rPr lang="en-US" sz="3600" b="1" dirty="0">
                <a:solidFill>
                  <a:schemeClr val="tx1"/>
                </a:solidFill>
              </a:rPr>
              <a:t>Where to go after this?</a:t>
            </a:r>
          </a:p>
        </p:txBody>
      </p:sp>
      <p:sp>
        <p:nvSpPr>
          <p:cNvPr id="10" name="DevOps wannabe header"/>
          <p:cNvSpPr/>
          <p:nvPr/>
        </p:nvSpPr>
        <p:spPr>
          <a:xfrm>
            <a:off x="457200" y="1168400"/>
            <a:ext cx="3962400" cy="660400"/>
          </a:xfrm>
          <a:prstGeom prst="roundRect">
            <a:avLst>
              <a:gd name="adj" fmla="val 13333"/>
            </a:avLst>
          </a:prstGeom>
          <a:solidFill>
            <a:schemeClr val="tx2"/>
          </a:solidFill>
          <a:ln>
            <a:noFill/>
          </a:ln>
        </p:spPr>
        <p:txBody>
          <a:bodyPr wrap="square" lIns="685800" tIns="76200" rIns="177800" bIns="76200" rtlCol="0" anchor="ctr"/>
          <a:lstStyle/>
          <a:p>
            <a:pPr marL="0" indent="0">
              <a:buNone/>
            </a:pPr>
            <a:r>
              <a:rPr lang="en-US" sz="1800" b="1" dirty="0">
                <a:solidFill>
                  <a:schemeClr val="bg1"/>
                </a:solidFill>
              </a:rPr>
              <a:t>DevOps wannabe</a:t>
            </a:r>
          </a:p>
          <a:p>
            <a:pPr marL="0" indent="0">
              <a:buNone/>
            </a:pPr>
            <a:r>
              <a:rPr lang="en-US" sz="1200" dirty="0">
                <a:solidFill>
                  <a:schemeClr val="bg1"/>
                </a:solidFill>
              </a:rPr>
              <a:t>Ship and run apps on Kubernetes</a:t>
            </a:r>
          </a:p>
        </p:txBody>
      </p:sp>
      <p:sp>
        <p:nvSpPr>
          <p:cNvPr id="11" name="DevOps wannabe list"/>
          <p:cNvSpPr/>
          <p:nvPr/>
        </p:nvSpPr>
        <p:spPr>
          <a:xfrm>
            <a:off x="457200" y="1930400"/>
            <a:ext cx="3962400" cy="2641600"/>
          </a:xfrm>
          <a:prstGeom prst="roundRect">
            <a:avLst>
              <a:gd name="adj" fmla="val 6000"/>
            </a:avLst>
          </a:prstGeom>
          <a:solidFill>
            <a:schemeClr val="bg2"/>
          </a:solidFill>
          <a:ln>
            <a:noFill/>
          </a:ln>
        </p:spPr>
        <p:txBody>
          <a:bodyPr wrap="square" lIns="177800" tIns="177800" rIns="177800" bIns="127000" rtlCol="0" anchor="t"/>
          <a:lstStyle/>
          <a:p>
            <a:pPr marL="228600" indent="-228600">
              <a:spcAft>
                <a:spcPts val="700"/>
              </a:spcAft>
              <a:buFont typeface="Arial"/>
              <a:buChar char="•"/>
            </a:pPr>
            <a:r>
              <a:rPr lang="en-US" sz="1400" b="1" dirty="0">
                <a:solidFill>
                  <a:schemeClr val="tx1"/>
                </a:solidFill>
              </a:rPr>
              <a:t>Helm &amp; Kustomize: </a:t>
            </a:r>
            <a:r>
              <a:rPr lang="en-US" sz="1400" dirty="0">
                <a:solidFill>
                  <a:schemeClr val="tx2"/>
                </a:solidFill>
              </a:rPr>
              <a:t>package and template your YAML</a:t>
            </a:r>
          </a:p>
          <a:p>
            <a:pPr marL="228600" indent="-228600">
              <a:spcAft>
                <a:spcPts val="700"/>
              </a:spcAft>
              <a:buFont typeface="Arial"/>
              <a:buChar char="•"/>
            </a:pPr>
            <a:r>
              <a:rPr lang="en-US" sz="1400" b="1" dirty="0">
                <a:solidFill>
                  <a:schemeClr val="tx1"/>
                </a:solidFill>
              </a:rPr>
              <a:t>GitOps: </a:t>
            </a:r>
            <a:r>
              <a:rPr lang="en-US" sz="1400" dirty="0">
                <a:solidFill>
                  <a:schemeClr val="tx2"/>
                </a:solidFill>
              </a:rPr>
              <a:t>deploy from Git with Argo CD or Flux</a:t>
            </a:r>
          </a:p>
          <a:p>
            <a:pPr marL="228600" indent="-228600">
              <a:spcAft>
                <a:spcPts val="700"/>
              </a:spcAft>
              <a:buFont typeface="Arial"/>
              <a:buChar char="•"/>
            </a:pPr>
            <a:r>
              <a:rPr lang="en-US" sz="1400" b="1" dirty="0">
                <a:solidFill>
                  <a:schemeClr val="tx1"/>
                </a:solidFill>
              </a:rPr>
              <a:t>CI/CD: </a:t>
            </a:r>
            <a:r>
              <a:rPr lang="en-US" sz="1400" dirty="0">
                <a:solidFill>
                  <a:schemeClr val="tx2"/>
                </a:solidFill>
              </a:rPr>
              <a:t>build, test and push images to the cluster</a:t>
            </a:r>
          </a:p>
          <a:p>
            <a:pPr marL="228600" indent="-228600">
              <a:spcAft>
                <a:spcPts val="700"/>
              </a:spcAft>
              <a:buFont typeface="Arial"/>
              <a:buChar char="•"/>
            </a:pPr>
            <a:r>
              <a:rPr lang="en-US" sz="1400" b="1" dirty="0">
                <a:solidFill>
                  <a:schemeClr val="tx1"/>
                </a:solidFill>
              </a:rPr>
              <a:t>Observability: </a:t>
            </a:r>
            <a:r>
              <a:rPr lang="en-US" sz="1400" dirty="0">
                <a:solidFill>
                  <a:schemeClr val="tx2"/>
                </a:solidFill>
              </a:rPr>
              <a:t>Prometheus, Grafana and logs</a:t>
            </a:r>
          </a:p>
          <a:p>
            <a:pPr marL="228600" indent="-228600">
              <a:spcAft>
                <a:spcPts val="700"/>
              </a:spcAft>
              <a:buFont typeface="Arial"/>
              <a:buChar char="•"/>
            </a:pPr>
            <a:r>
              <a:rPr lang="en-US" sz="1400" b="1" dirty="0">
                <a:solidFill>
                  <a:schemeClr val="tx1"/>
                </a:solidFill>
              </a:rPr>
              <a:t>Ingress / Gateway API: </a:t>
            </a:r>
            <a:r>
              <a:rPr lang="en-US" sz="1400" dirty="0">
                <a:solidFill>
                  <a:schemeClr val="tx2"/>
                </a:solidFill>
              </a:rPr>
              <a:t>route traffic in</a:t>
            </a:r>
          </a:p>
          <a:p>
            <a:pPr marL="228600" indent="-228600">
              <a:spcAft>
                <a:spcPts val="700"/>
              </a:spcAft>
              <a:buFont typeface="Arial"/>
              <a:buChar char="•"/>
            </a:pPr>
            <a:r>
              <a:rPr lang="en-US" sz="1400" b="1" dirty="0">
                <a:solidFill>
                  <a:schemeClr val="tx1"/>
                </a:solidFill>
              </a:rPr>
              <a:t>Certify: </a:t>
            </a:r>
            <a:r>
              <a:rPr lang="en-US" sz="1400" dirty="0">
                <a:solidFill>
                  <a:schemeClr val="tx2"/>
                </a:solidFill>
              </a:rPr>
              <a:t>CKAD, then CKA</a:t>
            </a:r>
          </a:p>
        </p:txBody>
      </p:sp>
      <p:sp>
        <p:nvSpPr>
          <p:cNvPr id="20" name="Security practitioner header"/>
          <p:cNvSpPr/>
          <p:nvPr/>
        </p:nvSpPr>
        <p:spPr>
          <a:xfrm>
            <a:off x="4724400" y="1168400"/>
            <a:ext cx="3962400" cy="660400"/>
          </a:xfrm>
          <a:prstGeom prst="roundRect">
            <a:avLst>
              <a:gd name="adj" fmla="val 13333"/>
            </a:avLst>
          </a:prstGeom>
          <a:solidFill>
            <a:schemeClr val="accent4"/>
          </a:solidFill>
          <a:ln>
            <a:noFill/>
          </a:ln>
        </p:spPr>
        <p:txBody>
          <a:bodyPr wrap="square" lIns="685800" tIns="76200" rIns="177800" bIns="76200" rtlCol="0" anchor="ctr"/>
          <a:lstStyle/>
          <a:p>
            <a:pPr marL="0" indent="0">
              <a:buNone/>
            </a:pPr>
            <a:r>
              <a:rPr lang="en-US" sz="1800" b="1" dirty="0">
                <a:solidFill>
                  <a:schemeClr val="bg1"/>
                </a:solidFill>
              </a:rPr>
              <a:t>Security practitioner</a:t>
            </a:r>
          </a:p>
          <a:p>
            <a:pPr marL="0" indent="0">
              <a:buNone/>
            </a:pPr>
            <a:r>
              <a:rPr lang="en-US" sz="1200" dirty="0">
                <a:solidFill>
                  <a:schemeClr val="bg1"/>
                </a:solidFill>
              </a:rPr>
              <a:t>Lock down and audit clusters</a:t>
            </a:r>
          </a:p>
        </p:txBody>
      </p:sp>
      <p:sp>
        <p:nvSpPr>
          <p:cNvPr id="21" name="Security practitioner list"/>
          <p:cNvSpPr/>
          <p:nvPr/>
        </p:nvSpPr>
        <p:spPr>
          <a:xfrm>
            <a:off x="4724400" y="1930400"/>
            <a:ext cx="3962400" cy="2641600"/>
          </a:xfrm>
          <a:prstGeom prst="roundRect">
            <a:avLst>
              <a:gd name="adj" fmla="val 6000"/>
            </a:avLst>
          </a:prstGeom>
          <a:solidFill>
            <a:schemeClr val="bg2"/>
          </a:solidFill>
          <a:ln>
            <a:noFill/>
          </a:ln>
        </p:spPr>
        <p:txBody>
          <a:bodyPr wrap="square" lIns="177800" tIns="177800" rIns="177800" bIns="127000" rtlCol="0" anchor="t"/>
          <a:lstStyle/>
          <a:p>
            <a:pPr marL="228600" indent="-228600">
              <a:spcAft>
                <a:spcPts val="700"/>
              </a:spcAft>
              <a:buFont typeface="Arial"/>
              <a:buChar char="•"/>
            </a:pPr>
            <a:r>
              <a:rPr lang="en-US" sz="1400" b="1" dirty="0">
                <a:solidFill>
                  <a:schemeClr val="tx1"/>
                </a:solidFill>
              </a:rPr>
              <a:t>RBAC: </a:t>
            </a:r>
            <a:r>
              <a:rPr lang="en-US" sz="1400" dirty="0">
                <a:solidFill>
                  <a:schemeClr val="tx2"/>
                </a:solidFill>
              </a:rPr>
              <a:t>roles, bindings, service accounts</a:t>
            </a:r>
          </a:p>
          <a:p>
            <a:pPr marL="228600" indent="-228600">
              <a:spcAft>
                <a:spcPts val="700"/>
              </a:spcAft>
              <a:buFont typeface="Arial"/>
              <a:buChar char="•"/>
            </a:pPr>
            <a:r>
              <a:rPr lang="en-US" sz="1400" b="1" dirty="0">
                <a:solidFill>
                  <a:schemeClr val="tx1"/>
                </a:solidFill>
              </a:rPr>
              <a:t>Pod Security: </a:t>
            </a:r>
            <a:r>
              <a:rPr lang="en-US" sz="1400" dirty="0">
                <a:solidFill>
                  <a:schemeClr val="tx2"/>
                </a:solidFill>
              </a:rPr>
              <a:t>securityContext and Pod Security Standards</a:t>
            </a:r>
          </a:p>
          <a:p>
            <a:pPr marL="228600" indent="-228600">
              <a:spcAft>
                <a:spcPts val="700"/>
              </a:spcAft>
              <a:buFont typeface="Arial"/>
              <a:buChar char="•"/>
            </a:pPr>
            <a:r>
              <a:rPr lang="en-US" sz="1400" b="1" dirty="0">
                <a:solidFill>
                  <a:schemeClr val="tx1"/>
                </a:solidFill>
              </a:rPr>
              <a:t>NetworkPolicies: </a:t>
            </a:r>
            <a:r>
              <a:rPr lang="en-US" sz="1400" dirty="0">
                <a:solidFill>
                  <a:schemeClr val="tx2"/>
                </a:solidFill>
              </a:rPr>
              <a:t>default-deny between Pods</a:t>
            </a:r>
          </a:p>
          <a:p>
            <a:pPr marL="228600" indent="-228600">
              <a:spcAft>
                <a:spcPts val="700"/>
              </a:spcAft>
              <a:buFont typeface="Arial"/>
              <a:buChar char="•"/>
            </a:pPr>
            <a:r>
              <a:rPr lang="en-US" sz="1400" b="1" dirty="0">
                <a:solidFill>
                  <a:schemeClr val="tx1"/>
                </a:solidFill>
              </a:rPr>
              <a:t>Secrets: </a:t>
            </a:r>
            <a:r>
              <a:rPr lang="en-US" sz="1400" dirty="0">
                <a:solidFill>
                  <a:schemeClr val="tx2"/>
                </a:solidFill>
              </a:rPr>
              <a:t>External Secrets or Vault</a:t>
            </a:r>
          </a:p>
          <a:p>
            <a:pPr marL="228600" indent="-228600">
              <a:spcAft>
                <a:spcPts val="700"/>
              </a:spcAft>
              <a:buFont typeface="Arial"/>
              <a:buChar char="•"/>
            </a:pPr>
            <a:r>
              <a:rPr lang="en-US" sz="1400" b="1" dirty="0">
                <a:solidFill>
                  <a:schemeClr val="tx1"/>
                </a:solidFill>
              </a:rPr>
              <a:t>Supply chain: </a:t>
            </a:r>
            <a:r>
              <a:rPr lang="en-US" sz="1400" dirty="0">
                <a:solidFill>
                  <a:schemeClr val="tx2"/>
                </a:solidFill>
              </a:rPr>
              <a:t>scan and sign images (Trivy, Sigstore)</a:t>
            </a:r>
          </a:p>
          <a:p>
            <a:pPr marL="228600" indent="-228600">
              <a:spcAft>
                <a:spcPts val="700"/>
              </a:spcAft>
              <a:buFont typeface="Arial"/>
              <a:buChar char="•"/>
            </a:pPr>
            <a:r>
              <a:rPr lang="en-US" sz="1400" b="1" dirty="0">
                <a:solidFill>
                  <a:schemeClr val="tx1"/>
                </a:solidFill>
              </a:rPr>
              <a:t>Certify: </a:t>
            </a:r>
            <a:r>
              <a:rPr lang="en-US" sz="1400" dirty="0">
                <a:solidFill>
                  <a:schemeClr val="tx2"/>
                </a:solidFill>
              </a:rPr>
              <a:t>CKA, then CKS</a:t>
            </a:r>
          </a:p>
        </p:txBody>
      </p:sp>
      <p:pic>
        <p:nvPicPr>
          <p:cNvPr id="22" name="Graphic 22" descr="DevOp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 y="1295400"/>
            <a:ext cx="406400" cy="406400"/>
          </a:xfrm>
          <a:prstGeom prst="rect">
            <a:avLst/>
          </a:prstGeom>
        </p:spPr>
      </p:pic>
      <p:pic>
        <p:nvPicPr>
          <p:cNvPr id="23" name="Graphic 23" descr="Secur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76800" y="1295400"/>
            <a:ext cx="406400" cy="406400"/>
          </a:xfrm>
          <a:prstGeom prst="rect">
            <a:avLst/>
          </a:prstGeom>
        </p:spPr>
      </p:pic>
    </p:spTree>
    <p:extLst>
      <p:ext uri="{BB962C8B-B14F-4D97-AF65-F5344CB8AC3E}">
        <p14:creationId xmlns:p14="http://schemas.microsoft.com/office/powerpoint/2010/main" val="4240965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846320" cy="1417320"/>
          </a:xfrm>
          <a:prstGeom prst="rect">
            <a:avLst/>
          </a:prstGeom>
          <a:noFill/>
          <a:ln/>
        </p:spPr>
        <p:txBody>
          <a:bodyPr wrap="square" lIns="0" tIns="0" rIns="0" bIns="0" rtlCol="0" anchor="b"/>
          <a:lstStyle/>
          <a:p>
            <a:pPr marL="0" indent="0" algn="l">
              <a:buNone/>
            </a:pPr>
            <a:r>
              <a:rPr lang="en-US" sz="4000" b="1" dirty="0">
                <a:solidFill>
                  <a:schemeClr val="bg1"/>
                </a:solidFill>
              </a:rPr>
              <a:t>Questions?</a:t>
            </a:r>
            <a:endParaRPr lang="en-US" sz="4000" dirty="0"/>
          </a:p>
        </p:txBody>
      </p:sp>
      <p:sp>
        <p:nvSpPr>
          <p:cNvPr id="3" name="Text 0"/>
          <p:cNvSpPr>
            <a:spLocks noGrp="1"/>
          </p:cNvSpPr>
          <p:nvPr>
            <p:ph type="body" idx="101" hasCustomPrompt="1"/>
          </p:nvPr>
        </p:nvSpPr>
        <p:spPr>
          <a:xfrm>
            <a:off x="548640" y="2834640"/>
            <a:ext cx="4572000" cy="1097280"/>
          </a:xfrm>
          <a:prstGeom prst="rect">
            <a:avLst/>
          </a:prstGeom>
          <a:noFill/>
          <a:ln/>
        </p:spPr>
        <p:txBody>
          <a:bodyPr wrap="square" lIns="0" tIns="0" rIns="0" bIns="0" rtlCol="0" anchor="t"/>
          <a:lstStyle/>
          <a:p>
            <a:pPr marL="0" indent="0" algn="l">
              <a:buNone/>
            </a:pPr>
            <a:r>
              <a:rPr lang="en-US" sz="1600" dirty="0">
                <a:solidFill>
                  <a:schemeClr val="bg2"/>
                </a:solidFill>
              </a:rPr>
              <a:t>Thank you! Demo files: setup.sh, RUNBOOK.md and the numbered YAML files.</a:t>
            </a:r>
            <a:endParaRPr lang="en-US" sz="1600" dirty="0"/>
          </a:p>
        </p:txBody>
      </p:sp>
      <p:sp>
        <p:nvSpPr>
          <p:cNvPr id="4" name="next card"/>
          <p:cNvSpPr txBox="1"/>
          <p:nvPr/>
        </p:nvSpPr>
        <p:spPr>
          <a:xfrm>
            <a:off x="5486400" y="777240"/>
            <a:ext cx="3200400" cy="3611880"/>
          </a:xfrm>
          <a:prstGeom prst="roundRect">
            <a:avLst>
              <a:gd name="adj" fmla="val 4286"/>
            </a:avLst>
          </a:prstGeom>
          <a:solidFill>
            <a:schemeClr val="bg1">
              <a:alpha val="8000"/>
            </a:schemeClr>
          </a:solidFill>
          <a:ln/>
        </p:spPr>
        <p:txBody>
          <a:bodyPr wrap="square" rtlCol="0" anchor="ctr"/>
          <a:lstStyle/>
          <a:p>
            <a:pPr marL="0" indent="0">
              <a:buNone/>
            </a:pPr>
            <a:endParaRPr lang="en-US" dirty="0"/>
          </a:p>
        </p:txBody>
      </p:sp>
      <p:sp>
        <p:nvSpPr>
          <p:cNvPr id="5" name="Text 3"/>
          <p:cNvSpPr txBox="1"/>
          <p:nvPr/>
        </p:nvSpPr>
        <p:spPr>
          <a:xfrm>
            <a:off x="5760720" y="1005840"/>
            <a:ext cx="27432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WHERE TO GO NEXT</a:t>
            </a:r>
            <a:endParaRPr lang="en-US" sz="1200" dirty="0"/>
          </a:p>
        </p:txBody>
      </p:sp>
      <p:sp>
        <p:nvSpPr>
          <p:cNvPr id="6" name="next topics"/>
          <p:cNvSpPr txBox="1"/>
          <p:nvPr/>
        </p:nvSpPr>
        <p:spPr>
          <a:xfrm>
            <a:off x="5760720" y="1371600"/>
            <a:ext cx="274320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Namespaces</a:t>
            </a:r>
            <a:endParaRPr lang="en-US" sz="1500" dirty="0"/>
          </a:p>
          <a:p>
            <a:pPr marL="342900" indent="-342900">
              <a:spcAft>
                <a:spcPts val="600"/>
              </a:spcAft>
              <a:buSzPct val="100000"/>
              <a:buChar char="•"/>
            </a:pPr>
            <a:r>
              <a:rPr lang="en-US" sz="1500" dirty="0">
                <a:solidFill>
                  <a:schemeClr val="bg1"/>
                </a:solidFill>
              </a:rPr>
              <a:t>Liveness &amp; readiness probes</a:t>
            </a:r>
            <a:endParaRPr lang="en-US" sz="1500" dirty="0"/>
          </a:p>
          <a:p>
            <a:pPr marL="342900" indent="-342900">
              <a:spcAft>
                <a:spcPts val="600"/>
              </a:spcAft>
              <a:buSzPct val="100000"/>
              <a:buChar char="•"/>
            </a:pPr>
            <a:r>
              <a:rPr lang="en-US" sz="1500" dirty="0">
                <a:solidFill>
                  <a:schemeClr val="bg1"/>
                </a:solidFill>
              </a:rPr>
              <a:t>Ingress / Gateway API</a:t>
            </a:r>
            <a:endParaRPr lang="en-US" sz="1500" dirty="0"/>
          </a:p>
          <a:p>
            <a:pPr marL="342900" indent="-342900">
              <a:spcAft>
                <a:spcPts val="600"/>
              </a:spcAft>
              <a:buSzPct val="100000"/>
              <a:buChar char="•"/>
            </a:pPr>
            <a:r>
              <a:rPr lang="en-US" sz="1500" dirty="0">
                <a:solidFill>
                  <a:schemeClr val="bg1"/>
                </a:solidFill>
              </a:rPr>
              <a:t>RBAC</a:t>
            </a:r>
            <a:endParaRPr lang="en-US" sz="1500" dirty="0"/>
          </a:p>
          <a:p>
            <a:pPr marL="342900" indent="-342900">
              <a:spcAft>
                <a:spcPts val="600"/>
              </a:spcAft>
              <a:buSzPct val="100000"/>
              <a:buChar char="•"/>
            </a:pPr>
            <a:r>
              <a:rPr lang="en-US" sz="1500" dirty="0">
                <a:solidFill>
                  <a:schemeClr val="bg1"/>
                </a:solidFill>
              </a:rPr>
              <a:t>Helm charts</a:t>
            </a:r>
            <a:endParaRPr lang="en-US" sz="1500" dirty="0"/>
          </a:p>
        </p:txBody>
      </p:sp>
      <p:sp>
        <p:nvSpPr>
          <p:cNvPr id="7" name="practice links"/>
          <p:cNvSpPr txBox="1"/>
          <p:nvPr/>
        </p:nvSpPr>
        <p:spPr>
          <a:xfrm>
            <a:off x="5760720" y="3337560"/>
            <a:ext cx="2743200" cy="822960"/>
          </a:xfrm>
          <a:prstGeom prst="rect">
            <a:avLst/>
          </a:prstGeom>
          <a:noFill/>
          <a:ln/>
        </p:spPr>
        <p:txBody>
          <a:bodyPr wrap="square" lIns="0" tIns="0" rIns="0" bIns="0" rtlCol="0" anchor="t"/>
          <a:lstStyle/>
          <a:p>
            <a:pPr marL="0" indent="0">
              <a:buNone/>
            </a:pPr>
            <a:r>
              <a:rPr lang="en-US" sz="1200" b="1" dirty="0">
                <a:solidFill>
                  <a:schemeClr val="accent2"/>
                </a:solidFill>
              </a:rPr>
              <a:t>Practice</a:t>
            </a:r>
            <a:endParaRPr lang="en-US" sz="1400" dirty="0"/>
          </a:p>
          <a:p>
            <a:pPr marL="0" indent="0">
              <a:buNone/>
            </a:pPr>
            <a:r>
              <a:rPr lang="en-US" sz="1200" dirty="0">
                <a:solidFill>
                  <a:schemeClr val="bg2"/>
                </a:solidFill>
              </a:rPr>
              <a:t>kubernetes.io/docs/tutorials</a:t>
            </a:r>
            <a:endParaRPr lang="en-US" sz="1400" dirty="0"/>
          </a:p>
          <a:p>
            <a:pPr marL="0" indent="0">
              <a:buNone/>
            </a:pPr>
            <a:r>
              <a:rPr lang="en-US" sz="1200" dirty="0">
                <a:solidFill>
                  <a:schemeClr val="bg2"/>
                </a:solidFill>
              </a:rPr>
              <a:t>kind.sigs.k8s.io</a:t>
            </a:r>
            <a:endParaRPr lang="en-US" sz="1400" dirty="0"/>
          </a:p>
        </p:txBody>
      </p:sp>
    </p:spTree>
  </p:cSld>
  <p:clrMapOvr>
    <a:masterClrMapping/>
  </p:clrMapOvr>
</p:sld>
</file>

<file path=ppt/theme/theme1.xml><?xml version="1.0" encoding="utf-8"?>
<a:theme xmlns:a="http://schemas.openxmlformats.org/drawingml/2006/main" name="K8s Basics">
  <a:themeElements>
    <a:clrScheme name="K8s Basics">
      <a:dk1>
        <a:srgbClr val="0F172A"/>
      </a:dk1>
      <a:lt1>
        <a:srgbClr val="FFFFFF"/>
      </a:lt1>
      <a:dk2>
        <a:srgbClr val="1E2B4F"/>
      </a:dk2>
      <a:lt2>
        <a:srgbClr val="EEF3FC"/>
      </a:lt2>
      <a:accent1>
        <a:srgbClr val="326CE5"/>
      </a:accent1>
      <a:accent2>
        <a:srgbClr val="F5A524"/>
      </a:accent2>
      <a:accent3>
        <a:srgbClr val="0D9488"/>
      </a:accent3>
      <a:accent4>
        <a:srgbClr val="DC2626"/>
      </a:accent4>
      <a:accent5>
        <a:srgbClr val="64748B"/>
      </a:accent5>
      <a:accent6>
        <a:srgbClr val="7C3AED"/>
      </a:accent6>
      <a:hlink>
        <a:srgbClr val="326CE5"/>
      </a:hlink>
      <a:folHlink>
        <a:srgbClr val="7C3AED"/>
      </a:folHlink>
    </a:clrScheme>
    <a:fontScheme name="K8s Basic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0ED3E8-27B9-9949-912C-A95031F9C52F}">
  <we:reference id="WA200010001" version="1.0.0.1" store="Omex" storeType="OMEX"/>
  <we:alternateReferences>
    <we:reference id="WA200010001" version="1.0.0.1" store="WA200010001" storeType="OMEX"/>
  </we:alternateReferences>
  <we:properties>
    <we:property name="claude.fileId" value="&quot;9f41e139-f2f8-48a4-af9b-41a136c17f7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452</TotalTime>
  <Words>4440</Words>
  <Application>Microsoft Macintosh PowerPoint</Application>
  <PresentationFormat>On-screen Show (16:9)</PresentationFormat>
  <Paragraphs>636</Paragraphs>
  <Slides>35</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Courier New</vt:lpstr>
      <vt:lpstr>K8s Basics</vt:lpstr>
      <vt:lpstr>Kubernetes from Zero</vt:lpstr>
      <vt:lpstr>What is this for</vt:lpstr>
      <vt:lpstr>Topics</vt:lpstr>
      <vt:lpstr>Why Kubernetes?</vt:lpstr>
      <vt:lpstr>You declare, it reconciles</vt:lpstr>
      <vt:lpstr>Inside a cluster</vt:lpstr>
      <vt:lpstr>Our lab: “kind” cluster</vt:lpstr>
      <vt:lpstr>Meet the cluster</vt:lpstr>
      <vt:lpstr>Meet the cluster</vt:lpstr>
      <vt:lpstr>Pod: the smallest unit</vt:lpstr>
      <vt:lpstr>Anatomy of a manifest</vt:lpstr>
      <vt:lpstr>Create, inspect, delete a Pod</vt:lpstr>
      <vt:lpstr>Create, inspect, delete a Pod</vt:lpstr>
      <vt:lpstr>Who controls what</vt:lpstr>
      <vt:lpstr>Deployment &amp; ReplicaSet</vt:lpstr>
      <vt:lpstr>Labels and selectors</vt:lpstr>
      <vt:lpstr>Rolling updates</vt:lpstr>
      <vt:lpstr>Self-healing, scaling, rollouts</vt:lpstr>
      <vt:lpstr>Self-healing, scaling, rollouts</vt:lpstr>
      <vt:lpstr>Service: stable front door</vt:lpstr>
      <vt:lpstr>Three Service types</vt:lpstr>
      <vt:lpstr>One name, many pods</vt:lpstr>
      <vt:lpstr>One name, many pods</vt:lpstr>
      <vt:lpstr>ConfigMap &amp; Secret</vt:lpstr>
      <vt:lpstr>Config in, secrets out</vt:lpstr>
      <vt:lpstr>Config in, secrets out</vt:lpstr>
      <vt:lpstr>StatefulSet vs Deployment</vt:lpstr>
      <vt:lpstr>Stable names, stable data</vt:lpstr>
      <vt:lpstr>Stable names, stable data</vt:lpstr>
      <vt:lpstr>HPA: scale on CPU</vt:lpstr>
      <vt:lpstr>Watch it scale</vt:lpstr>
      <vt:lpstr>Watch it scale</vt:lpstr>
      <vt:lpstr>How it all fits</vt:lpstr>
      <vt:lpstr>Where to go after this?</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from Zero</dc:title>
  <dc:subject>PptxGenJS Presentation</dc:subject>
  <dc:creator>PptxGenJS</dc:creator>
  <cp:lastModifiedBy>Mohamad Irfan Haziq Bin Mohd Khazani</cp:lastModifiedBy>
  <cp:revision>3</cp:revision>
  <dcterms:created xsi:type="dcterms:W3CDTF">2026-10-08T07:33:41Z</dcterms:created>
  <dcterms:modified xsi:type="dcterms:W3CDTF">2026-10-10T16:18:48Z</dcterms:modified>
</cp:coreProperties>
</file>